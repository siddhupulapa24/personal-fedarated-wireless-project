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9144000" cy="5149850"/>
  <p:notesSz cx="9144000" cy="5149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6453"/>
            <a:ext cx="7772400" cy="10814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3916"/>
            <a:ext cx="6400800" cy="12874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EA2BE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KLH</a:t>
            </a:r>
            <a:r>
              <a:rPr dirty="0" spc="-35"/>
              <a:t> </a:t>
            </a:r>
            <a:r>
              <a:rPr dirty="0"/>
              <a:t>University</a:t>
            </a:r>
            <a:r>
              <a:rPr dirty="0" spc="175"/>
              <a:t> </a:t>
            </a:r>
            <a:r>
              <a:rPr dirty="0"/>
              <a:t>|</a:t>
            </a:r>
            <a:r>
              <a:rPr dirty="0" spc="175"/>
              <a:t> </a:t>
            </a:r>
            <a:r>
              <a:rPr dirty="0"/>
              <a:t>Dept.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ECE</a:t>
            </a:r>
            <a:r>
              <a:rPr dirty="0" spc="170"/>
              <a:t> </a:t>
            </a:r>
            <a:r>
              <a:rPr dirty="0"/>
              <a:t>|</a:t>
            </a:r>
            <a:r>
              <a:rPr dirty="0" spc="175"/>
              <a:t> </a:t>
            </a:r>
            <a:r>
              <a:rPr dirty="0"/>
              <a:t>Machine</a:t>
            </a:r>
            <a:r>
              <a:rPr dirty="0" spc="-25"/>
              <a:t> </a:t>
            </a:r>
            <a:r>
              <a:rPr dirty="0"/>
              <a:t>Learning</a:t>
            </a:r>
            <a:r>
              <a:rPr dirty="0" spc="-25"/>
              <a:t> </a:t>
            </a:r>
            <a:r>
              <a:rPr dirty="0" spc="-10"/>
              <a:t>(25SC2107E)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EA2BE"/>
                </a:solidFill>
                <a:latin typeface="Calibri"/>
                <a:cs typeface="Calibri"/>
              </a:defRPr>
            </a:lvl1pPr>
          </a:lstStyle>
          <a:p>
            <a:pPr marL="1270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EA2BE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KLH</a:t>
            </a:r>
            <a:r>
              <a:rPr dirty="0" spc="-35"/>
              <a:t> </a:t>
            </a:r>
            <a:r>
              <a:rPr dirty="0"/>
              <a:t>University</a:t>
            </a:r>
            <a:r>
              <a:rPr dirty="0" spc="175"/>
              <a:t> </a:t>
            </a:r>
            <a:r>
              <a:rPr dirty="0"/>
              <a:t>|</a:t>
            </a:r>
            <a:r>
              <a:rPr dirty="0" spc="175"/>
              <a:t> </a:t>
            </a:r>
            <a:r>
              <a:rPr dirty="0"/>
              <a:t>Dept.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ECE</a:t>
            </a:r>
            <a:r>
              <a:rPr dirty="0" spc="170"/>
              <a:t> </a:t>
            </a:r>
            <a:r>
              <a:rPr dirty="0"/>
              <a:t>|</a:t>
            </a:r>
            <a:r>
              <a:rPr dirty="0" spc="175"/>
              <a:t> </a:t>
            </a:r>
            <a:r>
              <a:rPr dirty="0"/>
              <a:t>Machine</a:t>
            </a:r>
            <a:r>
              <a:rPr dirty="0" spc="-25"/>
              <a:t> </a:t>
            </a:r>
            <a:r>
              <a:rPr dirty="0"/>
              <a:t>Learning</a:t>
            </a:r>
            <a:r>
              <a:rPr dirty="0" spc="-25"/>
              <a:t> </a:t>
            </a:r>
            <a:r>
              <a:rPr dirty="0" spc="-10"/>
              <a:t>(25SC2107E)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EA2BE"/>
                </a:solidFill>
                <a:latin typeface="Calibri"/>
                <a:cs typeface="Calibri"/>
              </a:defRPr>
            </a:lvl1pPr>
          </a:lstStyle>
          <a:p>
            <a:pPr marL="1270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EA2BE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KLH</a:t>
            </a:r>
            <a:r>
              <a:rPr dirty="0" spc="-35"/>
              <a:t> </a:t>
            </a:r>
            <a:r>
              <a:rPr dirty="0"/>
              <a:t>University</a:t>
            </a:r>
            <a:r>
              <a:rPr dirty="0" spc="175"/>
              <a:t> </a:t>
            </a:r>
            <a:r>
              <a:rPr dirty="0"/>
              <a:t>|</a:t>
            </a:r>
            <a:r>
              <a:rPr dirty="0" spc="175"/>
              <a:t> </a:t>
            </a:r>
            <a:r>
              <a:rPr dirty="0"/>
              <a:t>Dept.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ECE</a:t>
            </a:r>
            <a:r>
              <a:rPr dirty="0" spc="170"/>
              <a:t> </a:t>
            </a:r>
            <a:r>
              <a:rPr dirty="0"/>
              <a:t>|</a:t>
            </a:r>
            <a:r>
              <a:rPr dirty="0" spc="175"/>
              <a:t> </a:t>
            </a:r>
            <a:r>
              <a:rPr dirty="0"/>
              <a:t>Machine</a:t>
            </a:r>
            <a:r>
              <a:rPr dirty="0" spc="-25"/>
              <a:t> </a:t>
            </a:r>
            <a:r>
              <a:rPr dirty="0"/>
              <a:t>Learning</a:t>
            </a:r>
            <a:r>
              <a:rPr dirty="0" spc="-25"/>
              <a:t> </a:t>
            </a:r>
            <a:r>
              <a:rPr dirty="0" spc="-10"/>
              <a:t>(25SC2107E)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EA2BE"/>
                </a:solidFill>
                <a:latin typeface="Calibri"/>
                <a:cs typeface="Calibri"/>
              </a:defRPr>
            </a:lvl1pPr>
          </a:lstStyle>
          <a:p>
            <a:pPr marL="1270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EA2BE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KLH</a:t>
            </a:r>
            <a:r>
              <a:rPr dirty="0" spc="-35"/>
              <a:t> </a:t>
            </a:r>
            <a:r>
              <a:rPr dirty="0"/>
              <a:t>University</a:t>
            </a:r>
            <a:r>
              <a:rPr dirty="0" spc="175"/>
              <a:t> </a:t>
            </a:r>
            <a:r>
              <a:rPr dirty="0"/>
              <a:t>|</a:t>
            </a:r>
            <a:r>
              <a:rPr dirty="0" spc="175"/>
              <a:t> </a:t>
            </a:r>
            <a:r>
              <a:rPr dirty="0"/>
              <a:t>Dept.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ECE</a:t>
            </a:r>
            <a:r>
              <a:rPr dirty="0" spc="170"/>
              <a:t> </a:t>
            </a:r>
            <a:r>
              <a:rPr dirty="0"/>
              <a:t>|</a:t>
            </a:r>
            <a:r>
              <a:rPr dirty="0" spc="175"/>
              <a:t> </a:t>
            </a:r>
            <a:r>
              <a:rPr dirty="0"/>
              <a:t>Machine</a:t>
            </a:r>
            <a:r>
              <a:rPr dirty="0" spc="-25"/>
              <a:t> </a:t>
            </a:r>
            <a:r>
              <a:rPr dirty="0"/>
              <a:t>Learning</a:t>
            </a:r>
            <a:r>
              <a:rPr dirty="0" spc="-25"/>
              <a:t> </a:t>
            </a:r>
            <a:r>
              <a:rPr dirty="0" spc="-10"/>
              <a:t>(25SC2107E)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EA2BE"/>
                </a:solidFill>
                <a:latin typeface="Calibri"/>
                <a:cs typeface="Calibri"/>
              </a:defRPr>
            </a:lvl1pPr>
          </a:lstStyle>
          <a:p>
            <a:pPr marL="1270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EA2BE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KLH</a:t>
            </a:r>
            <a:r>
              <a:rPr dirty="0" spc="-35"/>
              <a:t> </a:t>
            </a:r>
            <a:r>
              <a:rPr dirty="0"/>
              <a:t>University</a:t>
            </a:r>
            <a:r>
              <a:rPr dirty="0" spc="175"/>
              <a:t> </a:t>
            </a:r>
            <a:r>
              <a:rPr dirty="0"/>
              <a:t>|</a:t>
            </a:r>
            <a:r>
              <a:rPr dirty="0" spc="175"/>
              <a:t> </a:t>
            </a:r>
            <a:r>
              <a:rPr dirty="0"/>
              <a:t>Dept.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ECE</a:t>
            </a:r>
            <a:r>
              <a:rPr dirty="0" spc="170"/>
              <a:t> </a:t>
            </a:r>
            <a:r>
              <a:rPr dirty="0"/>
              <a:t>|</a:t>
            </a:r>
            <a:r>
              <a:rPr dirty="0" spc="175"/>
              <a:t> </a:t>
            </a:r>
            <a:r>
              <a:rPr dirty="0"/>
              <a:t>Machine</a:t>
            </a:r>
            <a:r>
              <a:rPr dirty="0" spc="-25"/>
              <a:t> </a:t>
            </a:r>
            <a:r>
              <a:rPr dirty="0"/>
              <a:t>Learning</a:t>
            </a:r>
            <a:r>
              <a:rPr dirty="0" spc="-25"/>
              <a:t> </a:t>
            </a:r>
            <a:r>
              <a:rPr dirty="0" spc="-10"/>
              <a:t>(25SC2107E)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EA2BE"/>
                </a:solidFill>
                <a:latin typeface="Calibri"/>
                <a:cs typeface="Calibri"/>
              </a:defRPr>
            </a:lvl1pPr>
          </a:lstStyle>
          <a:p>
            <a:pPr marL="1270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09182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229600" y="347042"/>
            <a:ext cx="456844" cy="45684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4144" y="296074"/>
            <a:ext cx="5998565" cy="6915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7987" y="1131889"/>
            <a:ext cx="8327390" cy="3171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44144" y="4799748"/>
            <a:ext cx="3340100" cy="1809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8EA2BE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KLH</a:t>
            </a:r>
            <a:r>
              <a:rPr dirty="0" spc="-35"/>
              <a:t> </a:t>
            </a:r>
            <a:r>
              <a:rPr dirty="0"/>
              <a:t>University</a:t>
            </a:r>
            <a:r>
              <a:rPr dirty="0" spc="175"/>
              <a:t> </a:t>
            </a:r>
            <a:r>
              <a:rPr dirty="0"/>
              <a:t>|</a:t>
            </a:r>
            <a:r>
              <a:rPr dirty="0" spc="175"/>
              <a:t> </a:t>
            </a:r>
            <a:r>
              <a:rPr dirty="0"/>
              <a:t>Dept.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ECE</a:t>
            </a:r>
            <a:r>
              <a:rPr dirty="0" spc="170"/>
              <a:t> </a:t>
            </a:r>
            <a:r>
              <a:rPr dirty="0"/>
              <a:t>|</a:t>
            </a:r>
            <a:r>
              <a:rPr dirty="0" spc="175"/>
              <a:t> </a:t>
            </a:r>
            <a:r>
              <a:rPr dirty="0"/>
              <a:t>Machine</a:t>
            </a:r>
            <a:r>
              <a:rPr dirty="0" spc="-25"/>
              <a:t> </a:t>
            </a:r>
            <a:r>
              <a:rPr dirty="0"/>
              <a:t>Learning</a:t>
            </a:r>
            <a:r>
              <a:rPr dirty="0" spc="-25"/>
              <a:t> </a:t>
            </a:r>
            <a:r>
              <a:rPr dirty="0" spc="-10"/>
              <a:t>(25SC2107E)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9360"/>
            <a:ext cx="210312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405139" y="4793271"/>
            <a:ext cx="319404" cy="1809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8EA2BE"/>
                </a:solidFill>
                <a:latin typeface="Calibri"/>
                <a:cs typeface="Calibri"/>
              </a:defRPr>
            </a:lvl1pPr>
          </a:lstStyle>
          <a:p>
            <a:pPr marL="1270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127.0.0.1:8000/" TargetMode="Externa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0918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96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dirty="0" sz="2000">
                <a:solidFill>
                  <a:srgbClr val="2CD3BE"/>
                </a:solidFill>
              </a:rPr>
              <a:t>KLH</a:t>
            </a:r>
            <a:r>
              <a:rPr dirty="0" sz="2000" spc="-25">
                <a:solidFill>
                  <a:srgbClr val="2CD3BE"/>
                </a:solidFill>
              </a:rPr>
              <a:t> </a:t>
            </a:r>
            <a:r>
              <a:rPr dirty="0" sz="2000" spc="-10">
                <a:solidFill>
                  <a:srgbClr val="2CD3BE"/>
                </a:solidFill>
              </a:rPr>
              <a:t>University</a:t>
            </a:r>
            <a:endParaRPr sz="2000"/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1400" spc="-10" b="0">
                <a:solidFill>
                  <a:srgbClr val="DBE6F2"/>
                </a:solidFill>
                <a:latin typeface="Calibri"/>
                <a:cs typeface="Calibri"/>
              </a:rPr>
              <a:t>Department</a:t>
            </a:r>
            <a:r>
              <a:rPr dirty="0" sz="1400" spc="5" b="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b="0">
                <a:solidFill>
                  <a:srgbClr val="DBE6F2"/>
                </a:solidFill>
                <a:latin typeface="Calibri"/>
                <a:cs typeface="Calibri"/>
              </a:rPr>
              <a:t>of</a:t>
            </a:r>
            <a:r>
              <a:rPr dirty="0" sz="1400" spc="5" b="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10" b="0">
                <a:solidFill>
                  <a:srgbClr val="DBE6F2"/>
                </a:solidFill>
                <a:latin typeface="Calibri"/>
                <a:cs typeface="Calibri"/>
              </a:rPr>
              <a:t>Electronics</a:t>
            </a:r>
            <a:r>
              <a:rPr dirty="0" sz="1400" spc="5" b="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b="0">
                <a:solidFill>
                  <a:srgbClr val="DBE6F2"/>
                </a:solidFill>
                <a:latin typeface="Calibri"/>
                <a:cs typeface="Calibri"/>
              </a:rPr>
              <a:t>&amp; </a:t>
            </a:r>
            <a:r>
              <a:rPr dirty="0" sz="1400" spc="-10" b="0">
                <a:solidFill>
                  <a:srgbClr val="DBE6F2"/>
                </a:solidFill>
                <a:latin typeface="Calibri"/>
                <a:cs typeface="Calibri"/>
              </a:rPr>
              <a:t>Communication</a:t>
            </a:r>
            <a:r>
              <a:rPr dirty="0" sz="1400" spc="10" b="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10" b="0">
                <a:solidFill>
                  <a:srgbClr val="DBE6F2"/>
                </a:solidFill>
                <a:latin typeface="Calibri"/>
                <a:cs typeface="Calibri"/>
              </a:rPr>
              <a:t>Engineering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3" name="object 3" descr="Wireless signal icon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19" y="365393"/>
            <a:ext cx="639724" cy="63972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44144" y="1419734"/>
            <a:ext cx="8067040" cy="817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600" b="1">
                <a:solidFill>
                  <a:srgbClr val="FFFFFF"/>
                </a:solidFill>
                <a:latin typeface="Calibri"/>
                <a:cs typeface="Calibri"/>
              </a:rPr>
              <a:t>PERSONALISED</a:t>
            </a:r>
            <a:r>
              <a:rPr dirty="0" sz="2600" spc="-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spc="-20" b="1">
                <a:solidFill>
                  <a:srgbClr val="FFFFFF"/>
                </a:solidFill>
                <a:latin typeface="Calibri"/>
                <a:cs typeface="Calibri"/>
              </a:rPr>
              <a:t>FEDERATED</a:t>
            </a:r>
            <a:r>
              <a:rPr dirty="0" sz="2600" spc="-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b="1">
                <a:solidFill>
                  <a:srgbClr val="FFFFFF"/>
                </a:solidFill>
                <a:latin typeface="Calibri"/>
                <a:cs typeface="Calibri"/>
              </a:rPr>
              <a:t>DEEP</a:t>
            </a:r>
            <a:r>
              <a:rPr dirty="0" sz="2600" spc="-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b="1">
                <a:solidFill>
                  <a:srgbClr val="FFFFFF"/>
                </a:solidFill>
                <a:latin typeface="Calibri"/>
                <a:cs typeface="Calibri"/>
              </a:rPr>
              <a:t>LEARNING</a:t>
            </a:r>
            <a:r>
              <a:rPr dirty="0" sz="2600" spc="-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b="1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2600" spc="-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spc="-10" b="1">
                <a:solidFill>
                  <a:srgbClr val="FFFFFF"/>
                </a:solidFill>
                <a:latin typeface="Calibri"/>
                <a:cs typeface="Calibri"/>
              </a:rPr>
              <a:t>WIRELESS </a:t>
            </a:r>
            <a:r>
              <a:rPr dirty="0" sz="2600" b="1">
                <a:solidFill>
                  <a:srgbClr val="FFFFFF"/>
                </a:solidFill>
                <a:latin typeface="Calibri"/>
                <a:cs typeface="Calibri"/>
              </a:rPr>
              <a:t>LINK</a:t>
            </a:r>
            <a:r>
              <a:rPr dirty="0" sz="260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b="1">
                <a:solidFill>
                  <a:srgbClr val="FFFFFF"/>
                </a:solidFill>
                <a:latin typeface="Calibri"/>
                <a:cs typeface="Calibri"/>
              </a:rPr>
              <a:t>QUALITY</a:t>
            </a:r>
            <a:r>
              <a:rPr dirty="0" sz="260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b="1">
                <a:solidFill>
                  <a:srgbClr val="FFFFFF"/>
                </a:solidFill>
                <a:latin typeface="Calibri"/>
                <a:cs typeface="Calibri"/>
              </a:rPr>
              <a:t>PREDICTION</a:t>
            </a:r>
            <a:r>
              <a:rPr dirty="0" sz="26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b="1">
                <a:solidFill>
                  <a:srgbClr val="FFFFFF"/>
                </a:solidFill>
                <a:latin typeface="Calibri"/>
                <a:cs typeface="Calibri"/>
              </a:rPr>
              <a:t>UNDER</a:t>
            </a:r>
            <a:r>
              <a:rPr dirty="0" sz="2600" spc="-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spc="-10" b="1">
                <a:solidFill>
                  <a:srgbClr val="FFFFFF"/>
                </a:solidFill>
                <a:latin typeface="Calibri"/>
                <a:cs typeface="Calibri"/>
              </a:rPr>
              <a:t>NON-</a:t>
            </a:r>
            <a:r>
              <a:rPr dirty="0" sz="2600" b="1">
                <a:solidFill>
                  <a:srgbClr val="FFFFFF"/>
                </a:solidFill>
                <a:latin typeface="Calibri"/>
                <a:cs typeface="Calibri"/>
              </a:rPr>
              <a:t>IID</a:t>
            </a:r>
            <a:r>
              <a:rPr dirty="0" sz="26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b="1">
                <a:solidFill>
                  <a:srgbClr val="FFFFFF"/>
                </a:solidFill>
                <a:latin typeface="Calibri"/>
                <a:cs typeface="Calibri"/>
              </a:rPr>
              <a:t>CELL</a:t>
            </a:r>
            <a:r>
              <a:rPr dirty="0" sz="260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spc="-20" b="1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4144" y="2573400"/>
            <a:ext cx="5949315" cy="798195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A</a:t>
            </a:r>
            <a:r>
              <a:rPr dirty="0" sz="1400" spc="-3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Project</a:t>
            </a:r>
            <a:r>
              <a:rPr dirty="0" sz="1400" spc="-3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Report</a:t>
            </a:r>
            <a:r>
              <a:rPr dirty="0" sz="1400" spc="-3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submitted</a:t>
            </a:r>
            <a:r>
              <a:rPr dirty="0" sz="1400" spc="-2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in</a:t>
            </a:r>
            <a:r>
              <a:rPr dirty="0" sz="1400" spc="-3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partial</a:t>
            </a:r>
            <a:r>
              <a:rPr dirty="0" sz="1400" spc="-3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fulfilment</a:t>
            </a:r>
            <a:r>
              <a:rPr dirty="0" sz="1400" spc="-3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of</a:t>
            </a:r>
            <a:r>
              <a:rPr dirty="0" sz="1400" spc="-3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the</a:t>
            </a:r>
            <a:r>
              <a:rPr dirty="0" sz="1400" spc="-2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requirements</a:t>
            </a:r>
            <a:r>
              <a:rPr dirty="0" sz="1400" spc="-3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for</a:t>
            </a:r>
            <a:r>
              <a:rPr dirty="0" sz="1400" spc="-3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the</a:t>
            </a:r>
            <a:r>
              <a:rPr dirty="0" sz="1400" spc="-3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course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MACHINE</a:t>
            </a:r>
            <a:r>
              <a:rPr dirty="0" sz="1800" spc="-6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Calibri"/>
                <a:cs typeface="Calibri"/>
              </a:rPr>
              <a:t>LEARNING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Course</a:t>
            </a:r>
            <a:r>
              <a:rPr dirty="0" sz="1400" spc="-3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code:</a:t>
            </a:r>
            <a:r>
              <a:rPr dirty="0" sz="1400" spc="-2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25SC2107E</a:t>
            </a:r>
            <a:r>
              <a:rPr dirty="0" sz="1400" spc="110">
                <a:solidFill>
                  <a:srgbClr val="DBE6F2"/>
                </a:solidFill>
                <a:latin typeface="Calibri"/>
                <a:cs typeface="Calibri"/>
              </a:rPr>
              <a:t> 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|</a:t>
            </a:r>
            <a:r>
              <a:rPr dirty="0" sz="1400" spc="120">
                <a:solidFill>
                  <a:srgbClr val="DBE6F2"/>
                </a:solidFill>
                <a:latin typeface="Calibri"/>
                <a:cs typeface="Calibri"/>
              </a:rPr>
              <a:t> 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Academic</a:t>
            </a:r>
            <a:r>
              <a:rPr dirty="0" sz="1400" spc="-2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year:</a:t>
            </a:r>
            <a:r>
              <a:rPr dirty="0" sz="1400" spc="-3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2026–</a:t>
            </a:r>
            <a:r>
              <a:rPr dirty="0" sz="1400" spc="-25">
                <a:solidFill>
                  <a:srgbClr val="DBE6F2"/>
                </a:solidFill>
                <a:latin typeface="Calibri"/>
                <a:cs typeface="Calibri"/>
              </a:rPr>
              <a:t>27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52164" y="3606846"/>
            <a:ext cx="5221605" cy="1198245"/>
            <a:chOff x="452164" y="3606846"/>
            <a:chExt cx="5221605" cy="1198245"/>
          </a:xfrm>
        </p:grpSpPr>
        <p:sp>
          <p:nvSpPr>
            <p:cNvPr id="8" name="object 8"/>
            <p:cNvSpPr/>
            <p:nvPr/>
          </p:nvSpPr>
          <p:spPr>
            <a:xfrm>
              <a:off x="456844" y="3611526"/>
              <a:ext cx="5212080" cy="1188720"/>
            </a:xfrm>
            <a:custGeom>
              <a:avLst/>
              <a:gdLst/>
              <a:ahLst/>
              <a:cxnLst/>
              <a:rect l="l" t="t" r="r" b="b"/>
              <a:pathLst>
                <a:path w="5212080" h="1188720">
                  <a:moveTo>
                    <a:pt x="513863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1115631"/>
                  </a:lnTo>
                  <a:lnTo>
                    <a:pt x="594" y="1124909"/>
                  </a:lnTo>
                  <a:lnTo>
                    <a:pt x="607" y="1125109"/>
                  </a:lnTo>
                  <a:lnTo>
                    <a:pt x="2394" y="1134310"/>
                  </a:lnTo>
                  <a:lnTo>
                    <a:pt x="2428" y="1134487"/>
                  </a:lnTo>
                  <a:lnTo>
                    <a:pt x="28548" y="1173610"/>
                  </a:lnTo>
                  <a:lnTo>
                    <a:pt x="73075" y="1188720"/>
                  </a:lnTo>
                  <a:lnTo>
                    <a:pt x="5138991" y="1188351"/>
                  </a:lnTo>
                  <a:lnTo>
                    <a:pt x="5183369" y="1173260"/>
                  </a:lnTo>
                  <a:lnTo>
                    <a:pt x="5209589" y="1134487"/>
                  </a:lnTo>
                  <a:lnTo>
                    <a:pt x="5211433" y="1125109"/>
                  </a:lnTo>
                  <a:lnTo>
                    <a:pt x="5211472" y="1124909"/>
                  </a:lnTo>
                  <a:lnTo>
                    <a:pt x="5212057" y="1115631"/>
                  </a:lnTo>
                  <a:lnTo>
                    <a:pt x="5212080" y="1115275"/>
                  </a:lnTo>
                  <a:lnTo>
                    <a:pt x="5211711" y="73075"/>
                  </a:lnTo>
                  <a:lnTo>
                    <a:pt x="5196620" y="28698"/>
                  </a:lnTo>
                  <a:lnTo>
                    <a:pt x="5157670" y="2428"/>
                  </a:lnTo>
                  <a:lnTo>
                    <a:pt x="5148269" y="607"/>
                  </a:lnTo>
                  <a:lnTo>
                    <a:pt x="5138635" y="0"/>
                  </a:lnTo>
                  <a:close/>
                </a:path>
              </a:pathLst>
            </a:custGeom>
            <a:solidFill>
              <a:srgbClr val="1127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56844" y="3611526"/>
              <a:ext cx="5212080" cy="1188720"/>
            </a:xfrm>
            <a:custGeom>
              <a:avLst/>
              <a:gdLst/>
              <a:ahLst/>
              <a:cxnLst/>
              <a:rect l="l" t="t" r="r" b="b"/>
              <a:pathLst>
                <a:path w="5212080" h="1188720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5138635" y="0"/>
                  </a:lnTo>
                  <a:lnTo>
                    <a:pt x="5183163" y="15096"/>
                  </a:lnTo>
                  <a:lnTo>
                    <a:pt x="5209282" y="54219"/>
                  </a:lnTo>
                  <a:lnTo>
                    <a:pt x="5211711" y="73075"/>
                  </a:lnTo>
                  <a:lnTo>
                    <a:pt x="5212080" y="1115275"/>
                  </a:lnTo>
                  <a:lnTo>
                    <a:pt x="5211472" y="1124909"/>
                  </a:lnTo>
                  <a:lnTo>
                    <a:pt x="5209649" y="1134310"/>
                  </a:lnTo>
                  <a:lnTo>
                    <a:pt x="5183369" y="1173260"/>
                  </a:lnTo>
                  <a:lnTo>
                    <a:pt x="5138991" y="1188351"/>
                  </a:lnTo>
                  <a:lnTo>
                    <a:pt x="73075" y="1188720"/>
                  </a:lnTo>
                  <a:lnTo>
                    <a:pt x="28548" y="1173610"/>
                  </a:lnTo>
                  <a:lnTo>
                    <a:pt x="2428" y="1134487"/>
                  </a:lnTo>
                  <a:lnTo>
                    <a:pt x="0" y="1115631"/>
                  </a:lnTo>
                  <a:lnTo>
                    <a:pt x="0" y="73075"/>
                  </a:lnTo>
                  <a:close/>
                </a:path>
              </a:pathLst>
            </a:custGeom>
            <a:ln w="9359">
              <a:solidFill>
                <a:srgbClr val="2345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627024" y="3675820"/>
            <a:ext cx="3469004" cy="996315"/>
          </a:xfrm>
          <a:prstGeom prst="rect">
            <a:avLst/>
          </a:prstGeom>
        </p:spPr>
        <p:txBody>
          <a:bodyPr wrap="square" lIns="0" tIns="450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dirty="0" sz="1200" b="1">
                <a:solidFill>
                  <a:srgbClr val="2CD3BE"/>
                </a:solidFill>
                <a:latin typeface="Calibri"/>
                <a:cs typeface="Calibri"/>
              </a:rPr>
              <a:t>SUBMITTED</a:t>
            </a:r>
            <a:r>
              <a:rPr dirty="0" sz="1200" spc="-70" b="1">
                <a:solidFill>
                  <a:srgbClr val="2CD3BE"/>
                </a:solidFill>
                <a:latin typeface="Calibri"/>
                <a:cs typeface="Calibri"/>
              </a:rPr>
              <a:t> </a:t>
            </a:r>
            <a:r>
              <a:rPr dirty="0" sz="1200" spc="-25" b="1">
                <a:solidFill>
                  <a:srgbClr val="2CD3BE"/>
                </a:solidFill>
                <a:latin typeface="Calibri"/>
                <a:cs typeface="Calibri"/>
              </a:rPr>
              <a:t>BY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N.</a:t>
            </a: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Calibri"/>
                <a:cs typeface="Calibri"/>
              </a:rPr>
              <a:t>PRANAY</a:t>
            </a:r>
            <a:r>
              <a:rPr dirty="0" sz="14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CHOWDARY</a:t>
            </a:r>
            <a:r>
              <a:rPr dirty="0" sz="14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Roll</a:t>
            </a:r>
            <a:r>
              <a:rPr dirty="0" sz="14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No.</a:t>
            </a:r>
            <a:r>
              <a:rPr dirty="0" sz="14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2520040009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1400" spc="-105">
                <a:solidFill>
                  <a:srgbClr val="FFFFFF"/>
                </a:solidFill>
                <a:latin typeface="Calibri"/>
                <a:cs typeface="Calibri"/>
              </a:rPr>
              <a:t>P.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 SIDHU</a:t>
            </a:r>
            <a:r>
              <a:rPr dirty="0" sz="14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BHAGAVAN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dirty="0" sz="14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Roll</a:t>
            </a:r>
            <a:r>
              <a:rPr dirty="0" sz="14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No.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 2520040095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1400" spc="-105">
                <a:solidFill>
                  <a:srgbClr val="FFFFFF"/>
                </a:solidFill>
                <a:latin typeface="Calibri"/>
                <a:cs typeface="Calibri"/>
              </a:rPr>
              <a:t>P.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 MOHAN</a:t>
            </a: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dirty="0" sz="14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Roll</a:t>
            </a:r>
            <a:r>
              <a:rPr dirty="0" sz="14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No.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 2520040045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847124" y="3606846"/>
            <a:ext cx="2844165" cy="1198245"/>
            <a:chOff x="5847124" y="3606846"/>
            <a:chExt cx="2844165" cy="1198245"/>
          </a:xfrm>
        </p:grpSpPr>
        <p:sp>
          <p:nvSpPr>
            <p:cNvPr id="12" name="object 12"/>
            <p:cNvSpPr/>
            <p:nvPr/>
          </p:nvSpPr>
          <p:spPr>
            <a:xfrm>
              <a:off x="5851804" y="3611526"/>
              <a:ext cx="2834640" cy="1188720"/>
            </a:xfrm>
            <a:custGeom>
              <a:avLst/>
              <a:gdLst/>
              <a:ahLst/>
              <a:cxnLst/>
              <a:rect l="l" t="t" r="r" b="b"/>
              <a:pathLst>
                <a:path w="2834640" h="1188720">
                  <a:moveTo>
                    <a:pt x="276119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1115631"/>
                  </a:lnTo>
                  <a:lnTo>
                    <a:pt x="5412" y="1143372"/>
                  </a:lnTo>
                  <a:lnTo>
                    <a:pt x="5464" y="1143527"/>
                  </a:lnTo>
                  <a:lnTo>
                    <a:pt x="36360" y="1178991"/>
                  </a:lnTo>
                  <a:lnTo>
                    <a:pt x="73075" y="1188720"/>
                  </a:lnTo>
                  <a:lnTo>
                    <a:pt x="2761551" y="1188351"/>
                  </a:lnTo>
                  <a:lnTo>
                    <a:pt x="2805929" y="1173260"/>
                  </a:lnTo>
                  <a:lnTo>
                    <a:pt x="2832149" y="1134487"/>
                  </a:lnTo>
                  <a:lnTo>
                    <a:pt x="2833993" y="1125109"/>
                  </a:lnTo>
                  <a:lnTo>
                    <a:pt x="2834032" y="1124909"/>
                  </a:lnTo>
                  <a:lnTo>
                    <a:pt x="2834617" y="1115631"/>
                  </a:lnTo>
                  <a:lnTo>
                    <a:pt x="2834640" y="1115275"/>
                  </a:lnTo>
                  <a:lnTo>
                    <a:pt x="2834271" y="73075"/>
                  </a:lnTo>
                  <a:lnTo>
                    <a:pt x="2819180" y="28698"/>
                  </a:lnTo>
                  <a:lnTo>
                    <a:pt x="2780230" y="2428"/>
                  </a:lnTo>
                  <a:lnTo>
                    <a:pt x="2770829" y="607"/>
                  </a:lnTo>
                  <a:lnTo>
                    <a:pt x="2761195" y="0"/>
                  </a:lnTo>
                  <a:close/>
                </a:path>
              </a:pathLst>
            </a:custGeom>
            <a:solidFill>
              <a:srgbClr val="1127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5851804" y="3611526"/>
              <a:ext cx="2834640" cy="1188720"/>
            </a:xfrm>
            <a:custGeom>
              <a:avLst/>
              <a:gdLst/>
              <a:ahLst/>
              <a:cxnLst/>
              <a:rect l="l" t="t" r="r" b="b"/>
              <a:pathLst>
                <a:path w="2834640" h="1188720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2761195" y="0"/>
                  </a:lnTo>
                  <a:lnTo>
                    <a:pt x="2805723" y="15096"/>
                  </a:lnTo>
                  <a:lnTo>
                    <a:pt x="2831842" y="54219"/>
                  </a:lnTo>
                  <a:lnTo>
                    <a:pt x="2834271" y="73075"/>
                  </a:lnTo>
                  <a:lnTo>
                    <a:pt x="2834640" y="1115275"/>
                  </a:lnTo>
                  <a:lnTo>
                    <a:pt x="2834032" y="1124909"/>
                  </a:lnTo>
                  <a:lnTo>
                    <a:pt x="2832209" y="1134310"/>
                  </a:lnTo>
                  <a:lnTo>
                    <a:pt x="2805929" y="1173260"/>
                  </a:lnTo>
                  <a:lnTo>
                    <a:pt x="2761551" y="1188351"/>
                  </a:lnTo>
                  <a:lnTo>
                    <a:pt x="73075" y="1188720"/>
                  </a:lnTo>
                  <a:lnTo>
                    <a:pt x="28548" y="1173610"/>
                  </a:lnTo>
                  <a:lnTo>
                    <a:pt x="2428" y="1134487"/>
                  </a:lnTo>
                  <a:lnTo>
                    <a:pt x="0" y="1115631"/>
                  </a:lnTo>
                  <a:lnTo>
                    <a:pt x="0" y="73075"/>
                  </a:lnTo>
                  <a:close/>
                </a:path>
              </a:pathLst>
            </a:custGeom>
            <a:ln w="9359">
              <a:solidFill>
                <a:srgbClr val="2345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6021984" y="3679890"/>
            <a:ext cx="1677670" cy="770890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1200" b="1">
                <a:solidFill>
                  <a:srgbClr val="2CD3BE"/>
                </a:solidFill>
                <a:latin typeface="Calibri"/>
                <a:cs typeface="Calibri"/>
              </a:rPr>
              <a:t>UNDER</a:t>
            </a:r>
            <a:r>
              <a:rPr dirty="0" sz="1200" spc="-25" b="1">
                <a:solidFill>
                  <a:srgbClr val="2CD3BE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CD3BE"/>
                </a:solidFill>
                <a:latin typeface="Calibri"/>
                <a:cs typeface="Calibri"/>
              </a:rPr>
              <a:t>THE</a:t>
            </a:r>
            <a:r>
              <a:rPr dirty="0" sz="1200" spc="-25" b="1">
                <a:solidFill>
                  <a:srgbClr val="2CD3BE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CD3BE"/>
                </a:solidFill>
                <a:latin typeface="Calibri"/>
                <a:cs typeface="Calibri"/>
              </a:rPr>
              <a:t>GUIDANCE</a:t>
            </a:r>
            <a:r>
              <a:rPr dirty="0" sz="1200" spc="-30" b="1">
                <a:solidFill>
                  <a:srgbClr val="2CD3BE"/>
                </a:solidFill>
                <a:latin typeface="Calibri"/>
                <a:cs typeface="Calibri"/>
              </a:rPr>
              <a:t> </a:t>
            </a:r>
            <a:r>
              <a:rPr dirty="0" sz="1200" spc="-25" b="1">
                <a:solidFill>
                  <a:srgbClr val="2CD3BE"/>
                </a:solidFill>
                <a:latin typeface="Calibri"/>
                <a:cs typeface="Calibri"/>
              </a:rPr>
              <a:t>OF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1600" spc="-50" b="1">
                <a:solidFill>
                  <a:srgbClr val="FFFFFF"/>
                </a:solidFill>
                <a:latin typeface="Calibri"/>
                <a:cs typeface="Calibri"/>
              </a:rPr>
              <a:t>Mr.</a:t>
            </a:r>
            <a:r>
              <a:rPr dirty="0" sz="16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dirty="0" sz="16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FFFFFF"/>
                </a:solidFill>
                <a:latin typeface="Calibri"/>
                <a:cs typeface="Calibri"/>
              </a:rPr>
              <a:t>Lava</a:t>
            </a:r>
            <a:r>
              <a:rPr dirty="0" sz="160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Calibri"/>
                <a:cs typeface="Calibri"/>
              </a:rPr>
              <a:t>Prasad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Assistant</a:t>
            </a:r>
            <a:r>
              <a:rPr dirty="0" sz="1400" spc="-4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Professor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749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dirty="0" spc="-70"/>
              <a:t> </a:t>
            </a:r>
            <a:r>
              <a:rPr dirty="0" spc="-20"/>
              <a:t>Statement</a:t>
            </a:r>
            <a:r>
              <a:rPr dirty="0" spc="-75"/>
              <a:t> </a:t>
            </a:r>
            <a:r>
              <a:rPr dirty="0"/>
              <a:t>and</a:t>
            </a:r>
            <a:r>
              <a:rPr dirty="0" spc="-70"/>
              <a:t> </a:t>
            </a:r>
            <a:r>
              <a:rPr dirty="0" spc="-10"/>
              <a:t>Objectives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2164" y="1137966"/>
            <a:ext cx="3575685" cy="3355975"/>
            <a:chOff x="452164" y="1137966"/>
            <a:chExt cx="3575685" cy="3355975"/>
          </a:xfrm>
        </p:grpSpPr>
        <p:sp>
          <p:nvSpPr>
            <p:cNvPr id="4" name="object 4"/>
            <p:cNvSpPr/>
            <p:nvPr/>
          </p:nvSpPr>
          <p:spPr>
            <a:xfrm>
              <a:off x="456844" y="1142646"/>
              <a:ext cx="3566160" cy="3347085"/>
            </a:xfrm>
            <a:custGeom>
              <a:avLst/>
              <a:gdLst/>
              <a:ahLst/>
              <a:cxnLst/>
              <a:rect l="l" t="t" r="r" b="b"/>
              <a:pathLst>
                <a:path w="3566160" h="3347085">
                  <a:moveTo>
                    <a:pt x="349271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3273475"/>
                  </a:lnTo>
                  <a:lnTo>
                    <a:pt x="594" y="3282752"/>
                  </a:lnTo>
                  <a:lnTo>
                    <a:pt x="607" y="3282953"/>
                  </a:lnTo>
                  <a:lnTo>
                    <a:pt x="2393" y="3292149"/>
                  </a:lnTo>
                  <a:lnTo>
                    <a:pt x="2428" y="3292332"/>
                  </a:lnTo>
                  <a:lnTo>
                    <a:pt x="5410" y="3301211"/>
                  </a:lnTo>
                  <a:lnTo>
                    <a:pt x="36360" y="3336836"/>
                  </a:lnTo>
                  <a:lnTo>
                    <a:pt x="73075" y="3346551"/>
                  </a:lnTo>
                  <a:lnTo>
                    <a:pt x="3493071" y="3346195"/>
                  </a:lnTo>
                  <a:lnTo>
                    <a:pt x="3537449" y="3331097"/>
                  </a:lnTo>
                  <a:lnTo>
                    <a:pt x="3563668" y="3292332"/>
                  </a:lnTo>
                  <a:lnTo>
                    <a:pt x="3563729" y="3292149"/>
                  </a:lnTo>
                  <a:lnTo>
                    <a:pt x="3565513" y="3282953"/>
                  </a:lnTo>
                  <a:lnTo>
                    <a:pt x="3565552" y="3282752"/>
                  </a:lnTo>
                  <a:lnTo>
                    <a:pt x="3566137" y="3273475"/>
                  </a:lnTo>
                  <a:lnTo>
                    <a:pt x="3565791" y="73075"/>
                  </a:lnTo>
                  <a:lnTo>
                    <a:pt x="3550700" y="28698"/>
                  </a:lnTo>
                  <a:lnTo>
                    <a:pt x="3511750" y="2428"/>
                  </a:lnTo>
                  <a:lnTo>
                    <a:pt x="3502349" y="607"/>
                  </a:lnTo>
                  <a:lnTo>
                    <a:pt x="3492715" y="0"/>
                  </a:lnTo>
                  <a:close/>
                </a:path>
              </a:pathLst>
            </a:custGeom>
            <a:solidFill>
              <a:srgbClr val="1127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456844" y="1142646"/>
              <a:ext cx="3566160" cy="3347085"/>
            </a:xfrm>
            <a:custGeom>
              <a:avLst/>
              <a:gdLst/>
              <a:ahLst/>
              <a:cxnLst/>
              <a:rect l="l" t="t" r="r" b="b"/>
              <a:pathLst>
                <a:path w="3566160" h="3347085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3492715" y="0"/>
                  </a:lnTo>
                  <a:lnTo>
                    <a:pt x="3537243" y="15096"/>
                  </a:lnTo>
                  <a:lnTo>
                    <a:pt x="3563362" y="54219"/>
                  </a:lnTo>
                  <a:lnTo>
                    <a:pt x="3565791" y="73075"/>
                  </a:lnTo>
                  <a:lnTo>
                    <a:pt x="3566160" y="3273120"/>
                  </a:lnTo>
                  <a:lnTo>
                    <a:pt x="3565552" y="3282752"/>
                  </a:lnTo>
                  <a:lnTo>
                    <a:pt x="3563729" y="3292149"/>
                  </a:lnTo>
                  <a:lnTo>
                    <a:pt x="3537449" y="3331097"/>
                  </a:lnTo>
                  <a:lnTo>
                    <a:pt x="3493071" y="3346195"/>
                  </a:lnTo>
                  <a:lnTo>
                    <a:pt x="73075" y="3346551"/>
                  </a:lnTo>
                  <a:lnTo>
                    <a:pt x="28548" y="3331454"/>
                  </a:lnTo>
                  <a:lnTo>
                    <a:pt x="2428" y="3292332"/>
                  </a:lnTo>
                  <a:lnTo>
                    <a:pt x="0" y="3273475"/>
                  </a:lnTo>
                  <a:lnTo>
                    <a:pt x="0" y="73075"/>
                  </a:lnTo>
                  <a:close/>
                </a:path>
              </a:pathLst>
            </a:custGeom>
            <a:ln w="9359">
              <a:solidFill>
                <a:srgbClr val="2345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4284624" y="1129946"/>
            <a:ext cx="10166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2CD3BE"/>
                </a:solidFill>
                <a:latin typeface="Calibri"/>
                <a:cs typeface="Calibri"/>
              </a:rPr>
              <a:t>Objectives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7024" y="1267462"/>
            <a:ext cx="12299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2CD3BE"/>
                </a:solidFill>
                <a:latin typeface="Calibri"/>
                <a:cs typeface="Calibri"/>
              </a:rPr>
              <a:t>The</a:t>
            </a:r>
            <a:r>
              <a:rPr dirty="0" sz="1800" spc="-10" b="1">
                <a:solidFill>
                  <a:srgbClr val="2CD3BE"/>
                </a:solidFill>
                <a:latin typeface="Calibri"/>
                <a:cs typeface="Calibri"/>
              </a:rPr>
              <a:t> problem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7024" y="1649427"/>
            <a:ext cx="8890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solidFill>
                  <a:srgbClr val="DBE6F2"/>
                </a:solidFill>
                <a:latin typeface="Arial"/>
                <a:cs typeface="Arial"/>
              </a:rPr>
              <a:t>•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7024" y="2165301"/>
            <a:ext cx="8890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solidFill>
                  <a:srgbClr val="DBE6F2"/>
                </a:solidFill>
                <a:latin typeface="Arial"/>
                <a:cs typeface="Arial"/>
              </a:rPr>
              <a:t>•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7024" y="2681187"/>
            <a:ext cx="8890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solidFill>
                  <a:srgbClr val="DBE6F2"/>
                </a:solidFill>
                <a:latin typeface="Arial"/>
                <a:cs typeface="Arial"/>
              </a:rPr>
              <a:t>•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04862" y="1678586"/>
            <a:ext cx="3019425" cy="16979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8128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Wi-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Fi</a:t>
            </a:r>
            <a:r>
              <a:rPr dirty="0" sz="1400" spc="-4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signal</a:t>
            </a:r>
            <a:r>
              <a:rPr dirty="0" sz="1400" spc="-3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strength</a:t>
            </a:r>
            <a:r>
              <a:rPr dirty="0" sz="1400" spc="-3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changes</a:t>
            </a:r>
            <a:r>
              <a:rPr dirty="0" sz="1400" spc="-3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from</a:t>
            </a:r>
            <a:r>
              <a:rPr dirty="0" sz="1400" spc="-3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DBE6F2"/>
                </a:solidFill>
                <a:latin typeface="Calibri"/>
                <a:cs typeface="Calibri"/>
              </a:rPr>
              <a:t>place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to</a:t>
            </a:r>
            <a:r>
              <a:rPr dirty="0" sz="1400" spc="-3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place</a:t>
            </a:r>
            <a:r>
              <a:rPr dirty="0" sz="1400" spc="-4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and</a:t>
            </a:r>
            <a:r>
              <a:rPr dirty="0" sz="1400" spc="-3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device</a:t>
            </a:r>
            <a:r>
              <a:rPr dirty="0" sz="1400" spc="-3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to</a:t>
            </a:r>
            <a:r>
              <a:rPr dirty="0" sz="1400" spc="-3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device.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700"/>
              </a:spcBef>
            </a:pP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Pooling</a:t>
            </a:r>
            <a:r>
              <a:rPr dirty="0" sz="1400" spc="-5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raw</a:t>
            </a:r>
            <a:r>
              <a:rPr dirty="0" sz="1400" spc="-5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data</a:t>
            </a:r>
            <a:r>
              <a:rPr dirty="0" sz="1400" spc="-6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from</a:t>
            </a:r>
            <a:r>
              <a:rPr dirty="0" sz="1400" spc="-5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every</a:t>
            </a:r>
            <a:r>
              <a:rPr dirty="0" sz="1400" spc="-4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device</a:t>
            </a:r>
            <a:r>
              <a:rPr dirty="0" sz="1400" spc="-5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raises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privacy</a:t>
            </a:r>
            <a:r>
              <a:rPr dirty="0" sz="1400" spc="-2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and</a:t>
            </a:r>
            <a:r>
              <a:rPr dirty="0" sz="1400" spc="-2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communication</a:t>
            </a:r>
            <a:r>
              <a:rPr dirty="0" sz="1400" spc="-2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concerns.</a:t>
            </a:r>
            <a:endParaRPr sz="1400">
              <a:latin typeface="Calibri"/>
              <a:cs typeface="Calibri"/>
            </a:endParaRPr>
          </a:p>
          <a:p>
            <a:pPr marL="12700" marR="41275">
              <a:lnSpc>
                <a:spcPct val="100000"/>
              </a:lnSpc>
              <a:spcBef>
                <a:spcPts val="705"/>
              </a:spcBef>
            </a:pP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Federated</a:t>
            </a:r>
            <a:r>
              <a:rPr dirty="0" sz="1400" spc="-5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learning</a:t>
            </a:r>
            <a:r>
              <a:rPr dirty="0" sz="1400" spc="-5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keeps</a:t>
            </a:r>
            <a:r>
              <a:rPr dirty="0" sz="1400" spc="-5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data</a:t>
            </a:r>
            <a:r>
              <a:rPr dirty="0" sz="1400" spc="-4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on</a:t>
            </a:r>
            <a:r>
              <a:rPr dirty="0" sz="1400" spc="-5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DBE6F2"/>
                </a:solidFill>
                <a:latin typeface="Calibri"/>
                <a:cs typeface="Calibri"/>
              </a:rPr>
              <a:t>each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client,</a:t>
            </a:r>
            <a:r>
              <a:rPr dirty="0" sz="1400" spc="-5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but</a:t>
            </a:r>
            <a:r>
              <a:rPr dirty="0" sz="1400" spc="-4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client</a:t>
            </a:r>
            <a:r>
              <a:rPr dirty="0" sz="1400" spc="-4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data</a:t>
            </a:r>
            <a:r>
              <a:rPr dirty="0" sz="1400" spc="-4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are</a:t>
            </a:r>
            <a:r>
              <a:rPr dirty="0" sz="1400" spc="-5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non-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IID,</a:t>
            </a:r>
            <a:r>
              <a:rPr dirty="0" sz="1400" spc="-4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so</a:t>
            </a:r>
            <a:r>
              <a:rPr dirty="0" sz="1400" spc="-3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DBE6F2"/>
                </a:solidFill>
                <a:latin typeface="Calibri"/>
                <a:cs typeface="Calibri"/>
              </a:rPr>
              <a:t>one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global</a:t>
            </a:r>
            <a:r>
              <a:rPr dirty="0" sz="1400" spc="-4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model</a:t>
            </a:r>
            <a:r>
              <a:rPr dirty="0" sz="1400" spc="-4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may</a:t>
            </a:r>
            <a:r>
              <a:rPr dirty="0" sz="1400" spc="-3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fit</a:t>
            </a:r>
            <a:r>
              <a:rPr dirty="0" sz="1400" spc="-4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some</a:t>
            </a:r>
            <a:r>
              <a:rPr dirty="0" sz="1400" spc="-3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clients</a:t>
            </a:r>
            <a:r>
              <a:rPr dirty="0" sz="1400" spc="-4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poorly.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292644" y="1503726"/>
            <a:ext cx="4398645" cy="686435"/>
            <a:chOff x="4292644" y="1503726"/>
            <a:chExt cx="4398645" cy="686435"/>
          </a:xfrm>
        </p:grpSpPr>
        <p:sp>
          <p:nvSpPr>
            <p:cNvPr id="14" name="object 14"/>
            <p:cNvSpPr/>
            <p:nvPr/>
          </p:nvSpPr>
          <p:spPr>
            <a:xfrm>
              <a:off x="4297324" y="1508406"/>
              <a:ext cx="4389120" cy="676910"/>
            </a:xfrm>
            <a:custGeom>
              <a:avLst/>
              <a:gdLst/>
              <a:ahLst/>
              <a:cxnLst/>
              <a:rect l="l" t="t" r="r" b="b"/>
              <a:pathLst>
                <a:path w="4389120" h="676910">
                  <a:moveTo>
                    <a:pt x="4315675" y="0"/>
                  </a:moveTo>
                  <a:lnTo>
                    <a:pt x="73075" y="0"/>
                  </a:lnTo>
                  <a:lnTo>
                    <a:pt x="63649" y="607"/>
                  </a:lnTo>
                  <a:lnTo>
                    <a:pt x="21458" y="21280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603719"/>
                  </a:lnTo>
                  <a:lnTo>
                    <a:pt x="597" y="612990"/>
                  </a:lnTo>
                  <a:lnTo>
                    <a:pt x="607" y="613146"/>
                  </a:lnTo>
                  <a:lnTo>
                    <a:pt x="21280" y="655327"/>
                  </a:lnTo>
                  <a:lnTo>
                    <a:pt x="63442" y="676188"/>
                  </a:lnTo>
                  <a:lnTo>
                    <a:pt x="73075" y="676795"/>
                  </a:lnTo>
                  <a:lnTo>
                    <a:pt x="4316031" y="676440"/>
                  </a:lnTo>
                  <a:lnTo>
                    <a:pt x="4360409" y="661386"/>
                  </a:lnTo>
                  <a:lnTo>
                    <a:pt x="4386674" y="622438"/>
                  </a:lnTo>
                  <a:lnTo>
                    <a:pt x="4389096" y="603719"/>
                  </a:lnTo>
                  <a:lnTo>
                    <a:pt x="4389120" y="603351"/>
                  </a:lnTo>
                  <a:lnTo>
                    <a:pt x="4388751" y="73075"/>
                  </a:lnTo>
                  <a:lnTo>
                    <a:pt x="4373710" y="28698"/>
                  </a:lnTo>
                  <a:lnTo>
                    <a:pt x="4334710" y="2428"/>
                  </a:lnTo>
                  <a:lnTo>
                    <a:pt x="4325309" y="607"/>
                  </a:lnTo>
                  <a:lnTo>
                    <a:pt x="4315675" y="0"/>
                  </a:lnTo>
                  <a:close/>
                </a:path>
              </a:pathLst>
            </a:custGeom>
            <a:solidFill>
              <a:srgbClr val="1127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297324" y="1508406"/>
              <a:ext cx="4389120" cy="676910"/>
            </a:xfrm>
            <a:custGeom>
              <a:avLst/>
              <a:gdLst/>
              <a:ahLst/>
              <a:cxnLst/>
              <a:rect l="l" t="t" r="r" b="b"/>
              <a:pathLst>
                <a:path w="4389120" h="676910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41"/>
                  </a:lnTo>
                  <a:lnTo>
                    <a:pt x="73075" y="0"/>
                  </a:lnTo>
                  <a:lnTo>
                    <a:pt x="4315675" y="0"/>
                  </a:lnTo>
                  <a:lnTo>
                    <a:pt x="4360353" y="15096"/>
                  </a:lnTo>
                  <a:lnTo>
                    <a:pt x="4386322" y="54357"/>
                  </a:lnTo>
                  <a:lnTo>
                    <a:pt x="4388751" y="73075"/>
                  </a:lnTo>
                  <a:lnTo>
                    <a:pt x="4389120" y="603351"/>
                  </a:lnTo>
                  <a:lnTo>
                    <a:pt x="4388512" y="612990"/>
                  </a:lnTo>
                  <a:lnTo>
                    <a:pt x="4386689" y="622392"/>
                  </a:lnTo>
                  <a:lnTo>
                    <a:pt x="4360409" y="661386"/>
                  </a:lnTo>
                  <a:lnTo>
                    <a:pt x="4316031" y="676440"/>
                  </a:lnTo>
                  <a:lnTo>
                    <a:pt x="73075" y="676795"/>
                  </a:lnTo>
                  <a:lnTo>
                    <a:pt x="28398" y="661691"/>
                  </a:lnTo>
                  <a:lnTo>
                    <a:pt x="2428" y="622438"/>
                  </a:lnTo>
                  <a:lnTo>
                    <a:pt x="0" y="603719"/>
                  </a:lnTo>
                  <a:lnTo>
                    <a:pt x="0" y="73075"/>
                  </a:lnTo>
                  <a:close/>
                </a:path>
              </a:pathLst>
            </a:custGeom>
            <a:ln w="9359">
              <a:solidFill>
                <a:srgbClr val="23457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Objective icon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34840" y="1618197"/>
              <a:ext cx="456844" cy="456844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5061864" y="1620623"/>
            <a:ext cx="308483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Classify</a:t>
            </a:r>
            <a:r>
              <a:rPr dirty="0" sz="14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Wi-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Fi</a:t>
            </a:r>
            <a:r>
              <a:rPr dirty="0" sz="14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link</a:t>
            </a:r>
            <a:r>
              <a:rPr dirty="0" sz="1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quality</a:t>
            </a:r>
            <a:r>
              <a:rPr dirty="0" sz="14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(Poor,</a:t>
            </a:r>
            <a:r>
              <a:rPr dirty="0" sz="1400" spc="-30">
                <a:solidFill>
                  <a:srgbClr val="FFFFFF"/>
                </a:solidFill>
                <a:latin typeface="Calibri"/>
                <a:cs typeface="Calibri"/>
              </a:rPr>
              <a:t> Fair,</a:t>
            </a:r>
            <a:r>
              <a:rPr dirty="0" sz="14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Calibri"/>
                <a:cs typeface="Calibri"/>
              </a:rPr>
              <a:t>Good,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Excellent)</a:t>
            </a:r>
            <a:r>
              <a:rPr dirty="0" sz="14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Calibri"/>
                <a:cs typeface="Calibri"/>
              </a:rPr>
              <a:t>RSSI.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292644" y="2271962"/>
            <a:ext cx="4398645" cy="686435"/>
            <a:chOff x="4292644" y="2271962"/>
            <a:chExt cx="4398645" cy="686435"/>
          </a:xfrm>
        </p:grpSpPr>
        <p:sp>
          <p:nvSpPr>
            <p:cNvPr id="19" name="object 19"/>
            <p:cNvSpPr/>
            <p:nvPr/>
          </p:nvSpPr>
          <p:spPr>
            <a:xfrm>
              <a:off x="4297324" y="2276642"/>
              <a:ext cx="4389120" cy="676910"/>
            </a:xfrm>
            <a:custGeom>
              <a:avLst/>
              <a:gdLst/>
              <a:ahLst/>
              <a:cxnLst/>
              <a:rect l="l" t="t" r="r" b="b"/>
              <a:pathLst>
                <a:path w="4389120" h="676910">
                  <a:moveTo>
                    <a:pt x="4315675" y="0"/>
                  </a:moveTo>
                  <a:lnTo>
                    <a:pt x="73075" y="0"/>
                  </a:lnTo>
                  <a:lnTo>
                    <a:pt x="63649" y="607"/>
                  </a:lnTo>
                  <a:lnTo>
                    <a:pt x="21458" y="21285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603719"/>
                  </a:lnTo>
                  <a:lnTo>
                    <a:pt x="597" y="612996"/>
                  </a:lnTo>
                  <a:lnTo>
                    <a:pt x="607" y="613146"/>
                  </a:lnTo>
                  <a:lnTo>
                    <a:pt x="21280" y="655337"/>
                  </a:lnTo>
                  <a:lnTo>
                    <a:pt x="63442" y="676188"/>
                  </a:lnTo>
                  <a:lnTo>
                    <a:pt x="73075" y="676795"/>
                  </a:lnTo>
                  <a:lnTo>
                    <a:pt x="4316031" y="676440"/>
                  </a:lnTo>
                  <a:lnTo>
                    <a:pt x="4360409" y="661393"/>
                  </a:lnTo>
                  <a:lnTo>
                    <a:pt x="4386674" y="622438"/>
                  </a:lnTo>
                  <a:lnTo>
                    <a:pt x="4389120" y="603364"/>
                  </a:lnTo>
                  <a:lnTo>
                    <a:pt x="4388751" y="73075"/>
                  </a:lnTo>
                  <a:lnTo>
                    <a:pt x="4373710" y="28705"/>
                  </a:lnTo>
                  <a:lnTo>
                    <a:pt x="4334710" y="2428"/>
                  </a:lnTo>
                  <a:lnTo>
                    <a:pt x="4325309" y="607"/>
                  </a:lnTo>
                  <a:lnTo>
                    <a:pt x="4315675" y="0"/>
                  </a:lnTo>
                  <a:close/>
                </a:path>
              </a:pathLst>
            </a:custGeom>
            <a:solidFill>
              <a:srgbClr val="1127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297324" y="2276642"/>
              <a:ext cx="4389120" cy="676910"/>
            </a:xfrm>
            <a:custGeom>
              <a:avLst/>
              <a:gdLst/>
              <a:ahLst/>
              <a:cxnLst/>
              <a:rect l="l" t="t" r="r" b="b"/>
              <a:pathLst>
                <a:path w="4389120" h="67691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46"/>
                  </a:lnTo>
                  <a:lnTo>
                    <a:pt x="73075" y="0"/>
                  </a:lnTo>
                  <a:lnTo>
                    <a:pt x="4315675" y="0"/>
                  </a:lnTo>
                  <a:lnTo>
                    <a:pt x="4360353" y="15104"/>
                  </a:lnTo>
                  <a:lnTo>
                    <a:pt x="4386322" y="54357"/>
                  </a:lnTo>
                  <a:lnTo>
                    <a:pt x="4388751" y="73075"/>
                  </a:lnTo>
                  <a:lnTo>
                    <a:pt x="4389120" y="603364"/>
                  </a:lnTo>
                  <a:lnTo>
                    <a:pt x="4388512" y="612996"/>
                  </a:lnTo>
                  <a:lnTo>
                    <a:pt x="4386689" y="622393"/>
                  </a:lnTo>
                  <a:lnTo>
                    <a:pt x="4360409" y="661393"/>
                  </a:lnTo>
                  <a:lnTo>
                    <a:pt x="4316031" y="676440"/>
                  </a:lnTo>
                  <a:lnTo>
                    <a:pt x="73075" y="676795"/>
                  </a:lnTo>
                  <a:lnTo>
                    <a:pt x="28398" y="661698"/>
                  </a:lnTo>
                  <a:lnTo>
                    <a:pt x="2428" y="622438"/>
                  </a:lnTo>
                  <a:lnTo>
                    <a:pt x="0" y="603719"/>
                  </a:lnTo>
                  <a:lnTo>
                    <a:pt x="0" y="73075"/>
                  </a:lnTo>
                  <a:close/>
                </a:path>
              </a:pathLst>
            </a:custGeom>
            <a:ln w="9359">
              <a:solidFill>
                <a:srgbClr val="23457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Objective icon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34840" y="2386078"/>
              <a:ext cx="456844" cy="456844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5061864" y="2388859"/>
            <a:ext cx="3332479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Compare</a:t>
            </a:r>
            <a:r>
              <a:rPr dirty="0" sz="1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Centralized</a:t>
            </a:r>
            <a:r>
              <a:rPr dirty="0" sz="14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50">
                <a:solidFill>
                  <a:srgbClr val="FFFFFF"/>
                </a:solidFill>
                <a:latin typeface="Calibri"/>
                <a:cs typeface="Calibri"/>
              </a:rPr>
              <a:t>MLP,</a:t>
            </a: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FedAvg</a:t>
            </a:r>
            <a:r>
              <a:rPr dirty="0" sz="1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4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FedPer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on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non-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IID</a:t>
            </a:r>
            <a:r>
              <a:rPr dirty="0" sz="14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clients.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292644" y="3039842"/>
            <a:ext cx="4398645" cy="686435"/>
            <a:chOff x="4292644" y="3039842"/>
            <a:chExt cx="4398645" cy="686435"/>
          </a:xfrm>
        </p:grpSpPr>
        <p:sp>
          <p:nvSpPr>
            <p:cNvPr id="24" name="object 24"/>
            <p:cNvSpPr/>
            <p:nvPr/>
          </p:nvSpPr>
          <p:spPr>
            <a:xfrm>
              <a:off x="4297324" y="3044522"/>
              <a:ext cx="4389120" cy="676910"/>
            </a:xfrm>
            <a:custGeom>
              <a:avLst/>
              <a:gdLst/>
              <a:ahLst/>
              <a:cxnLst/>
              <a:rect l="l" t="t" r="r" b="b"/>
              <a:pathLst>
                <a:path w="4389120" h="676910">
                  <a:moveTo>
                    <a:pt x="4315675" y="0"/>
                  </a:moveTo>
                  <a:lnTo>
                    <a:pt x="73075" y="0"/>
                  </a:lnTo>
                  <a:lnTo>
                    <a:pt x="63649" y="607"/>
                  </a:lnTo>
                  <a:lnTo>
                    <a:pt x="21458" y="21285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603719"/>
                  </a:lnTo>
                  <a:lnTo>
                    <a:pt x="597" y="612996"/>
                  </a:lnTo>
                  <a:lnTo>
                    <a:pt x="607" y="613146"/>
                  </a:lnTo>
                  <a:lnTo>
                    <a:pt x="21280" y="655337"/>
                  </a:lnTo>
                  <a:lnTo>
                    <a:pt x="63442" y="676188"/>
                  </a:lnTo>
                  <a:lnTo>
                    <a:pt x="73075" y="676795"/>
                  </a:lnTo>
                  <a:lnTo>
                    <a:pt x="4316031" y="676440"/>
                  </a:lnTo>
                  <a:lnTo>
                    <a:pt x="4360409" y="661393"/>
                  </a:lnTo>
                  <a:lnTo>
                    <a:pt x="4386674" y="622438"/>
                  </a:lnTo>
                  <a:lnTo>
                    <a:pt x="4389120" y="603364"/>
                  </a:lnTo>
                  <a:lnTo>
                    <a:pt x="4388751" y="73075"/>
                  </a:lnTo>
                  <a:lnTo>
                    <a:pt x="4373710" y="28705"/>
                  </a:lnTo>
                  <a:lnTo>
                    <a:pt x="4334710" y="2428"/>
                  </a:lnTo>
                  <a:lnTo>
                    <a:pt x="4325309" y="607"/>
                  </a:lnTo>
                  <a:lnTo>
                    <a:pt x="4315675" y="0"/>
                  </a:lnTo>
                  <a:close/>
                </a:path>
              </a:pathLst>
            </a:custGeom>
            <a:solidFill>
              <a:srgbClr val="1127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4297324" y="3044522"/>
              <a:ext cx="4389120" cy="676910"/>
            </a:xfrm>
            <a:custGeom>
              <a:avLst/>
              <a:gdLst/>
              <a:ahLst/>
              <a:cxnLst/>
              <a:rect l="l" t="t" r="r" b="b"/>
              <a:pathLst>
                <a:path w="4389120" h="67691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46"/>
                  </a:lnTo>
                  <a:lnTo>
                    <a:pt x="73075" y="0"/>
                  </a:lnTo>
                  <a:lnTo>
                    <a:pt x="4315675" y="0"/>
                  </a:lnTo>
                  <a:lnTo>
                    <a:pt x="4360353" y="15104"/>
                  </a:lnTo>
                  <a:lnTo>
                    <a:pt x="4386322" y="54357"/>
                  </a:lnTo>
                  <a:lnTo>
                    <a:pt x="4388751" y="73075"/>
                  </a:lnTo>
                  <a:lnTo>
                    <a:pt x="4389120" y="603364"/>
                  </a:lnTo>
                  <a:lnTo>
                    <a:pt x="4388512" y="612996"/>
                  </a:lnTo>
                  <a:lnTo>
                    <a:pt x="4386689" y="622393"/>
                  </a:lnTo>
                  <a:lnTo>
                    <a:pt x="4360409" y="661393"/>
                  </a:lnTo>
                  <a:lnTo>
                    <a:pt x="4316031" y="676440"/>
                  </a:lnTo>
                  <a:lnTo>
                    <a:pt x="73075" y="676795"/>
                  </a:lnTo>
                  <a:lnTo>
                    <a:pt x="28398" y="661698"/>
                  </a:lnTo>
                  <a:lnTo>
                    <a:pt x="2428" y="622438"/>
                  </a:lnTo>
                  <a:lnTo>
                    <a:pt x="0" y="603719"/>
                  </a:lnTo>
                  <a:lnTo>
                    <a:pt x="0" y="73075"/>
                  </a:lnTo>
                  <a:close/>
                </a:path>
              </a:pathLst>
            </a:custGeom>
            <a:ln w="9359">
              <a:solidFill>
                <a:srgbClr val="23457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Objective icon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34840" y="3154313"/>
              <a:ext cx="456844" cy="456844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5061864" y="3156739"/>
            <a:ext cx="302895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Build</a:t>
            </a: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4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hybrid:</a:t>
            </a:r>
            <a:r>
              <a:rPr dirty="0" sz="14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RSSI</a:t>
            </a: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rule</a:t>
            </a:r>
            <a:r>
              <a:rPr dirty="0" sz="14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plus</a:t>
            </a:r>
            <a:r>
              <a:rPr dirty="0" sz="14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personalised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models</a:t>
            </a:r>
            <a:r>
              <a:rPr dirty="0" sz="1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near</a:t>
            </a:r>
            <a:r>
              <a:rPr dirty="0" sz="1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boundaries.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7024" y="3796819"/>
            <a:ext cx="293878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 b="1" i="1">
                <a:solidFill>
                  <a:srgbClr val="2CD3BE"/>
                </a:solidFill>
                <a:latin typeface="Calibri"/>
                <a:cs typeface="Calibri"/>
              </a:rPr>
              <a:t>Key</a:t>
            </a:r>
            <a:r>
              <a:rPr dirty="0" sz="1400" spc="-45" b="1" i="1">
                <a:solidFill>
                  <a:srgbClr val="2CD3BE"/>
                </a:solidFill>
                <a:latin typeface="Calibri"/>
                <a:cs typeface="Calibri"/>
              </a:rPr>
              <a:t> </a:t>
            </a:r>
            <a:r>
              <a:rPr dirty="0" sz="1400" b="1" i="1">
                <a:solidFill>
                  <a:srgbClr val="2CD3BE"/>
                </a:solidFill>
                <a:latin typeface="Calibri"/>
                <a:cs typeface="Calibri"/>
              </a:rPr>
              <a:t>question:</a:t>
            </a:r>
            <a:r>
              <a:rPr dirty="0" sz="1400" spc="-40" b="1" i="1">
                <a:solidFill>
                  <a:srgbClr val="2CD3BE"/>
                </a:solidFill>
                <a:latin typeface="Calibri"/>
                <a:cs typeface="Calibri"/>
              </a:rPr>
              <a:t> </a:t>
            </a:r>
            <a:r>
              <a:rPr dirty="0" sz="1400" b="1" i="1">
                <a:solidFill>
                  <a:srgbClr val="2CD3BE"/>
                </a:solidFill>
                <a:latin typeface="Calibri"/>
                <a:cs typeface="Calibri"/>
              </a:rPr>
              <a:t>does</a:t>
            </a:r>
            <a:r>
              <a:rPr dirty="0" sz="1400" spc="-45" b="1" i="1">
                <a:solidFill>
                  <a:srgbClr val="2CD3BE"/>
                </a:solidFill>
                <a:latin typeface="Calibri"/>
                <a:cs typeface="Calibri"/>
              </a:rPr>
              <a:t> </a:t>
            </a:r>
            <a:r>
              <a:rPr dirty="0" sz="1400" b="1" i="1">
                <a:solidFill>
                  <a:srgbClr val="2CD3BE"/>
                </a:solidFill>
                <a:latin typeface="Calibri"/>
                <a:cs typeface="Calibri"/>
              </a:rPr>
              <a:t>personalisation</a:t>
            </a:r>
            <a:r>
              <a:rPr dirty="0" sz="1400" spc="-40" b="1" i="1">
                <a:solidFill>
                  <a:srgbClr val="2CD3BE"/>
                </a:solidFill>
                <a:latin typeface="Calibri"/>
                <a:cs typeface="Calibri"/>
              </a:rPr>
              <a:t> </a:t>
            </a:r>
            <a:r>
              <a:rPr dirty="0" sz="1400" spc="-20" b="1" i="1">
                <a:solidFill>
                  <a:srgbClr val="2CD3BE"/>
                </a:solidFill>
                <a:latin typeface="Calibri"/>
                <a:cs typeface="Calibri"/>
              </a:rPr>
              <a:t>help </a:t>
            </a:r>
            <a:r>
              <a:rPr dirty="0" sz="1400" b="1" i="1">
                <a:solidFill>
                  <a:srgbClr val="2CD3BE"/>
                </a:solidFill>
                <a:latin typeface="Calibri"/>
                <a:cs typeface="Calibri"/>
              </a:rPr>
              <a:t>when</a:t>
            </a:r>
            <a:r>
              <a:rPr dirty="0" sz="1400" spc="-15" b="1" i="1">
                <a:solidFill>
                  <a:srgbClr val="2CD3BE"/>
                </a:solidFill>
                <a:latin typeface="Calibri"/>
                <a:cs typeface="Calibri"/>
              </a:rPr>
              <a:t> </a:t>
            </a:r>
            <a:r>
              <a:rPr dirty="0" sz="1400" b="1" i="1">
                <a:solidFill>
                  <a:srgbClr val="2CD3BE"/>
                </a:solidFill>
                <a:latin typeface="Calibri"/>
                <a:cs typeface="Calibri"/>
              </a:rPr>
              <a:t>client</a:t>
            </a:r>
            <a:r>
              <a:rPr dirty="0" sz="1400" spc="-15" b="1" i="1">
                <a:solidFill>
                  <a:srgbClr val="2CD3BE"/>
                </a:solidFill>
                <a:latin typeface="Calibri"/>
                <a:cs typeface="Calibri"/>
              </a:rPr>
              <a:t> </a:t>
            </a:r>
            <a:r>
              <a:rPr dirty="0" sz="1400" b="1" i="1">
                <a:solidFill>
                  <a:srgbClr val="2CD3BE"/>
                </a:solidFill>
                <a:latin typeface="Calibri"/>
                <a:cs typeface="Calibri"/>
              </a:rPr>
              <a:t>data</a:t>
            </a:r>
            <a:r>
              <a:rPr dirty="0" sz="1400" spc="-5" b="1" i="1">
                <a:solidFill>
                  <a:srgbClr val="2CD3BE"/>
                </a:solidFill>
                <a:latin typeface="Calibri"/>
                <a:cs typeface="Calibri"/>
              </a:rPr>
              <a:t> </a:t>
            </a:r>
            <a:r>
              <a:rPr dirty="0" sz="1400" b="1" i="1">
                <a:solidFill>
                  <a:srgbClr val="2CD3BE"/>
                </a:solidFill>
                <a:latin typeface="Calibri"/>
                <a:cs typeface="Calibri"/>
              </a:rPr>
              <a:t>are</a:t>
            </a:r>
            <a:r>
              <a:rPr dirty="0" sz="1400" spc="-15" b="1" i="1">
                <a:solidFill>
                  <a:srgbClr val="2CD3BE"/>
                </a:solidFill>
                <a:latin typeface="Calibri"/>
                <a:cs typeface="Calibri"/>
              </a:rPr>
              <a:t> </a:t>
            </a:r>
            <a:r>
              <a:rPr dirty="0" sz="1400" spc="-10" b="1" i="1">
                <a:solidFill>
                  <a:srgbClr val="2CD3BE"/>
                </a:solidFill>
                <a:latin typeface="Calibri"/>
                <a:cs typeface="Calibri"/>
              </a:rPr>
              <a:t>non-</a:t>
            </a:r>
            <a:r>
              <a:rPr dirty="0" sz="1400" spc="-20" b="1" i="1">
                <a:solidFill>
                  <a:srgbClr val="2CD3BE"/>
                </a:solidFill>
                <a:latin typeface="Calibri"/>
                <a:cs typeface="Calibri"/>
              </a:rPr>
              <a:t>IID?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292644" y="3808078"/>
            <a:ext cx="4398645" cy="686435"/>
            <a:chOff x="4292644" y="3808078"/>
            <a:chExt cx="4398645" cy="686435"/>
          </a:xfrm>
        </p:grpSpPr>
        <p:sp>
          <p:nvSpPr>
            <p:cNvPr id="29" name="object 29"/>
            <p:cNvSpPr/>
            <p:nvPr/>
          </p:nvSpPr>
          <p:spPr>
            <a:xfrm>
              <a:off x="4297324" y="3812757"/>
              <a:ext cx="4389120" cy="676910"/>
            </a:xfrm>
            <a:custGeom>
              <a:avLst/>
              <a:gdLst/>
              <a:ahLst/>
              <a:cxnLst/>
              <a:rect l="l" t="t" r="r" b="b"/>
              <a:pathLst>
                <a:path w="4389120" h="676910">
                  <a:moveTo>
                    <a:pt x="4315675" y="0"/>
                  </a:moveTo>
                  <a:lnTo>
                    <a:pt x="73075" y="0"/>
                  </a:lnTo>
                  <a:lnTo>
                    <a:pt x="63649" y="607"/>
                  </a:lnTo>
                  <a:lnTo>
                    <a:pt x="21458" y="21291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603719"/>
                  </a:lnTo>
                  <a:lnTo>
                    <a:pt x="15041" y="648097"/>
                  </a:lnTo>
                  <a:lnTo>
                    <a:pt x="54041" y="674377"/>
                  </a:lnTo>
                  <a:lnTo>
                    <a:pt x="73075" y="676808"/>
                  </a:lnTo>
                  <a:lnTo>
                    <a:pt x="4316031" y="676440"/>
                  </a:lnTo>
                  <a:lnTo>
                    <a:pt x="4360409" y="661398"/>
                  </a:lnTo>
                  <a:lnTo>
                    <a:pt x="4386674" y="622442"/>
                  </a:lnTo>
                  <a:lnTo>
                    <a:pt x="4389097" y="603719"/>
                  </a:lnTo>
                  <a:lnTo>
                    <a:pt x="4389120" y="603364"/>
                  </a:lnTo>
                  <a:lnTo>
                    <a:pt x="4388751" y="73088"/>
                  </a:lnTo>
                  <a:lnTo>
                    <a:pt x="4373710" y="28710"/>
                  </a:lnTo>
                  <a:lnTo>
                    <a:pt x="4334710" y="2430"/>
                  </a:lnTo>
                  <a:lnTo>
                    <a:pt x="4325309" y="607"/>
                  </a:lnTo>
                  <a:lnTo>
                    <a:pt x="4315675" y="0"/>
                  </a:lnTo>
                  <a:close/>
                </a:path>
              </a:pathLst>
            </a:custGeom>
            <a:solidFill>
              <a:srgbClr val="1127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297324" y="3812757"/>
              <a:ext cx="4389120" cy="676910"/>
            </a:xfrm>
            <a:custGeom>
              <a:avLst/>
              <a:gdLst/>
              <a:ahLst/>
              <a:cxnLst/>
              <a:rect l="l" t="t" r="r" b="b"/>
              <a:pathLst>
                <a:path w="4389120" h="676910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698" y="15053"/>
                  </a:lnTo>
                  <a:lnTo>
                    <a:pt x="73075" y="0"/>
                  </a:lnTo>
                  <a:lnTo>
                    <a:pt x="4315675" y="0"/>
                  </a:lnTo>
                  <a:lnTo>
                    <a:pt x="4360353" y="15109"/>
                  </a:lnTo>
                  <a:lnTo>
                    <a:pt x="4386322" y="54365"/>
                  </a:lnTo>
                  <a:lnTo>
                    <a:pt x="4388751" y="73088"/>
                  </a:lnTo>
                  <a:lnTo>
                    <a:pt x="4389120" y="603364"/>
                  </a:lnTo>
                  <a:lnTo>
                    <a:pt x="4388512" y="612998"/>
                  </a:lnTo>
                  <a:lnTo>
                    <a:pt x="4386689" y="622398"/>
                  </a:lnTo>
                  <a:lnTo>
                    <a:pt x="4360409" y="661398"/>
                  </a:lnTo>
                  <a:lnTo>
                    <a:pt x="4316031" y="676440"/>
                  </a:lnTo>
                  <a:lnTo>
                    <a:pt x="73075" y="676808"/>
                  </a:lnTo>
                  <a:lnTo>
                    <a:pt x="28398" y="661698"/>
                  </a:lnTo>
                  <a:lnTo>
                    <a:pt x="2428" y="622442"/>
                  </a:lnTo>
                  <a:lnTo>
                    <a:pt x="0" y="603719"/>
                  </a:lnTo>
                  <a:lnTo>
                    <a:pt x="0" y="73088"/>
                  </a:lnTo>
                  <a:close/>
                </a:path>
              </a:pathLst>
            </a:custGeom>
            <a:ln w="9359">
              <a:solidFill>
                <a:srgbClr val="23457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Objective icon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34840" y="3922562"/>
              <a:ext cx="456844" cy="456844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5061864" y="3924987"/>
            <a:ext cx="3465195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Run</a:t>
            </a:r>
            <a:r>
              <a:rPr dirty="0" sz="14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locally</a:t>
            </a: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dirty="0" sz="14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4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health</a:t>
            </a: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check</a:t>
            </a:r>
            <a:r>
              <a:rPr dirty="0" sz="14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prediction </a:t>
            </a:r>
            <a:r>
              <a:rPr dirty="0" sz="1400" spc="-20">
                <a:solidFill>
                  <a:srgbClr val="FFFFFF"/>
                </a:solidFill>
                <a:latin typeface="Calibri"/>
                <a:cs typeface="Calibri"/>
              </a:rPr>
              <a:t>API.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KLH</a:t>
            </a:r>
            <a:r>
              <a:rPr dirty="0" spc="-35"/>
              <a:t> </a:t>
            </a:r>
            <a:r>
              <a:rPr dirty="0"/>
              <a:t>University</a:t>
            </a:r>
            <a:r>
              <a:rPr dirty="0" spc="175"/>
              <a:t> </a:t>
            </a:r>
            <a:r>
              <a:rPr dirty="0"/>
              <a:t>|</a:t>
            </a:r>
            <a:r>
              <a:rPr dirty="0" spc="175"/>
              <a:t> </a:t>
            </a:r>
            <a:r>
              <a:rPr dirty="0"/>
              <a:t>Dept.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ECE</a:t>
            </a:r>
            <a:r>
              <a:rPr dirty="0" spc="170"/>
              <a:t> </a:t>
            </a:r>
            <a:r>
              <a:rPr dirty="0"/>
              <a:t>|</a:t>
            </a:r>
            <a:r>
              <a:rPr dirty="0" spc="175"/>
              <a:t> </a:t>
            </a:r>
            <a:r>
              <a:rPr dirty="0"/>
              <a:t>Machine</a:t>
            </a:r>
            <a:r>
              <a:rPr dirty="0" spc="-25"/>
              <a:t> </a:t>
            </a:r>
            <a:r>
              <a:rPr dirty="0"/>
              <a:t>Learning</a:t>
            </a:r>
            <a:r>
              <a:rPr dirty="0" spc="-25"/>
              <a:t> </a:t>
            </a:r>
            <a:r>
              <a:rPr dirty="0" spc="-10"/>
              <a:t>(25SC2107E)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749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5"/>
              <a:t>Literature</a:t>
            </a:r>
            <a:r>
              <a:rPr dirty="0" spc="-65"/>
              <a:t> </a:t>
            </a:r>
            <a:r>
              <a:rPr dirty="0" spc="-10"/>
              <a:t>Background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2164" y="1137966"/>
            <a:ext cx="8239125" cy="612775"/>
            <a:chOff x="452164" y="1137966"/>
            <a:chExt cx="8239125" cy="612775"/>
          </a:xfrm>
        </p:grpSpPr>
        <p:sp>
          <p:nvSpPr>
            <p:cNvPr id="4" name="object 4"/>
            <p:cNvSpPr/>
            <p:nvPr/>
          </p:nvSpPr>
          <p:spPr>
            <a:xfrm>
              <a:off x="456844" y="1142646"/>
              <a:ext cx="8229600" cy="603885"/>
            </a:xfrm>
            <a:custGeom>
              <a:avLst/>
              <a:gdLst/>
              <a:ahLst/>
              <a:cxnLst/>
              <a:rect l="l" t="t" r="r" b="b"/>
              <a:pathLst>
                <a:path w="8229600" h="603885">
                  <a:moveTo>
                    <a:pt x="8156155" y="0"/>
                  </a:moveTo>
                  <a:lnTo>
                    <a:pt x="73075" y="0"/>
                  </a:lnTo>
                  <a:lnTo>
                    <a:pt x="63447" y="607"/>
                  </a:lnTo>
                  <a:lnTo>
                    <a:pt x="21418" y="21458"/>
                  </a:lnTo>
                  <a:lnTo>
                    <a:pt x="606" y="63447"/>
                  </a:lnTo>
                  <a:lnTo>
                    <a:pt x="0" y="73075"/>
                  </a:lnTo>
                  <a:lnTo>
                    <a:pt x="0" y="530275"/>
                  </a:lnTo>
                  <a:lnTo>
                    <a:pt x="15091" y="574653"/>
                  </a:lnTo>
                  <a:lnTo>
                    <a:pt x="54041" y="600922"/>
                  </a:lnTo>
                  <a:lnTo>
                    <a:pt x="73075" y="603351"/>
                  </a:lnTo>
                  <a:lnTo>
                    <a:pt x="8156511" y="602995"/>
                  </a:lnTo>
                  <a:lnTo>
                    <a:pt x="8200889" y="587897"/>
                  </a:lnTo>
                  <a:lnTo>
                    <a:pt x="8227063" y="549265"/>
                  </a:lnTo>
                  <a:lnTo>
                    <a:pt x="8227169" y="548949"/>
                  </a:lnTo>
                  <a:lnTo>
                    <a:pt x="8228924" y="539903"/>
                  </a:lnTo>
                  <a:lnTo>
                    <a:pt x="8228992" y="539552"/>
                  </a:lnTo>
                  <a:lnTo>
                    <a:pt x="8229577" y="530275"/>
                  </a:lnTo>
                  <a:lnTo>
                    <a:pt x="8229600" y="529920"/>
                  </a:lnTo>
                  <a:lnTo>
                    <a:pt x="8229231" y="73075"/>
                  </a:lnTo>
                  <a:lnTo>
                    <a:pt x="8214140" y="28698"/>
                  </a:lnTo>
                  <a:lnTo>
                    <a:pt x="8175190" y="2428"/>
                  </a:lnTo>
                  <a:lnTo>
                    <a:pt x="8165789" y="607"/>
                  </a:lnTo>
                  <a:lnTo>
                    <a:pt x="8156155" y="0"/>
                  </a:lnTo>
                  <a:close/>
                </a:path>
              </a:pathLst>
            </a:custGeom>
            <a:solidFill>
              <a:srgbClr val="1127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456844" y="1142646"/>
              <a:ext cx="8229600" cy="603885"/>
            </a:xfrm>
            <a:custGeom>
              <a:avLst/>
              <a:gdLst/>
              <a:ahLst/>
              <a:cxnLst/>
              <a:rect l="l" t="t" r="r" b="b"/>
              <a:pathLst>
                <a:path w="8229600" h="603885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8156155" y="0"/>
                  </a:lnTo>
                  <a:lnTo>
                    <a:pt x="8200683" y="15096"/>
                  </a:lnTo>
                  <a:lnTo>
                    <a:pt x="8226802" y="54086"/>
                  </a:lnTo>
                  <a:lnTo>
                    <a:pt x="8229231" y="73075"/>
                  </a:lnTo>
                  <a:lnTo>
                    <a:pt x="8229600" y="529920"/>
                  </a:lnTo>
                  <a:lnTo>
                    <a:pt x="8228992" y="539552"/>
                  </a:lnTo>
                  <a:lnTo>
                    <a:pt x="8227169" y="548949"/>
                  </a:lnTo>
                  <a:lnTo>
                    <a:pt x="8200889" y="587897"/>
                  </a:lnTo>
                  <a:lnTo>
                    <a:pt x="8156511" y="602995"/>
                  </a:lnTo>
                  <a:lnTo>
                    <a:pt x="73075" y="603351"/>
                  </a:lnTo>
                  <a:lnTo>
                    <a:pt x="28548" y="588254"/>
                  </a:lnTo>
                  <a:lnTo>
                    <a:pt x="2428" y="549265"/>
                  </a:lnTo>
                  <a:lnTo>
                    <a:pt x="0" y="530275"/>
                  </a:lnTo>
                  <a:lnTo>
                    <a:pt x="0" y="73075"/>
                  </a:lnTo>
                  <a:close/>
                </a:path>
              </a:pathLst>
            </a:custGeom>
            <a:ln w="9359">
              <a:solidFill>
                <a:srgbClr val="2345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627024" y="1242265"/>
            <a:ext cx="169926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McMahan</a:t>
            </a:r>
            <a:r>
              <a:rPr dirty="0" sz="140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et</a:t>
            </a:r>
            <a:r>
              <a:rPr dirty="0" sz="14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al.</a:t>
            </a:r>
            <a:r>
              <a:rPr dirty="0" sz="14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(2017)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>
                <a:solidFill>
                  <a:srgbClr val="2CD3BE"/>
                </a:solidFill>
                <a:latin typeface="Calibri"/>
                <a:cs typeface="Calibri"/>
              </a:rPr>
              <a:t>FedAvg</a:t>
            </a:r>
            <a:r>
              <a:rPr dirty="0" sz="1200" spc="-20">
                <a:solidFill>
                  <a:srgbClr val="2CD3BE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CD3BE"/>
                </a:solidFill>
                <a:latin typeface="Calibri"/>
                <a:cs typeface="Calibri"/>
              </a:rPr>
              <a:t>·</a:t>
            </a:r>
            <a:r>
              <a:rPr dirty="0" sz="1200" spc="-20">
                <a:solidFill>
                  <a:srgbClr val="2CD3BE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CD3BE"/>
                </a:solidFill>
                <a:latin typeface="Calibri"/>
                <a:cs typeface="Calibri"/>
              </a:rPr>
              <a:t>AISTATS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44900" y="1218503"/>
            <a:ext cx="467614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Clients</a:t>
            </a:r>
            <a:r>
              <a:rPr dirty="0" sz="1400" spc="-4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train</a:t>
            </a:r>
            <a:r>
              <a:rPr dirty="0" sz="1400" spc="-4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locally</a:t>
            </a:r>
            <a:r>
              <a:rPr dirty="0" sz="1400" spc="-5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and</a:t>
            </a:r>
            <a:r>
              <a:rPr dirty="0" sz="1400" spc="-4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the</a:t>
            </a:r>
            <a:r>
              <a:rPr dirty="0" sz="1400" spc="-4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server</a:t>
            </a:r>
            <a:r>
              <a:rPr dirty="0" sz="1400" spc="-4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averages</a:t>
            </a:r>
            <a:r>
              <a:rPr dirty="0" sz="1400" spc="-5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their</a:t>
            </a:r>
            <a:r>
              <a:rPr dirty="0" sz="1400" spc="-5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model</a:t>
            </a:r>
            <a:r>
              <a:rPr dirty="0" sz="1400" spc="-4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weights, cutting</a:t>
            </a:r>
            <a:r>
              <a:rPr dirty="0" sz="1400" spc="-2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communication</a:t>
            </a:r>
            <a:r>
              <a:rPr dirty="0" sz="1400" spc="-20">
                <a:solidFill>
                  <a:srgbClr val="DBE6F2"/>
                </a:solidFill>
                <a:latin typeface="Calibri"/>
                <a:cs typeface="Calibri"/>
              </a:rPr>
              <a:t> cost.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52164" y="1814762"/>
            <a:ext cx="8239125" cy="612775"/>
            <a:chOff x="452164" y="1814762"/>
            <a:chExt cx="8239125" cy="612775"/>
          </a:xfrm>
        </p:grpSpPr>
        <p:sp>
          <p:nvSpPr>
            <p:cNvPr id="9" name="object 9"/>
            <p:cNvSpPr/>
            <p:nvPr/>
          </p:nvSpPr>
          <p:spPr>
            <a:xfrm>
              <a:off x="456844" y="1819442"/>
              <a:ext cx="8229600" cy="603885"/>
            </a:xfrm>
            <a:custGeom>
              <a:avLst/>
              <a:gdLst/>
              <a:ahLst/>
              <a:cxnLst/>
              <a:rect l="l" t="t" r="r" b="b"/>
              <a:pathLst>
                <a:path w="8229600" h="603885">
                  <a:moveTo>
                    <a:pt x="8156155" y="0"/>
                  </a:moveTo>
                  <a:lnTo>
                    <a:pt x="73075" y="0"/>
                  </a:lnTo>
                  <a:lnTo>
                    <a:pt x="63447" y="607"/>
                  </a:lnTo>
                  <a:lnTo>
                    <a:pt x="21418" y="21467"/>
                  </a:lnTo>
                  <a:lnTo>
                    <a:pt x="606" y="63449"/>
                  </a:lnTo>
                  <a:lnTo>
                    <a:pt x="0" y="73075"/>
                  </a:lnTo>
                  <a:lnTo>
                    <a:pt x="0" y="530275"/>
                  </a:lnTo>
                  <a:lnTo>
                    <a:pt x="15091" y="574653"/>
                  </a:lnTo>
                  <a:lnTo>
                    <a:pt x="54041" y="600933"/>
                  </a:lnTo>
                  <a:lnTo>
                    <a:pt x="73075" y="603364"/>
                  </a:lnTo>
                  <a:lnTo>
                    <a:pt x="8156511" y="602995"/>
                  </a:lnTo>
                  <a:lnTo>
                    <a:pt x="8200889" y="587904"/>
                  </a:lnTo>
                  <a:lnTo>
                    <a:pt x="8227063" y="549270"/>
                  </a:lnTo>
                  <a:lnTo>
                    <a:pt x="8227169" y="548954"/>
                  </a:lnTo>
                  <a:lnTo>
                    <a:pt x="8228923" y="539909"/>
                  </a:lnTo>
                  <a:lnTo>
                    <a:pt x="8228992" y="539553"/>
                  </a:lnTo>
                  <a:lnTo>
                    <a:pt x="8229577" y="530275"/>
                  </a:lnTo>
                  <a:lnTo>
                    <a:pt x="8229231" y="73075"/>
                  </a:lnTo>
                  <a:lnTo>
                    <a:pt x="8214140" y="28705"/>
                  </a:lnTo>
                  <a:lnTo>
                    <a:pt x="8175190" y="2428"/>
                  </a:lnTo>
                  <a:lnTo>
                    <a:pt x="8165789" y="607"/>
                  </a:lnTo>
                  <a:lnTo>
                    <a:pt x="8156155" y="0"/>
                  </a:lnTo>
                  <a:close/>
                </a:path>
              </a:pathLst>
            </a:custGeom>
            <a:solidFill>
              <a:srgbClr val="1127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456844" y="1819442"/>
              <a:ext cx="8229600" cy="603885"/>
            </a:xfrm>
            <a:custGeom>
              <a:avLst/>
              <a:gdLst/>
              <a:ahLst/>
              <a:cxnLst/>
              <a:rect l="l" t="t" r="r" b="b"/>
              <a:pathLst>
                <a:path w="8229600" h="603885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8156155" y="0"/>
                  </a:lnTo>
                  <a:lnTo>
                    <a:pt x="8200683" y="15104"/>
                  </a:lnTo>
                  <a:lnTo>
                    <a:pt x="8226802" y="54090"/>
                  </a:lnTo>
                  <a:lnTo>
                    <a:pt x="8229231" y="73075"/>
                  </a:lnTo>
                  <a:lnTo>
                    <a:pt x="8229600" y="529920"/>
                  </a:lnTo>
                  <a:lnTo>
                    <a:pt x="8228992" y="539553"/>
                  </a:lnTo>
                  <a:lnTo>
                    <a:pt x="8227169" y="548954"/>
                  </a:lnTo>
                  <a:lnTo>
                    <a:pt x="8200889" y="587904"/>
                  </a:lnTo>
                  <a:lnTo>
                    <a:pt x="8156511" y="602995"/>
                  </a:lnTo>
                  <a:lnTo>
                    <a:pt x="73075" y="603364"/>
                  </a:lnTo>
                  <a:lnTo>
                    <a:pt x="28548" y="588254"/>
                  </a:lnTo>
                  <a:lnTo>
                    <a:pt x="2428" y="549270"/>
                  </a:lnTo>
                  <a:lnTo>
                    <a:pt x="0" y="530275"/>
                  </a:lnTo>
                  <a:lnTo>
                    <a:pt x="0" y="73075"/>
                  </a:lnTo>
                  <a:close/>
                </a:path>
              </a:pathLst>
            </a:custGeom>
            <a:ln w="9359">
              <a:solidFill>
                <a:srgbClr val="2345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627024" y="1919060"/>
            <a:ext cx="185166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Arivazhagan</a:t>
            </a:r>
            <a:r>
              <a:rPr dirty="0" sz="1400" spc="-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et</a:t>
            </a:r>
            <a:r>
              <a:rPr dirty="0" sz="14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al.</a:t>
            </a:r>
            <a:r>
              <a:rPr dirty="0" sz="14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(2019)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>
                <a:solidFill>
                  <a:srgbClr val="2CD3BE"/>
                </a:solidFill>
                <a:latin typeface="Calibri"/>
                <a:cs typeface="Calibri"/>
              </a:rPr>
              <a:t>FedPer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44900" y="1894943"/>
            <a:ext cx="4688205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Shares</a:t>
            </a:r>
            <a:r>
              <a:rPr dirty="0" sz="1400" spc="-5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base</a:t>
            </a:r>
            <a:r>
              <a:rPr dirty="0" sz="1400" spc="-5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layers</a:t>
            </a:r>
            <a:r>
              <a:rPr dirty="0" sz="1400" spc="-4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across</a:t>
            </a:r>
            <a:r>
              <a:rPr dirty="0" sz="1400" spc="-4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clients</a:t>
            </a:r>
            <a:r>
              <a:rPr dirty="0" sz="1400" spc="-4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but</a:t>
            </a:r>
            <a:r>
              <a:rPr dirty="0" sz="1400" spc="-4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keeps</a:t>
            </a:r>
            <a:r>
              <a:rPr dirty="0" sz="1400" spc="-4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personalisation</a:t>
            </a:r>
            <a:r>
              <a:rPr dirty="0" sz="1400" spc="-4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layers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local</a:t>
            </a:r>
            <a:r>
              <a:rPr dirty="0" sz="1400" spc="-3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to</a:t>
            </a:r>
            <a:r>
              <a:rPr dirty="0" sz="1400" spc="-2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each</a:t>
            </a:r>
            <a:r>
              <a:rPr dirty="0" sz="1400" spc="-3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client.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52164" y="2491202"/>
            <a:ext cx="8239125" cy="612775"/>
            <a:chOff x="452164" y="2491202"/>
            <a:chExt cx="8239125" cy="612775"/>
          </a:xfrm>
        </p:grpSpPr>
        <p:sp>
          <p:nvSpPr>
            <p:cNvPr id="14" name="object 14"/>
            <p:cNvSpPr/>
            <p:nvPr/>
          </p:nvSpPr>
          <p:spPr>
            <a:xfrm>
              <a:off x="456844" y="2495882"/>
              <a:ext cx="8229600" cy="603885"/>
            </a:xfrm>
            <a:custGeom>
              <a:avLst/>
              <a:gdLst/>
              <a:ahLst/>
              <a:cxnLst/>
              <a:rect l="l" t="t" r="r" b="b"/>
              <a:pathLst>
                <a:path w="8229600" h="603885">
                  <a:moveTo>
                    <a:pt x="8156155" y="0"/>
                  </a:moveTo>
                  <a:lnTo>
                    <a:pt x="73075" y="0"/>
                  </a:lnTo>
                  <a:lnTo>
                    <a:pt x="63447" y="607"/>
                  </a:lnTo>
                  <a:lnTo>
                    <a:pt x="21418" y="21467"/>
                  </a:lnTo>
                  <a:lnTo>
                    <a:pt x="606" y="63449"/>
                  </a:lnTo>
                  <a:lnTo>
                    <a:pt x="0" y="73075"/>
                  </a:lnTo>
                  <a:lnTo>
                    <a:pt x="0" y="530275"/>
                  </a:lnTo>
                  <a:lnTo>
                    <a:pt x="15091" y="574653"/>
                  </a:lnTo>
                  <a:lnTo>
                    <a:pt x="54041" y="600933"/>
                  </a:lnTo>
                  <a:lnTo>
                    <a:pt x="73075" y="603364"/>
                  </a:lnTo>
                  <a:lnTo>
                    <a:pt x="8156511" y="602995"/>
                  </a:lnTo>
                  <a:lnTo>
                    <a:pt x="8200889" y="587904"/>
                  </a:lnTo>
                  <a:lnTo>
                    <a:pt x="8227063" y="549270"/>
                  </a:lnTo>
                  <a:lnTo>
                    <a:pt x="8227169" y="548954"/>
                  </a:lnTo>
                  <a:lnTo>
                    <a:pt x="8228923" y="539909"/>
                  </a:lnTo>
                  <a:lnTo>
                    <a:pt x="8228992" y="539553"/>
                  </a:lnTo>
                  <a:lnTo>
                    <a:pt x="8229577" y="530275"/>
                  </a:lnTo>
                  <a:lnTo>
                    <a:pt x="8229231" y="73075"/>
                  </a:lnTo>
                  <a:lnTo>
                    <a:pt x="8214140" y="28705"/>
                  </a:lnTo>
                  <a:lnTo>
                    <a:pt x="8175190" y="2428"/>
                  </a:lnTo>
                  <a:lnTo>
                    <a:pt x="8165789" y="607"/>
                  </a:lnTo>
                  <a:lnTo>
                    <a:pt x="8156155" y="0"/>
                  </a:lnTo>
                  <a:close/>
                </a:path>
              </a:pathLst>
            </a:custGeom>
            <a:solidFill>
              <a:srgbClr val="1127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56844" y="2495882"/>
              <a:ext cx="8229600" cy="603885"/>
            </a:xfrm>
            <a:custGeom>
              <a:avLst/>
              <a:gdLst/>
              <a:ahLst/>
              <a:cxnLst/>
              <a:rect l="l" t="t" r="r" b="b"/>
              <a:pathLst>
                <a:path w="8229600" h="603885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8156155" y="0"/>
                  </a:lnTo>
                  <a:lnTo>
                    <a:pt x="8200683" y="15104"/>
                  </a:lnTo>
                  <a:lnTo>
                    <a:pt x="8226802" y="54090"/>
                  </a:lnTo>
                  <a:lnTo>
                    <a:pt x="8229231" y="73075"/>
                  </a:lnTo>
                  <a:lnTo>
                    <a:pt x="8229600" y="529920"/>
                  </a:lnTo>
                  <a:lnTo>
                    <a:pt x="8228992" y="539553"/>
                  </a:lnTo>
                  <a:lnTo>
                    <a:pt x="8227169" y="548954"/>
                  </a:lnTo>
                  <a:lnTo>
                    <a:pt x="8200889" y="587904"/>
                  </a:lnTo>
                  <a:lnTo>
                    <a:pt x="8156511" y="602995"/>
                  </a:lnTo>
                  <a:lnTo>
                    <a:pt x="73075" y="603364"/>
                  </a:lnTo>
                  <a:lnTo>
                    <a:pt x="28548" y="588254"/>
                  </a:lnTo>
                  <a:lnTo>
                    <a:pt x="2428" y="549270"/>
                  </a:lnTo>
                  <a:lnTo>
                    <a:pt x="0" y="530275"/>
                  </a:lnTo>
                  <a:lnTo>
                    <a:pt x="0" y="73075"/>
                  </a:lnTo>
                  <a:close/>
                </a:path>
              </a:pathLst>
            </a:custGeom>
            <a:ln w="9359">
              <a:solidFill>
                <a:srgbClr val="2345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627024" y="2595869"/>
            <a:ext cx="1066165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Li</a:t>
            </a:r>
            <a:r>
              <a:rPr dirty="0" sz="14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et</a:t>
            </a:r>
            <a:r>
              <a:rPr dirty="0" sz="14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al.</a:t>
            </a:r>
            <a:r>
              <a:rPr dirty="0" sz="140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(2020)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>
                <a:solidFill>
                  <a:srgbClr val="2CD3BE"/>
                </a:solidFill>
                <a:latin typeface="Calibri"/>
                <a:cs typeface="Calibri"/>
              </a:rPr>
              <a:t>FedProx</a:t>
            </a:r>
            <a:r>
              <a:rPr dirty="0" sz="1200" spc="-25">
                <a:solidFill>
                  <a:srgbClr val="2CD3BE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CD3BE"/>
                </a:solidFill>
                <a:latin typeface="Calibri"/>
                <a:cs typeface="Calibri"/>
              </a:rPr>
              <a:t>·</a:t>
            </a:r>
            <a:r>
              <a:rPr dirty="0" sz="1200" spc="-25">
                <a:solidFill>
                  <a:srgbClr val="2CD3BE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2CD3BE"/>
                </a:solidFill>
                <a:latin typeface="Calibri"/>
                <a:cs typeface="Calibri"/>
              </a:rPr>
              <a:t>MLSys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44900" y="2571739"/>
            <a:ext cx="464820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Addresses</a:t>
            </a:r>
            <a:r>
              <a:rPr dirty="0" sz="1400" spc="-3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uneven</a:t>
            </a:r>
            <a:r>
              <a:rPr dirty="0" sz="1400" spc="-4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clients</a:t>
            </a:r>
            <a:r>
              <a:rPr dirty="0" sz="1400" spc="-4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and</a:t>
            </a:r>
            <a:r>
              <a:rPr dirty="0" sz="1400" spc="-4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data.</a:t>
            </a:r>
            <a:r>
              <a:rPr dirty="0" sz="1400" spc="-4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Background</a:t>
            </a:r>
            <a:r>
              <a:rPr dirty="0" sz="1400" spc="-4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only;</a:t>
            </a:r>
            <a:r>
              <a:rPr dirty="0" sz="1400" spc="-4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not</a:t>
            </a:r>
            <a:r>
              <a:rPr dirty="0" sz="1400" spc="-5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one</a:t>
            </a:r>
            <a:r>
              <a:rPr dirty="0" sz="1400" spc="-3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DBE6F2"/>
                </a:solidFill>
                <a:latin typeface="Calibri"/>
                <a:cs typeface="Calibri"/>
              </a:rPr>
              <a:t>of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our</a:t>
            </a: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 compared methods.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52164" y="3167998"/>
            <a:ext cx="8239125" cy="612775"/>
            <a:chOff x="452164" y="3167998"/>
            <a:chExt cx="8239125" cy="612775"/>
          </a:xfrm>
        </p:grpSpPr>
        <p:sp>
          <p:nvSpPr>
            <p:cNvPr id="19" name="object 19"/>
            <p:cNvSpPr/>
            <p:nvPr/>
          </p:nvSpPr>
          <p:spPr>
            <a:xfrm>
              <a:off x="456844" y="3172677"/>
              <a:ext cx="8229600" cy="603885"/>
            </a:xfrm>
            <a:custGeom>
              <a:avLst/>
              <a:gdLst/>
              <a:ahLst/>
              <a:cxnLst/>
              <a:rect l="l" t="t" r="r" b="b"/>
              <a:pathLst>
                <a:path w="8229600" h="603885">
                  <a:moveTo>
                    <a:pt x="8156155" y="0"/>
                  </a:moveTo>
                  <a:lnTo>
                    <a:pt x="73075" y="0"/>
                  </a:lnTo>
                  <a:lnTo>
                    <a:pt x="63447" y="607"/>
                  </a:lnTo>
                  <a:lnTo>
                    <a:pt x="21417" y="21470"/>
                  </a:lnTo>
                  <a:lnTo>
                    <a:pt x="606" y="63454"/>
                  </a:lnTo>
                  <a:lnTo>
                    <a:pt x="0" y="73088"/>
                  </a:lnTo>
                  <a:lnTo>
                    <a:pt x="0" y="530288"/>
                  </a:lnTo>
                  <a:lnTo>
                    <a:pt x="584" y="539559"/>
                  </a:lnTo>
                  <a:lnTo>
                    <a:pt x="607" y="539914"/>
                  </a:lnTo>
                  <a:lnTo>
                    <a:pt x="21413" y="581896"/>
                  </a:lnTo>
                  <a:lnTo>
                    <a:pt x="63442" y="602757"/>
                  </a:lnTo>
                  <a:lnTo>
                    <a:pt x="73075" y="603364"/>
                  </a:lnTo>
                  <a:lnTo>
                    <a:pt x="8156511" y="603008"/>
                  </a:lnTo>
                  <a:lnTo>
                    <a:pt x="8200889" y="587904"/>
                  </a:lnTo>
                  <a:lnTo>
                    <a:pt x="8224028" y="558229"/>
                  </a:lnTo>
                  <a:lnTo>
                    <a:pt x="8224129" y="558023"/>
                  </a:lnTo>
                  <a:lnTo>
                    <a:pt x="8227064" y="549273"/>
                  </a:lnTo>
                  <a:lnTo>
                    <a:pt x="8227169" y="548960"/>
                  </a:lnTo>
                  <a:lnTo>
                    <a:pt x="8228923" y="539914"/>
                  </a:lnTo>
                  <a:lnTo>
                    <a:pt x="8228992" y="539559"/>
                  </a:lnTo>
                  <a:lnTo>
                    <a:pt x="8229576" y="530288"/>
                  </a:lnTo>
                  <a:lnTo>
                    <a:pt x="8229600" y="529920"/>
                  </a:lnTo>
                  <a:lnTo>
                    <a:pt x="8229231" y="73088"/>
                  </a:lnTo>
                  <a:lnTo>
                    <a:pt x="8214140" y="28710"/>
                  </a:lnTo>
                  <a:lnTo>
                    <a:pt x="8175190" y="2430"/>
                  </a:lnTo>
                  <a:lnTo>
                    <a:pt x="8165789" y="607"/>
                  </a:lnTo>
                  <a:lnTo>
                    <a:pt x="8156155" y="0"/>
                  </a:lnTo>
                  <a:close/>
                </a:path>
              </a:pathLst>
            </a:custGeom>
            <a:solidFill>
              <a:srgbClr val="1127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56844" y="3172677"/>
              <a:ext cx="8229600" cy="603885"/>
            </a:xfrm>
            <a:custGeom>
              <a:avLst/>
              <a:gdLst/>
              <a:ahLst/>
              <a:cxnLst/>
              <a:rect l="l" t="t" r="r" b="b"/>
              <a:pathLst>
                <a:path w="8229600" h="603885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698" y="15103"/>
                  </a:lnTo>
                  <a:lnTo>
                    <a:pt x="73075" y="0"/>
                  </a:lnTo>
                  <a:lnTo>
                    <a:pt x="8156155" y="0"/>
                  </a:lnTo>
                  <a:lnTo>
                    <a:pt x="8200683" y="15109"/>
                  </a:lnTo>
                  <a:lnTo>
                    <a:pt x="8226802" y="54094"/>
                  </a:lnTo>
                  <a:lnTo>
                    <a:pt x="8229231" y="73088"/>
                  </a:lnTo>
                  <a:lnTo>
                    <a:pt x="8229600" y="529920"/>
                  </a:lnTo>
                  <a:lnTo>
                    <a:pt x="8228992" y="539559"/>
                  </a:lnTo>
                  <a:lnTo>
                    <a:pt x="8227169" y="548960"/>
                  </a:lnTo>
                  <a:lnTo>
                    <a:pt x="8200889" y="587904"/>
                  </a:lnTo>
                  <a:lnTo>
                    <a:pt x="8156511" y="603008"/>
                  </a:lnTo>
                  <a:lnTo>
                    <a:pt x="73075" y="603364"/>
                  </a:lnTo>
                  <a:lnTo>
                    <a:pt x="28548" y="588260"/>
                  </a:lnTo>
                  <a:lnTo>
                    <a:pt x="2428" y="549273"/>
                  </a:lnTo>
                  <a:lnTo>
                    <a:pt x="0" y="530288"/>
                  </a:lnTo>
                  <a:lnTo>
                    <a:pt x="0" y="73088"/>
                  </a:lnTo>
                  <a:close/>
                </a:path>
              </a:pathLst>
            </a:custGeom>
            <a:ln w="9359">
              <a:solidFill>
                <a:srgbClr val="2345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627024" y="3272309"/>
            <a:ext cx="285369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Non-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IID</a:t>
            </a:r>
            <a:r>
              <a:rPr dirty="0" sz="140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Survey</a:t>
            </a:r>
            <a:r>
              <a:rPr dirty="0" sz="14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(2021)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>
                <a:solidFill>
                  <a:srgbClr val="2CD3BE"/>
                </a:solidFill>
                <a:latin typeface="Calibri"/>
                <a:cs typeface="Calibri"/>
              </a:rPr>
              <a:t>Federated</a:t>
            </a:r>
            <a:r>
              <a:rPr dirty="0" sz="1200" spc="-25">
                <a:solidFill>
                  <a:srgbClr val="2CD3BE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CD3BE"/>
                </a:solidFill>
                <a:latin typeface="Calibri"/>
                <a:cs typeface="Calibri"/>
              </a:rPr>
              <a:t>Learning</a:t>
            </a:r>
            <a:r>
              <a:rPr dirty="0" sz="1200" spc="-25">
                <a:solidFill>
                  <a:srgbClr val="2CD3BE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CD3BE"/>
                </a:solidFill>
                <a:latin typeface="Calibri"/>
                <a:cs typeface="Calibri"/>
              </a:rPr>
              <a:t>on</a:t>
            </a:r>
            <a:r>
              <a:rPr dirty="0" sz="1200" spc="-20">
                <a:solidFill>
                  <a:srgbClr val="2CD3BE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CD3BE"/>
                </a:solidFill>
                <a:latin typeface="Calibri"/>
                <a:cs typeface="Calibri"/>
              </a:rPr>
              <a:t>Non-</a:t>
            </a:r>
            <a:r>
              <a:rPr dirty="0" sz="1200">
                <a:solidFill>
                  <a:srgbClr val="2CD3BE"/>
                </a:solidFill>
                <a:latin typeface="Calibri"/>
                <a:cs typeface="Calibri"/>
              </a:rPr>
              <a:t>IID</a:t>
            </a:r>
            <a:r>
              <a:rPr dirty="0" sz="1200" spc="-25">
                <a:solidFill>
                  <a:srgbClr val="2CD3BE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CD3BE"/>
                </a:solidFill>
                <a:latin typeface="Calibri"/>
                <a:cs typeface="Calibri"/>
              </a:rPr>
              <a:t>Data:</a:t>
            </a:r>
            <a:r>
              <a:rPr dirty="0" sz="1200" spc="-25">
                <a:solidFill>
                  <a:srgbClr val="2CD3BE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CD3BE"/>
                </a:solidFill>
                <a:latin typeface="Calibri"/>
                <a:cs typeface="Calibri"/>
              </a:rPr>
              <a:t>A</a:t>
            </a:r>
            <a:r>
              <a:rPr dirty="0" sz="1200" spc="-15">
                <a:solidFill>
                  <a:srgbClr val="2CD3BE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CD3BE"/>
                </a:solidFill>
                <a:latin typeface="Calibri"/>
                <a:cs typeface="Calibri"/>
              </a:rPr>
              <a:t>Survey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644900" y="3248179"/>
            <a:ext cx="428752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Reviews</a:t>
            </a:r>
            <a:r>
              <a:rPr dirty="0" sz="1400" spc="-4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how</a:t>
            </a:r>
            <a:r>
              <a:rPr dirty="0" sz="1400" spc="-3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non-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IID</a:t>
            </a:r>
            <a:r>
              <a:rPr dirty="0" sz="1400" spc="-4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data</a:t>
            </a:r>
            <a:r>
              <a:rPr dirty="0" sz="1400" spc="-4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hurts</a:t>
            </a:r>
            <a:r>
              <a:rPr dirty="0" sz="1400" spc="-4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federated</a:t>
            </a:r>
            <a:r>
              <a:rPr dirty="0" sz="1400" spc="-3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learning</a:t>
            </a:r>
            <a:r>
              <a:rPr dirty="0" sz="1400" spc="-3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and</a:t>
            </a:r>
            <a:r>
              <a:rPr dirty="0" sz="1400" spc="-3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DBE6F2"/>
                </a:solidFill>
                <a:latin typeface="Calibri"/>
                <a:cs typeface="Calibri"/>
              </a:rPr>
              <a:t>the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methods</a:t>
            </a:r>
            <a:r>
              <a:rPr dirty="0" sz="1400" spc="-5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proposed</a:t>
            </a:r>
            <a:r>
              <a:rPr dirty="0" sz="1400" spc="-5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to</a:t>
            </a:r>
            <a:r>
              <a:rPr dirty="0" sz="1400" spc="-5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handle</a:t>
            </a:r>
            <a:r>
              <a:rPr dirty="0" sz="1400" spc="-5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DBE6F2"/>
                </a:solidFill>
                <a:latin typeface="Calibri"/>
                <a:cs typeface="Calibri"/>
              </a:rPr>
              <a:t>it.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52164" y="3844438"/>
            <a:ext cx="8239125" cy="612775"/>
            <a:chOff x="452164" y="3844438"/>
            <a:chExt cx="8239125" cy="612775"/>
          </a:xfrm>
        </p:grpSpPr>
        <p:sp>
          <p:nvSpPr>
            <p:cNvPr id="24" name="object 24"/>
            <p:cNvSpPr/>
            <p:nvPr/>
          </p:nvSpPr>
          <p:spPr>
            <a:xfrm>
              <a:off x="456844" y="3849118"/>
              <a:ext cx="8229600" cy="603885"/>
            </a:xfrm>
            <a:custGeom>
              <a:avLst/>
              <a:gdLst/>
              <a:ahLst/>
              <a:cxnLst/>
              <a:rect l="l" t="t" r="r" b="b"/>
              <a:pathLst>
                <a:path w="8229600" h="603885">
                  <a:moveTo>
                    <a:pt x="8156155" y="0"/>
                  </a:moveTo>
                  <a:lnTo>
                    <a:pt x="73075" y="0"/>
                  </a:lnTo>
                  <a:lnTo>
                    <a:pt x="63447" y="607"/>
                  </a:lnTo>
                  <a:lnTo>
                    <a:pt x="21417" y="21470"/>
                  </a:lnTo>
                  <a:lnTo>
                    <a:pt x="606" y="63454"/>
                  </a:lnTo>
                  <a:lnTo>
                    <a:pt x="0" y="73088"/>
                  </a:lnTo>
                  <a:lnTo>
                    <a:pt x="0" y="530288"/>
                  </a:lnTo>
                  <a:lnTo>
                    <a:pt x="584" y="539559"/>
                  </a:lnTo>
                  <a:lnTo>
                    <a:pt x="607" y="539914"/>
                  </a:lnTo>
                  <a:lnTo>
                    <a:pt x="21413" y="581896"/>
                  </a:lnTo>
                  <a:lnTo>
                    <a:pt x="63442" y="602757"/>
                  </a:lnTo>
                  <a:lnTo>
                    <a:pt x="73075" y="603364"/>
                  </a:lnTo>
                  <a:lnTo>
                    <a:pt x="8156511" y="603008"/>
                  </a:lnTo>
                  <a:lnTo>
                    <a:pt x="8200889" y="587904"/>
                  </a:lnTo>
                  <a:lnTo>
                    <a:pt x="8224028" y="558229"/>
                  </a:lnTo>
                  <a:lnTo>
                    <a:pt x="8224129" y="558023"/>
                  </a:lnTo>
                  <a:lnTo>
                    <a:pt x="8227064" y="549273"/>
                  </a:lnTo>
                  <a:lnTo>
                    <a:pt x="8227169" y="548960"/>
                  </a:lnTo>
                  <a:lnTo>
                    <a:pt x="8228923" y="539914"/>
                  </a:lnTo>
                  <a:lnTo>
                    <a:pt x="8228992" y="539559"/>
                  </a:lnTo>
                  <a:lnTo>
                    <a:pt x="8229576" y="530288"/>
                  </a:lnTo>
                  <a:lnTo>
                    <a:pt x="8229600" y="529920"/>
                  </a:lnTo>
                  <a:lnTo>
                    <a:pt x="8229231" y="73088"/>
                  </a:lnTo>
                  <a:lnTo>
                    <a:pt x="8214140" y="28710"/>
                  </a:lnTo>
                  <a:lnTo>
                    <a:pt x="8175190" y="2430"/>
                  </a:lnTo>
                  <a:lnTo>
                    <a:pt x="8165789" y="607"/>
                  </a:lnTo>
                  <a:lnTo>
                    <a:pt x="8156155" y="0"/>
                  </a:lnTo>
                  <a:close/>
                </a:path>
              </a:pathLst>
            </a:custGeom>
            <a:solidFill>
              <a:srgbClr val="1127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456844" y="3849118"/>
              <a:ext cx="8229600" cy="603885"/>
            </a:xfrm>
            <a:custGeom>
              <a:avLst/>
              <a:gdLst/>
              <a:ahLst/>
              <a:cxnLst/>
              <a:rect l="l" t="t" r="r" b="b"/>
              <a:pathLst>
                <a:path w="8229600" h="603885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698" y="15103"/>
                  </a:lnTo>
                  <a:lnTo>
                    <a:pt x="73075" y="0"/>
                  </a:lnTo>
                  <a:lnTo>
                    <a:pt x="8156155" y="0"/>
                  </a:lnTo>
                  <a:lnTo>
                    <a:pt x="8200683" y="15109"/>
                  </a:lnTo>
                  <a:lnTo>
                    <a:pt x="8226802" y="54094"/>
                  </a:lnTo>
                  <a:lnTo>
                    <a:pt x="8229231" y="73088"/>
                  </a:lnTo>
                  <a:lnTo>
                    <a:pt x="8229600" y="529920"/>
                  </a:lnTo>
                  <a:lnTo>
                    <a:pt x="8228992" y="539559"/>
                  </a:lnTo>
                  <a:lnTo>
                    <a:pt x="8227169" y="548960"/>
                  </a:lnTo>
                  <a:lnTo>
                    <a:pt x="8200889" y="587904"/>
                  </a:lnTo>
                  <a:lnTo>
                    <a:pt x="8156511" y="603008"/>
                  </a:lnTo>
                  <a:lnTo>
                    <a:pt x="73075" y="603364"/>
                  </a:lnTo>
                  <a:lnTo>
                    <a:pt x="28548" y="588260"/>
                  </a:lnTo>
                  <a:lnTo>
                    <a:pt x="2428" y="549273"/>
                  </a:lnTo>
                  <a:lnTo>
                    <a:pt x="0" y="530288"/>
                  </a:lnTo>
                  <a:lnTo>
                    <a:pt x="0" y="73088"/>
                  </a:lnTo>
                  <a:close/>
                </a:path>
              </a:pathLst>
            </a:custGeom>
            <a:ln w="9359">
              <a:solidFill>
                <a:srgbClr val="2345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627024" y="3949105"/>
            <a:ext cx="213487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35" b="1">
                <a:solidFill>
                  <a:srgbClr val="FFFFFF"/>
                </a:solidFill>
                <a:latin typeface="Calibri"/>
                <a:cs typeface="Calibri"/>
              </a:rPr>
              <a:t>Torres-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Sospedra</a:t>
            </a:r>
            <a:r>
              <a:rPr dirty="0" sz="1400" spc="-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et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al.</a:t>
            </a:r>
            <a:r>
              <a:rPr dirty="0" sz="14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(2014)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>
                <a:solidFill>
                  <a:srgbClr val="2CD3BE"/>
                </a:solidFill>
                <a:latin typeface="Calibri"/>
                <a:cs typeface="Calibri"/>
              </a:rPr>
              <a:t>UJIIndoorLoc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644900" y="3924987"/>
            <a:ext cx="464693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solidFill>
                  <a:srgbClr val="DBE6F2"/>
                </a:solidFill>
                <a:latin typeface="Calibri"/>
                <a:cs typeface="Calibri"/>
              </a:rPr>
              <a:t>Multi-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building,</a:t>
            </a:r>
            <a:r>
              <a:rPr dirty="0" sz="1400" spc="-1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multi-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floor</a:t>
            </a: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 Wi-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Fi</a:t>
            </a:r>
            <a:r>
              <a:rPr dirty="0" sz="1400" spc="-1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fingerprint database.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This</a:t>
            </a:r>
            <a:r>
              <a:rPr dirty="0" sz="1400" spc="-1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is</a:t>
            </a:r>
            <a:r>
              <a:rPr dirty="0" sz="1400" spc="-1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DBE6F2"/>
                </a:solidFill>
                <a:latin typeface="Calibri"/>
                <a:cs typeface="Calibri"/>
              </a:rPr>
              <a:t>our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data</a:t>
            </a:r>
            <a:r>
              <a:rPr dirty="0" sz="1400" spc="-7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source.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KLH</a:t>
            </a:r>
            <a:r>
              <a:rPr dirty="0" spc="-35"/>
              <a:t> </a:t>
            </a:r>
            <a:r>
              <a:rPr dirty="0"/>
              <a:t>University</a:t>
            </a:r>
            <a:r>
              <a:rPr dirty="0" spc="175"/>
              <a:t> </a:t>
            </a:r>
            <a:r>
              <a:rPr dirty="0"/>
              <a:t>|</a:t>
            </a:r>
            <a:r>
              <a:rPr dirty="0" spc="175"/>
              <a:t> </a:t>
            </a:r>
            <a:r>
              <a:rPr dirty="0"/>
              <a:t>Dept.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ECE</a:t>
            </a:r>
            <a:r>
              <a:rPr dirty="0" spc="170"/>
              <a:t> </a:t>
            </a:r>
            <a:r>
              <a:rPr dirty="0"/>
              <a:t>|</a:t>
            </a:r>
            <a:r>
              <a:rPr dirty="0" spc="175"/>
              <a:t> </a:t>
            </a:r>
            <a:r>
              <a:rPr dirty="0"/>
              <a:t>Machine</a:t>
            </a:r>
            <a:r>
              <a:rPr dirty="0" spc="-25"/>
              <a:t> </a:t>
            </a:r>
            <a:r>
              <a:rPr dirty="0"/>
              <a:t>Learning</a:t>
            </a:r>
            <a:r>
              <a:rPr dirty="0" spc="-25"/>
              <a:t> </a:t>
            </a:r>
            <a:r>
              <a:rPr dirty="0" spc="-10"/>
              <a:t>(25SC2107E)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749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Key</a:t>
            </a:r>
            <a:r>
              <a:rPr dirty="0" spc="-70"/>
              <a:t> </a:t>
            </a:r>
            <a:r>
              <a:rPr dirty="0" spc="-45"/>
              <a:t>Terms</a:t>
            </a:r>
            <a:r>
              <a:rPr dirty="0" spc="-75"/>
              <a:t> </a:t>
            </a:r>
            <a:r>
              <a:rPr dirty="0"/>
              <a:t>in</a:t>
            </a:r>
            <a:r>
              <a:rPr dirty="0" spc="-75"/>
              <a:t> </a:t>
            </a:r>
            <a:r>
              <a:rPr dirty="0"/>
              <a:t>Plain</a:t>
            </a:r>
            <a:r>
              <a:rPr dirty="0" spc="-65"/>
              <a:t> </a:t>
            </a:r>
            <a:r>
              <a:rPr dirty="0" spc="-10"/>
              <a:t>Language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2164" y="1137966"/>
            <a:ext cx="2597150" cy="1564005"/>
            <a:chOff x="452164" y="1137966"/>
            <a:chExt cx="2597150" cy="1564005"/>
          </a:xfrm>
        </p:grpSpPr>
        <p:sp>
          <p:nvSpPr>
            <p:cNvPr id="4" name="object 4"/>
            <p:cNvSpPr/>
            <p:nvPr/>
          </p:nvSpPr>
          <p:spPr>
            <a:xfrm>
              <a:off x="456844" y="1142646"/>
              <a:ext cx="2588260" cy="1554480"/>
            </a:xfrm>
            <a:custGeom>
              <a:avLst/>
              <a:gdLst/>
              <a:ahLst/>
              <a:cxnLst/>
              <a:rect l="l" t="t" r="r" b="b"/>
              <a:pathLst>
                <a:path w="2588260" h="1554480">
                  <a:moveTo>
                    <a:pt x="2514231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1481391"/>
                  </a:lnTo>
                  <a:lnTo>
                    <a:pt x="594" y="1490669"/>
                  </a:lnTo>
                  <a:lnTo>
                    <a:pt x="607" y="1490869"/>
                  </a:lnTo>
                  <a:lnTo>
                    <a:pt x="2394" y="1500070"/>
                  </a:lnTo>
                  <a:lnTo>
                    <a:pt x="2428" y="1500247"/>
                  </a:lnTo>
                  <a:lnTo>
                    <a:pt x="5412" y="1509132"/>
                  </a:lnTo>
                  <a:lnTo>
                    <a:pt x="5464" y="1509287"/>
                  </a:lnTo>
                  <a:lnTo>
                    <a:pt x="9715" y="1517751"/>
                  </a:lnTo>
                  <a:lnTo>
                    <a:pt x="44979" y="1549009"/>
                  </a:lnTo>
                  <a:lnTo>
                    <a:pt x="73075" y="1554479"/>
                  </a:lnTo>
                  <a:lnTo>
                    <a:pt x="2514600" y="1554111"/>
                  </a:lnTo>
                  <a:lnTo>
                    <a:pt x="2558970" y="1539020"/>
                  </a:lnTo>
                  <a:lnTo>
                    <a:pt x="2582134" y="1509287"/>
                  </a:lnTo>
                  <a:lnTo>
                    <a:pt x="2582210" y="1509132"/>
                  </a:lnTo>
                  <a:lnTo>
                    <a:pt x="2587675" y="1481035"/>
                  </a:lnTo>
                  <a:lnTo>
                    <a:pt x="2587320" y="73075"/>
                  </a:lnTo>
                  <a:lnTo>
                    <a:pt x="2572216" y="28698"/>
                  </a:lnTo>
                  <a:lnTo>
                    <a:pt x="2533272" y="2428"/>
                  </a:lnTo>
                  <a:lnTo>
                    <a:pt x="2523871" y="607"/>
                  </a:lnTo>
                  <a:lnTo>
                    <a:pt x="2514231" y="0"/>
                  </a:lnTo>
                  <a:close/>
                </a:path>
              </a:pathLst>
            </a:custGeom>
            <a:solidFill>
              <a:srgbClr val="1127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456844" y="1142646"/>
              <a:ext cx="2588260" cy="1554480"/>
            </a:xfrm>
            <a:custGeom>
              <a:avLst/>
              <a:gdLst/>
              <a:ahLst/>
              <a:cxnLst/>
              <a:rect l="l" t="t" r="r" b="b"/>
              <a:pathLst>
                <a:path w="2588260" h="1554480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2514231" y="0"/>
                  </a:lnTo>
                  <a:lnTo>
                    <a:pt x="2558764" y="15096"/>
                  </a:lnTo>
                  <a:lnTo>
                    <a:pt x="2584889" y="54219"/>
                  </a:lnTo>
                  <a:lnTo>
                    <a:pt x="2587320" y="73075"/>
                  </a:lnTo>
                  <a:lnTo>
                    <a:pt x="2587675" y="1481035"/>
                  </a:lnTo>
                  <a:lnTo>
                    <a:pt x="2587068" y="1490669"/>
                  </a:lnTo>
                  <a:lnTo>
                    <a:pt x="2585246" y="1500070"/>
                  </a:lnTo>
                  <a:lnTo>
                    <a:pt x="2558970" y="1539020"/>
                  </a:lnTo>
                  <a:lnTo>
                    <a:pt x="2514600" y="1554111"/>
                  </a:lnTo>
                  <a:lnTo>
                    <a:pt x="73075" y="1554479"/>
                  </a:lnTo>
                  <a:lnTo>
                    <a:pt x="28548" y="1539370"/>
                  </a:lnTo>
                  <a:lnTo>
                    <a:pt x="2428" y="1500247"/>
                  </a:lnTo>
                  <a:lnTo>
                    <a:pt x="0" y="1481391"/>
                  </a:lnTo>
                  <a:lnTo>
                    <a:pt x="0" y="73075"/>
                  </a:lnTo>
                  <a:close/>
                </a:path>
              </a:pathLst>
            </a:custGeom>
            <a:ln w="9359">
              <a:solidFill>
                <a:srgbClr val="2345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608660" y="1182840"/>
            <a:ext cx="2255520" cy="1089025"/>
          </a:xfrm>
          <a:prstGeom prst="rect">
            <a:avLst/>
          </a:prstGeom>
        </p:spPr>
        <p:txBody>
          <a:bodyPr wrap="square" lIns="0" tIns="1079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dirty="0" sz="1600" spc="-20" b="1">
                <a:solidFill>
                  <a:srgbClr val="2CD3BE"/>
                </a:solidFill>
                <a:latin typeface="Calibri"/>
                <a:cs typeface="Calibri"/>
              </a:rPr>
              <a:t>RSSI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655"/>
              </a:spcBef>
            </a:pP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Received</a:t>
            </a:r>
            <a:r>
              <a:rPr dirty="0" sz="1400" spc="-2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Signal</a:t>
            </a:r>
            <a:r>
              <a:rPr dirty="0" sz="1400" spc="-3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Strength </a:t>
            </a:r>
            <a:r>
              <a:rPr dirty="0" sz="1400" spc="-20">
                <a:solidFill>
                  <a:srgbClr val="DBE6F2"/>
                </a:solidFill>
                <a:latin typeface="Calibri"/>
                <a:cs typeface="Calibri"/>
              </a:rPr>
              <a:t>Indicator,</a:t>
            </a:r>
            <a:r>
              <a:rPr dirty="0" sz="1400" spc="-2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in</a:t>
            </a:r>
            <a:r>
              <a:rPr dirty="0" sz="1400" spc="-1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dBm.</a:t>
            </a:r>
            <a:r>
              <a:rPr dirty="0" sz="1400" spc="-1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Closer</a:t>
            </a:r>
            <a:r>
              <a:rPr dirty="0" sz="1400" spc="-2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to</a:t>
            </a:r>
            <a:r>
              <a:rPr dirty="0" sz="1400" spc="-1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0</a:t>
            </a:r>
            <a:r>
              <a:rPr dirty="0" sz="1400" spc="-1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DBE6F2"/>
                </a:solidFill>
                <a:latin typeface="Calibri"/>
                <a:cs typeface="Calibri"/>
              </a:rPr>
              <a:t>is </a:t>
            </a: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stronger</a:t>
            </a:r>
            <a:r>
              <a:rPr dirty="0" sz="1400" spc="-3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(−50</a:t>
            </a:r>
            <a:r>
              <a:rPr dirty="0" sz="1400" spc="-3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beats</a:t>
            </a:r>
            <a:r>
              <a:rPr dirty="0" sz="1400" spc="-2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DBE6F2"/>
                </a:solidFill>
                <a:latin typeface="Calibri"/>
                <a:cs typeface="Calibri"/>
              </a:rPr>
              <a:t>−80).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268440" y="1137966"/>
            <a:ext cx="2597150" cy="1564005"/>
            <a:chOff x="3268440" y="1137966"/>
            <a:chExt cx="2597150" cy="1564005"/>
          </a:xfrm>
        </p:grpSpPr>
        <p:sp>
          <p:nvSpPr>
            <p:cNvPr id="8" name="object 8"/>
            <p:cNvSpPr/>
            <p:nvPr/>
          </p:nvSpPr>
          <p:spPr>
            <a:xfrm>
              <a:off x="3273120" y="1142646"/>
              <a:ext cx="2588260" cy="1554480"/>
            </a:xfrm>
            <a:custGeom>
              <a:avLst/>
              <a:gdLst/>
              <a:ahLst/>
              <a:cxnLst/>
              <a:rect l="l" t="t" r="r" b="b"/>
              <a:pathLst>
                <a:path w="2588260" h="1554480">
                  <a:moveTo>
                    <a:pt x="2514244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1481391"/>
                  </a:lnTo>
                  <a:lnTo>
                    <a:pt x="5412" y="1509132"/>
                  </a:lnTo>
                  <a:lnTo>
                    <a:pt x="5464" y="1509287"/>
                  </a:lnTo>
                  <a:lnTo>
                    <a:pt x="36360" y="1544751"/>
                  </a:lnTo>
                  <a:lnTo>
                    <a:pt x="73075" y="1554479"/>
                  </a:lnTo>
                  <a:lnTo>
                    <a:pt x="2514600" y="1554111"/>
                  </a:lnTo>
                  <a:lnTo>
                    <a:pt x="2558977" y="1539020"/>
                  </a:lnTo>
                  <a:lnTo>
                    <a:pt x="2585187" y="1500247"/>
                  </a:lnTo>
                  <a:lnTo>
                    <a:pt x="2585246" y="1500070"/>
                  </a:lnTo>
                  <a:lnTo>
                    <a:pt x="2587029" y="1490869"/>
                  </a:lnTo>
                  <a:lnTo>
                    <a:pt x="2587068" y="1490669"/>
                  </a:lnTo>
                  <a:lnTo>
                    <a:pt x="2587653" y="1481391"/>
                  </a:lnTo>
                  <a:lnTo>
                    <a:pt x="2587675" y="1481035"/>
                  </a:lnTo>
                  <a:lnTo>
                    <a:pt x="2587320" y="73075"/>
                  </a:lnTo>
                  <a:lnTo>
                    <a:pt x="2572221" y="28698"/>
                  </a:lnTo>
                  <a:lnTo>
                    <a:pt x="2533273" y="2428"/>
                  </a:lnTo>
                  <a:lnTo>
                    <a:pt x="2523876" y="607"/>
                  </a:lnTo>
                  <a:lnTo>
                    <a:pt x="2514244" y="0"/>
                  </a:lnTo>
                  <a:close/>
                </a:path>
              </a:pathLst>
            </a:custGeom>
            <a:solidFill>
              <a:srgbClr val="1127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273120" y="1142646"/>
              <a:ext cx="2588260" cy="1554480"/>
            </a:xfrm>
            <a:custGeom>
              <a:avLst/>
              <a:gdLst/>
              <a:ahLst/>
              <a:cxnLst/>
              <a:rect l="l" t="t" r="r" b="b"/>
              <a:pathLst>
                <a:path w="2588260" h="1554480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705" y="15091"/>
                  </a:lnTo>
                  <a:lnTo>
                    <a:pt x="73075" y="0"/>
                  </a:lnTo>
                  <a:lnTo>
                    <a:pt x="2514244" y="0"/>
                  </a:lnTo>
                  <a:lnTo>
                    <a:pt x="2558764" y="15096"/>
                  </a:lnTo>
                  <a:lnTo>
                    <a:pt x="2584891" y="54219"/>
                  </a:lnTo>
                  <a:lnTo>
                    <a:pt x="2587320" y="73075"/>
                  </a:lnTo>
                  <a:lnTo>
                    <a:pt x="2587675" y="1481035"/>
                  </a:lnTo>
                  <a:lnTo>
                    <a:pt x="2587068" y="1490669"/>
                  </a:lnTo>
                  <a:lnTo>
                    <a:pt x="2585246" y="1500070"/>
                  </a:lnTo>
                  <a:lnTo>
                    <a:pt x="2558977" y="1539020"/>
                  </a:lnTo>
                  <a:lnTo>
                    <a:pt x="2514600" y="1554111"/>
                  </a:lnTo>
                  <a:lnTo>
                    <a:pt x="73075" y="1554479"/>
                  </a:lnTo>
                  <a:lnTo>
                    <a:pt x="28555" y="1539370"/>
                  </a:lnTo>
                  <a:lnTo>
                    <a:pt x="2428" y="1500247"/>
                  </a:lnTo>
                  <a:lnTo>
                    <a:pt x="0" y="1481391"/>
                  </a:lnTo>
                  <a:lnTo>
                    <a:pt x="0" y="73075"/>
                  </a:lnTo>
                  <a:close/>
                </a:path>
              </a:pathLst>
            </a:custGeom>
            <a:ln w="9359">
              <a:solidFill>
                <a:srgbClr val="2345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3424935" y="1182840"/>
            <a:ext cx="2169160" cy="1089025"/>
          </a:xfrm>
          <a:prstGeom prst="rect">
            <a:avLst/>
          </a:prstGeom>
        </p:spPr>
        <p:txBody>
          <a:bodyPr wrap="square" lIns="0" tIns="1079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dirty="0" sz="1600" spc="-25" b="1">
                <a:solidFill>
                  <a:srgbClr val="2CD3BE"/>
                </a:solidFill>
                <a:latin typeface="Calibri"/>
                <a:cs typeface="Calibri"/>
              </a:rPr>
              <a:t>WAP</a:t>
            </a:r>
            <a:endParaRPr sz="1600">
              <a:latin typeface="Calibri"/>
              <a:cs typeface="Calibri"/>
            </a:endParaRPr>
          </a:p>
          <a:p>
            <a:pPr algn="just" marL="12700" marR="5080">
              <a:lnSpc>
                <a:spcPct val="100000"/>
              </a:lnSpc>
              <a:spcBef>
                <a:spcPts val="655"/>
              </a:spcBef>
            </a:pP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Wireless</a:t>
            </a:r>
            <a:r>
              <a:rPr dirty="0" sz="1400" spc="-3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Access</a:t>
            </a:r>
            <a:r>
              <a:rPr dirty="0" sz="1400" spc="-3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Point:</a:t>
            </a:r>
            <a:r>
              <a:rPr dirty="0" sz="1400" spc="-2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a</a:t>
            </a:r>
            <a:r>
              <a:rPr dirty="0" sz="1400" spc="-3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Wi-</a:t>
            </a:r>
            <a:r>
              <a:rPr dirty="0" sz="1400" spc="-25">
                <a:solidFill>
                  <a:srgbClr val="DBE6F2"/>
                </a:solidFill>
                <a:latin typeface="Calibri"/>
                <a:cs typeface="Calibri"/>
              </a:rPr>
              <a:t>Fi </a:t>
            </a: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router</a:t>
            </a:r>
            <a:r>
              <a:rPr dirty="0" sz="1400" spc="-3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or</a:t>
            </a:r>
            <a:r>
              <a:rPr dirty="0" sz="1400" spc="-3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device</a:t>
            </a:r>
            <a:r>
              <a:rPr dirty="0" sz="1400" spc="-2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that</a:t>
            </a:r>
            <a:r>
              <a:rPr dirty="0" sz="1400" spc="-2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a</a:t>
            </a:r>
            <a:r>
              <a:rPr dirty="0" sz="1400" spc="-20">
                <a:solidFill>
                  <a:srgbClr val="DBE6F2"/>
                </a:solidFill>
                <a:latin typeface="Calibri"/>
                <a:cs typeface="Calibri"/>
              </a:rPr>
              <a:t> phone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can</a:t>
            </a:r>
            <a:r>
              <a:rPr dirty="0" sz="1400" spc="-3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hear.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084716" y="1137966"/>
            <a:ext cx="2597150" cy="1564005"/>
            <a:chOff x="6084716" y="1137966"/>
            <a:chExt cx="2597150" cy="1564005"/>
          </a:xfrm>
        </p:grpSpPr>
        <p:sp>
          <p:nvSpPr>
            <p:cNvPr id="12" name="object 12"/>
            <p:cNvSpPr/>
            <p:nvPr/>
          </p:nvSpPr>
          <p:spPr>
            <a:xfrm>
              <a:off x="6089396" y="1142646"/>
              <a:ext cx="2588260" cy="1554480"/>
            </a:xfrm>
            <a:custGeom>
              <a:avLst/>
              <a:gdLst/>
              <a:ahLst/>
              <a:cxnLst/>
              <a:rect l="l" t="t" r="r" b="b"/>
              <a:pathLst>
                <a:path w="2588259" h="1554480">
                  <a:moveTo>
                    <a:pt x="2514244" y="0"/>
                  </a:moveTo>
                  <a:lnTo>
                    <a:pt x="73088" y="0"/>
                  </a:lnTo>
                  <a:lnTo>
                    <a:pt x="63610" y="607"/>
                  </a:lnTo>
                  <a:lnTo>
                    <a:pt x="21431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1481391"/>
                  </a:lnTo>
                  <a:lnTo>
                    <a:pt x="594" y="1490669"/>
                  </a:lnTo>
                  <a:lnTo>
                    <a:pt x="607" y="1490869"/>
                  </a:lnTo>
                  <a:lnTo>
                    <a:pt x="2395" y="1500070"/>
                  </a:lnTo>
                  <a:lnTo>
                    <a:pt x="2430" y="1500247"/>
                  </a:lnTo>
                  <a:lnTo>
                    <a:pt x="5418" y="1509132"/>
                  </a:lnTo>
                  <a:lnTo>
                    <a:pt x="36360" y="1544751"/>
                  </a:lnTo>
                  <a:lnTo>
                    <a:pt x="73088" y="1554479"/>
                  </a:lnTo>
                  <a:lnTo>
                    <a:pt x="2514600" y="1554111"/>
                  </a:lnTo>
                  <a:lnTo>
                    <a:pt x="2558977" y="1539020"/>
                  </a:lnTo>
                  <a:lnTo>
                    <a:pt x="2585198" y="1500247"/>
                  </a:lnTo>
                  <a:lnTo>
                    <a:pt x="2587042" y="1490869"/>
                  </a:lnTo>
                  <a:lnTo>
                    <a:pt x="2587081" y="1490669"/>
                  </a:lnTo>
                  <a:lnTo>
                    <a:pt x="2587666" y="1481391"/>
                  </a:lnTo>
                  <a:lnTo>
                    <a:pt x="2587688" y="1481035"/>
                  </a:lnTo>
                  <a:lnTo>
                    <a:pt x="2587320" y="73075"/>
                  </a:lnTo>
                  <a:lnTo>
                    <a:pt x="2572228" y="28698"/>
                  </a:lnTo>
                  <a:lnTo>
                    <a:pt x="2533278" y="2428"/>
                  </a:lnTo>
                  <a:lnTo>
                    <a:pt x="2523878" y="607"/>
                  </a:lnTo>
                  <a:lnTo>
                    <a:pt x="2514244" y="0"/>
                  </a:lnTo>
                  <a:close/>
                </a:path>
              </a:pathLst>
            </a:custGeom>
            <a:solidFill>
              <a:srgbClr val="1127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089396" y="1142646"/>
              <a:ext cx="2588260" cy="1554480"/>
            </a:xfrm>
            <a:custGeom>
              <a:avLst/>
              <a:gdLst/>
              <a:ahLst/>
              <a:cxnLst/>
              <a:rect l="l" t="t" r="r" b="b"/>
              <a:pathLst>
                <a:path w="2588259" h="1554480">
                  <a:moveTo>
                    <a:pt x="0" y="73075"/>
                  </a:moveTo>
                  <a:lnTo>
                    <a:pt x="607" y="63442"/>
                  </a:lnTo>
                  <a:lnTo>
                    <a:pt x="2430" y="54041"/>
                  </a:lnTo>
                  <a:lnTo>
                    <a:pt x="28710" y="15091"/>
                  </a:lnTo>
                  <a:lnTo>
                    <a:pt x="73088" y="0"/>
                  </a:lnTo>
                  <a:lnTo>
                    <a:pt x="2514244" y="0"/>
                  </a:lnTo>
                  <a:lnTo>
                    <a:pt x="2558771" y="15096"/>
                  </a:lnTo>
                  <a:lnTo>
                    <a:pt x="2584891" y="54219"/>
                  </a:lnTo>
                  <a:lnTo>
                    <a:pt x="2587320" y="73075"/>
                  </a:lnTo>
                  <a:lnTo>
                    <a:pt x="2587688" y="1481035"/>
                  </a:lnTo>
                  <a:lnTo>
                    <a:pt x="2587081" y="1490669"/>
                  </a:lnTo>
                  <a:lnTo>
                    <a:pt x="2585258" y="1500070"/>
                  </a:lnTo>
                  <a:lnTo>
                    <a:pt x="2558977" y="1539020"/>
                  </a:lnTo>
                  <a:lnTo>
                    <a:pt x="2514600" y="1554111"/>
                  </a:lnTo>
                  <a:lnTo>
                    <a:pt x="73088" y="1554479"/>
                  </a:lnTo>
                  <a:lnTo>
                    <a:pt x="28555" y="1539370"/>
                  </a:lnTo>
                  <a:lnTo>
                    <a:pt x="2430" y="1500247"/>
                  </a:lnTo>
                  <a:lnTo>
                    <a:pt x="0" y="1481391"/>
                  </a:lnTo>
                  <a:lnTo>
                    <a:pt x="0" y="73075"/>
                  </a:lnTo>
                  <a:close/>
                </a:path>
              </a:pathLst>
            </a:custGeom>
            <a:ln w="9359">
              <a:solidFill>
                <a:srgbClr val="2345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6241580" y="1182840"/>
            <a:ext cx="2033905" cy="1089025"/>
          </a:xfrm>
          <a:prstGeom prst="rect">
            <a:avLst/>
          </a:prstGeom>
        </p:spPr>
        <p:txBody>
          <a:bodyPr wrap="square" lIns="0" tIns="1079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dirty="0" sz="1600" spc="-20" b="1">
                <a:solidFill>
                  <a:srgbClr val="2CD3BE"/>
                </a:solidFill>
                <a:latin typeface="Calibri"/>
                <a:cs typeface="Calibri"/>
              </a:rPr>
              <a:t>Wi-</a:t>
            </a:r>
            <a:r>
              <a:rPr dirty="0" sz="1600" b="1">
                <a:solidFill>
                  <a:srgbClr val="2CD3BE"/>
                </a:solidFill>
                <a:latin typeface="Calibri"/>
                <a:cs typeface="Calibri"/>
              </a:rPr>
              <a:t>Fi</a:t>
            </a:r>
            <a:r>
              <a:rPr dirty="0" sz="1600" spc="15" b="1">
                <a:solidFill>
                  <a:srgbClr val="2CD3BE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2CD3BE"/>
                </a:solidFill>
                <a:latin typeface="Calibri"/>
                <a:cs typeface="Calibri"/>
              </a:rPr>
              <a:t>fingerprint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655"/>
              </a:spcBef>
            </a:pP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The</a:t>
            </a:r>
            <a:r>
              <a:rPr dirty="0" sz="1400" spc="-4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RSSI</a:t>
            </a:r>
            <a:r>
              <a:rPr dirty="0" sz="1400" spc="-4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values</a:t>
            </a:r>
            <a:r>
              <a:rPr dirty="0" sz="1400" spc="-4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from</a:t>
            </a:r>
            <a:r>
              <a:rPr dirty="0" sz="1400" spc="-4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DBE6F2"/>
                </a:solidFill>
                <a:latin typeface="Calibri"/>
                <a:cs typeface="Calibri"/>
              </a:rPr>
              <a:t>many WAPs</a:t>
            </a:r>
            <a:r>
              <a:rPr dirty="0" sz="1400" spc="-3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at</a:t>
            </a:r>
            <a:r>
              <a:rPr dirty="0" sz="1400" spc="-3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one</a:t>
            </a:r>
            <a:r>
              <a:rPr dirty="0" sz="1400" spc="-2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measurement.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One</a:t>
            </a:r>
            <a:r>
              <a:rPr dirty="0" sz="1400" spc="-1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row</a:t>
            </a:r>
            <a:r>
              <a:rPr dirty="0" sz="1400" spc="-2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of</a:t>
            </a:r>
            <a:r>
              <a:rPr dirty="0" sz="1400" spc="-2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the</a:t>
            </a:r>
            <a:r>
              <a:rPr dirty="0" sz="1400" spc="-1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dataset.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52164" y="2875326"/>
            <a:ext cx="2597150" cy="1564005"/>
            <a:chOff x="452164" y="2875326"/>
            <a:chExt cx="2597150" cy="1564005"/>
          </a:xfrm>
        </p:grpSpPr>
        <p:sp>
          <p:nvSpPr>
            <p:cNvPr id="16" name="object 16"/>
            <p:cNvSpPr/>
            <p:nvPr/>
          </p:nvSpPr>
          <p:spPr>
            <a:xfrm>
              <a:off x="456844" y="2880006"/>
              <a:ext cx="2588260" cy="1554480"/>
            </a:xfrm>
            <a:custGeom>
              <a:avLst/>
              <a:gdLst/>
              <a:ahLst/>
              <a:cxnLst/>
              <a:rect l="l" t="t" r="r" b="b"/>
              <a:pathLst>
                <a:path w="2588260" h="1554479">
                  <a:moveTo>
                    <a:pt x="2514231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1481391"/>
                  </a:lnTo>
                  <a:lnTo>
                    <a:pt x="594" y="1490669"/>
                  </a:lnTo>
                  <a:lnTo>
                    <a:pt x="607" y="1490869"/>
                  </a:lnTo>
                  <a:lnTo>
                    <a:pt x="2394" y="1500070"/>
                  </a:lnTo>
                  <a:lnTo>
                    <a:pt x="2428" y="1500247"/>
                  </a:lnTo>
                  <a:lnTo>
                    <a:pt x="28548" y="1539370"/>
                  </a:lnTo>
                  <a:lnTo>
                    <a:pt x="73075" y="1554480"/>
                  </a:lnTo>
                  <a:lnTo>
                    <a:pt x="2514600" y="1554111"/>
                  </a:lnTo>
                  <a:lnTo>
                    <a:pt x="2558970" y="1539020"/>
                  </a:lnTo>
                  <a:lnTo>
                    <a:pt x="2585187" y="1500247"/>
                  </a:lnTo>
                  <a:lnTo>
                    <a:pt x="2587675" y="1481035"/>
                  </a:lnTo>
                  <a:lnTo>
                    <a:pt x="2587320" y="73075"/>
                  </a:lnTo>
                  <a:lnTo>
                    <a:pt x="2572216" y="28698"/>
                  </a:lnTo>
                  <a:lnTo>
                    <a:pt x="2533272" y="2428"/>
                  </a:lnTo>
                  <a:lnTo>
                    <a:pt x="2523871" y="607"/>
                  </a:lnTo>
                  <a:lnTo>
                    <a:pt x="2514231" y="0"/>
                  </a:lnTo>
                  <a:close/>
                </a:path>
              </a:pathLst>
            </a:custGeom>
            <a:solidFill>
              <a:srgbClr val="1127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56844" y="2880006"/>
              <a:ext cx="2588260" cy="1554480"/>
            </a:xfrm>
            <a:custGeom>
              <a:avLst/>
              <a:gdLst/>
              <a:ahLst/>
              <a:cxnLst/>
              <a:rect l="l" t="t" r="r" b="b"/>
              <a:pathLst>
                <a:path w="2588260" h="1554479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2514231" y="0"/>
                  </a:lnTo>
                  <a:lnTo>
                    <a:pt x="2558764" y="15096"/>
                  </a:lnTo>
                  <a:lnTo>
                    <a:pt x="2584889" y="54219"/>
                  </a:lnTo>
                  <a:lnTo>
                    <a:pt x="2587320" y="73075"/>
                  </a:lnTo>
                  <a:lnTo>
                    <a:pt x="2587675" y="1481035"/>
                  </a:lnTo>
                  <a:lnTo>
                    <a:pt x="2587068" y="1490669"/>
                  </a:lnTo>
                  <a:lnTo>
                    <a:pt x="2585246" y="1500070"/>
                  </a:lnTo>
                  <a:lnTo>
                    <a:pt x="2558970" y="1539020"/>
                  </a:lnTo>
                  <a:lnTo>
                    <a:pt x="2514600" y="1554111"/>
                  </a:lnTo>
                  <a:lnTo>
                    <a:pt x="73075" y="1554480"/>
                  </a:lnTo>
                  <a:lnTo>
                    <a:pt x="28548" y="1539370"/>
                  </a:lnTo>
                  <a:lnTo>
                    <a:pt x="2428" y="1500247"/>
                  </a:lnTo>
                  <a:lnTo>
                    <a:pt x="0" y="1481391"/>
                  </a:lnTo>
                  <a:lnTo>
                    <a:pt x="0" y="73075"/>
                  </a:lnTo>
                  <a:close/>
                </a:path>
              </a:pathLst>
            </a:custGeom>
            <a:ln w="9359">
              <a:solidFill>
                <a:srgbClr val="2345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608660" y="2920200"/>
            <a:ext cx="1981835" cy="1089025"/>
          </a:xfrm>
          <a:prstGeom prst="rect">
            <a:avLst/>
          </a:prstGeom>
        </p:spPr>
        <p:txBody>
          <a:bodyPr wrap="square" lIns="0" tIns="1079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dirty="0" sz="1600" spc="-20" b="1">
                <a:solidFill>
                  <a:srgbClr val="2CD3BE"/>
                </a:solidFill>
                <a:latin typeface="Calibri"/>
                <a:cs typeface="Calibri"/>
              </a:rPr>
              <a:t>Federated</a:t>
            </a:r>
            <a:r>
              <a:rPr dirty="0" sz="1600" spc="5" b="1">
                <a:solidFill>
                  <a:srgbClr val="2CD3BE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2CD3BE"/>
                </a:solidFill>
                <a:latin typeface="Calibri"/>
                <a:cs typeface="Calibri"/>
              </a:rPr>
              <a:t>client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655"/>
              </a:spcBef>
            </a:pP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A</a:t>
            </a:r>
            <a:r>
              <a:rPr dirty="0" sz="1400" spc="-3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data</a:t>
            </a:r>
            <a:r>
              <a:rPr dirty="0" sz="1400" spc="-4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owner</a:t>
            </a:r>
            <a:r>
              <a:rPr dirty="0" sz="1400" spc="-3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that</a:t>
            </a:r>
            <a:r>
              <a:rPr dirty="0" sz="1400" spc="-4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trains locally.</a:t>
            </a:r>
            <a:r>
              <a:rPr dirty="0" sz="1400" spc="-4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Here,</a:t>
            </a:r>
            <a:r>
              <a:rPr dirty="0" sz="1400" spc="-4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one</a:t>
            </a:r>
            <a:r>
              <a:rPr dirty="0" sz="1400" spc="-4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PHONEID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group</a:t>
            </a:r>
            <a:r>
              <a:rPr dirty="0" sz="1400" spc="-5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(simulated).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268440" y="2875326"/>
            <a:ext cx="2597150" cy="1564005"/>
            <a:chOff x="3268440" y="2875326"/>
            <a:chExt cx="2597150" cy="1564005"/>
          </a:xfrm>
        </p:grpSpPr>
        <p:sp>
          <p:nvSpPr>
            <p:cNvPr id="20" name="object 20"/>
            <p:cNvSpPr/>
            <p:nvPr/>
          </p:nvSpPr>
          <p:spPr>
            <a:xfrm>
              <a:off x="3273120" y="2880006"/>
              <a:ext cx="2588260" cy="1554480"/>
            </a:xfrm>
            <a:custGeom>
              <a:avLst/>
              <a:gdLst/>
              <a:ahLst/>
              <a:cxnLst/>
              <a:rect l="l" t="t" r="r" b="b"/>
              <a:pathLst>
                <a:path w="2588260" h="1554479">
                  <a:moveTo>
                    <a:pt x="2514244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1481391"/>
                  </a:lnTo>
                  <a:lnTo>
                    <a:pt x="5412" y="1509132"/>
                  </a:lnTo>
                  <a:lnTo>
                    <a:pt x="5464" y="1509287"/>
                  </a:lnTo>
                  <a:lnTo>
                    <a:pt x="36360" y="1544751"/>
                  </a:lnTo>
                  <a:lnTo>
                    <a:pt x="73075" y="1554480"/>
                  </a:lnTo>
                  <a:lnTo>
                    <a:pt x="2514600" y="1554111"/>
                  </a:lnTo>
                  <a:lnTo>
                    <a:pt x="2558977" y="1539020"/>
                  </a:lnTo>
                  <a:lnTo>
                    <a:pt x="2585187" y="1500247"/>
                  </a:lnTo>
                  <a:lnTo>
                    <a:pt x="2585246" y="1500070"/>
                  </a:lnTo>
                  <a:lnTo>
                    <a:pt x="2587029" y="1490869"/>
                  </a:lnTo>
                  <a:lnTo>
                    <a:pt x="2587068" y="1490669"/>
                  </a:lnTo>
                  <a:lnTo>
                    <a:pt x="2587653" y="1481391"/>
                  </a:lnTo>
                  <a:lnTo>
                    <a:pt x="2587675" y="1481035"/>
                  </a:lnTo>
                  <a:lnTo>
                    <a:pt x="2587320" y="73075"/>
                  </a:lnTo>
                  <a:lnTo>
                    <a:pt x="2572221" y="28698"/>
                  </a:lnTo>
                  <a:lnTo>
                    <a:pt x="2533273" y="2428"/>
                  </a:lnTo>
                  <a:lnTo>
                    <a:pt x="2523876" y="607"/>
                  </a:lnTo>
                  <a:lnTo>
                    <a:pt x="2514244" y="0"/>
                  </a:lnTo>
                  <a:close/>
                </a:path>
              </a:pathLst>
            </a:custGeom>
            <a:solidFill>
              <a:srgbClr val="1127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3273120" y="2880006"/>
              <a:ext cx="2588260" cy="1554480"/>
            </a:xfrm>
            <a:custGeom>
              <a:avLst/>
              <a:gdLst/>
              <a:ahLst/>
              <a:cxnLst/>
              <a:rect l="l" t="t" r="r" b="b"/>
              <a:pathLst>
                <a:path w="2588260" h="1554479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705" y="15091"/>
                  </a:lnTo>
                  <a:lnTo>
                    <a:pt x="73075" y="0"/>
                  </a:lnTo>
                  <a:lnTo>
                    <a:pt x="2514244" y="0"/>
                  </a:lnTo>
                  <a:lnTo>
                    <a:pt x="2558764" y="15096"/>
                  </a:lnTo>
                  <a:lnTo>
                    <a:pt x="2584891" y="54219"/>
                  </a:lnTo>
                  <a:lnTo>
                    <a:pt x="2587320" y="73075"/>
                  </a:lnTo>
                  <a:lnTo>
                    <a:pt x="2587675" y="1481035"/>
                  </a:lnTo>
                  <a:lnTo>
                    <a:pt x="2587068" y="1490669"/>
                  </a:lnTo>
                  <a:lnTo>
                    <a:pt x="2585246" y="1500070"/>
                  </a:lnTo>
                  <a:lnTo>
                    <a:pt x="2558977" y="1539020"/>
                  </a:lnTo>
                  <a:lnTo>
                    <a:pt x="2514600" y="1554111"/>
                  </a:lnTo>
                  <a:lnTo>
                    <a:pt x="73075" y="1554480"/>
                  </a:lnTo>
                  <a:lnTo>
                    <a:pt x="28555" y="1539370"/>
                  </a:lnTo>
                  <a:lnTo>
                    <a:pt x="2428" y="1500247"/>
                  </a:lnTo>
                  <a:lnTo>
                    <a:pt x="0" y="1481391"/>
                  </a:lnTo>
                  <a:lnTo>
                    <a:pt x="0" y="73075"/>
                  </a:lnTo>
                  <a:close/>
                </a:path>
              </a:pathLst>
            </a:custGeom>
            <a:ln w="9359">
              <a:solidFill>
                <a:srgbClr val="2345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3424935" y="2920200"/>
            <a:ext cx="2263140" cy="1302385"/>
          </a:xfrm>
          <a:prstGeom prst="rect">
            <a:avLst/>
          </a:prstGeom>
        </p:spPr>
        <p:txBody>
          <a:bodyPr wrap="square" lIns="0" tIns="1079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dirty="0" sz="1600" spc="-20" b="1">
                <a:solidFill>
                  <a:srgbClr val="2CD3BE"/>
                </a:solidFill>
                <a:latin typeface="Calibri"/>
                <a:cs typeface="Calibri"/>
              </a:rPr>
              <a:t>Non-</a:t>
            </a:r>
            <a:r>
              <a:rPr dirty="0" sz="1600" spc="-25" b="1">
                <a:solidFill>
                  <a:srgbClr val="2CD3BE"/>
                </a:solidFill>
                <a:latin typeface="Calibri"/>
                <a:cs typeface="Calibri"/>
              </a:rPr>
              <a:t>IID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655"/>
              </a:spcBef>
            </a:pP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Clients'</a:t>
            </a:r>
            <a:r>
              <a:rPr dirty="0" sz="1400" spc="-2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data</a:t>
            </a:r>
            <a:r>
              <a:rPr dirty="0" sz="1400" spc="-2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30">
                <a:solidFill>
                  <a:srgbClr val="DBE6F2"/>
                </a:solidFill>
                <a:latin typeface="Calibri"/>
                <a:cs typeface="Calibri"/>
              </a:rPr>
              <a:t>differ,</a:t>
            </a:r>
            <a:r>
              <a:rPr dirty="0" sz="1400" spc="-2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for</a:t>
            </a:r>
            <a:r>
              <a:rPr dirty="0" sz="1400" spc="-2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example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in</a:t>
            </a:r>
            <a:r>
              <a:rPr dirty="0" sz="1400" spc="-3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class</a:t>
            </a:r>
            <a:r>
              <a:rPr dirty="0" sz="1400" spc="-2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mix,</a:t>
            </a:r>
            <a:r>
              <a:rPr dirty="0" sz="1400" spc="-3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so</a:t>
            </a:r>
            <a:r>
              <a:rPr dirty="0" sz="1400" spc="-3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they</a:t>
            </a:r>
            <a:r>
              <a:rPr dirty="0" sz="1400" spc="-2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are</a:t>
            </a:r>
            <a:r>
              <a:rPr dirty="0" sz="1400" spc="-25">
                <a:solidFill>
                  <a:srgbClr val="DBE6F2"/>
                </a:solidFill>
                <a:latin typeface="Calibri"/>
                <a:cs typeface="Calibri"/>
              </a:rPr>
              <a:t> not</a:t>
            </a:r>
            <a:r>
              <a:rPr dirty="0" sz="1400" spc="50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like</a:t>
            </a:r>
            <a:r>
              <a:rPr dirty="0" sz="1400" spc="-5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random</a:t>
            </a:r>
            <a:r>
              <a:rPr dirty="0" sz="1400" spc="-4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draws</a:t>
            </a:r>
            <a:r>
              <a:rPr dirty="0" sz="1400" spc="-5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from</a:t>
            </a:r>
            <a:r>
              <a:rPr dirty="0" sz="1400" spc="-5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DBE6F2"/>
                </a:solidFill>
                <a:latin typeface="Calibri"/>
                <a:cs typeface="Calibri"/>
              </a:rPr>
              <a:t>one </a:t>
            </a: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pool.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083096" y="2873706"/>
            <a:ext cx="2600325" cy="1567180"/>
            <a:chOff x="6083096" y="2873706"/>
            <a:chExt cx="2600325" cy="1567180"/>
          </a:xfrm>
        </p:grpSpPr>
        <p:sp>
          <p:nvSpPr>
            <p:cNvPr id="24" name="object 24"/>
            <p:cNvSpPr/>
            <p:nvPr/>
          </p:nvSpPr>
          <p:spPr>
            <a:xfrm>
              <a:off x="6089396" y="2880006"/>
              <a:ext cx="2588260" cy="1554480"/>
            </a:xfrm>
            <a:custGeom>
              <a:avLst/>
              <a:gdLst/>
              <a:ahLst/>
              <a:cxnLst/>
              <a:rect l="l" t="t" r="r" b="b"/>
              <a:pathLst>
                <a:path w="2588259" h="1554479">
                  <a:moveTo>
                    <a:pt x="2514244" y="0"/>
                  </a:moveTo>
                  <a:lnTo>
                    <a:pt x="73088" y="0"/>
                  </a:lnTo>
                  <a:lnTo>
                    <a:pt x="63610" y="607"/>
                  </a:lnTo>
                  <a:lnTo>
                    <a:pt x="21431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1481391"/>
                  </a:lnTo>
                  <a:lnTo>
                    <a:pt x="594" y="1490669"/>
                  </a:lnTo>
                  <a:lnTo>
                    <a:pt x="607" y="1490869"/>
                  </a:lnTo>
                  <a:lnTo>
                    <a:pt x="2395" y="1500070"/>
                  </a:lnTo>
                  <a:lnTo>
                    <a:pt x="2430" y="1500247"/>
                  </a:lnTo>
                  <a:lnTo>
                    <a:pt x="5418" y="1509132"/>
                  </a:lnTo>
                  <a:lnTo>
                    <a:pt x="36360" y="1544751"/>
                  </a:lnTo>
                  <a:lnTo>
                    <a:pt x="73088" y="1554480"/>
                  </a:lnTo>
                  <a:lnTo>
                    <a:pt x="2514600" y="1554111"/>
                  </a:lnTo>
                  <a:lnTo>
                    <a:pt x="2558977" y="1539020"/>
                  </a:lnTo>
                  <a:lnTo>
                    <a:pt x="2585198" y="1500247"/>
                  </a:lnTo>
                  <a:lnTo>
                    <a:pt x="2587042" y="1490869"/>
                  </a:lnTo>
                  <a:lnTo>
                    <a:pt x="2587081" y="1490669"/>
                  </a:lnTo>
                  <a:lnTo>
                    <a:pt x="2587666" y="1481391"/>
                  </a:lnTo>
                  <a:lnTo>
                    <a:pt x="2587688" y="1481035"/>
                  </a:lnTo>
                  <a:lnTo>
                    <a:pt x="2587320" y="73075"/>
                  </a:lnTo>
                  <a:lnTo>
                    <a:pt x="2572228" y="28698"/>
                  </a:lnTo>
                  <a:lnTo>
                    <a:pt x="2533278" y="2428"/>
                  </a:lnTo>
                  <a:lnTo>
                    <a:pt x="2523878" y="607"/>
                  </a:lnTo>
                  <a:lnTo>
                    <a:pt x="2514244" y="0"/>
                  </a:lnTo>
                  <a:close/>
                </a:path>
              </a:pathLst>
            </a:custGeom>
            <a:solidFill>
              <a:srgbClr val="39290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6089396" y="2880006"/>
              <a:ext cx="2588260" cy="1554480"/>
            </a:xfrm>
            <a:custGeom>
              <a:avLst/>
              <a:gdLst/>
              <a:ahLst/>
              <a:cxnLst/>
              <a:rect l="l" t="t" r="r" b="b"/>
              <a:pathLst>
                <a:path w="2588259" h="1554479">
                  <a:moveTo>
                    <a:pt x="0" y="73075"/>
                  </a:moveTo>
                  <a:lnTo>
                    <a:pt x="607" y="63442"/>
                  </a:lnTo>
                  <a:lnTo>
                    <a:pt x="2430" y="54041"/>
                  </a:lnTo>
                  <a:lnTo>
                    <a:pt x="28710" y="15091"/>
                  </a:lnTo>
                  <a:lnTo>
                    <a:pt x="73088" y="0"/>
                  </a:lnTo>
                  <a:lnTo>
                    <a:pt x="2514244" y="0"/>
                  </a:lnTo>
                  <a:lnTo>
                    <a:pt x="2558771" y="15096"/>
                  </a:lnTo>
                  <a:lnTo>
                    <a:pt x="2584891" y="54219"/>
                  </a:lnTo>
                  <a:lnTo>
                    <a:pt x="2587320" y="73075"/>
                  </a:lnTo>
                  <a:lnTo>
                    <a:pt x="2587688" y="1481035"/>
                  </a:lnTo>
                  <a:lnTo>
                    <a:pt x="2587081" y="1490669"/>
                  </a:lnTo>
                  <a:lnTo>
                    <a:pt x="2585258" y="1500070"/>
                  </a:lnTo>
                  <a:lnTo>
                    <a:pt x="2558977" y="1539020"/>
                  </a:lnTo>
                  <a:lnTo>
                    <a:pt x="2514600" y="1554111"/>
                  </a:lnTo>
                  <a:lnTo>
                    <a:pt x="73088" y="1554480"/>
                  </a:lnTo>
                  <a:lnTo>
                    <a:pt x="28555" y="1539370"/>
                  </a:lnTo>
                  <a:lnTo>
                    <a:pt x="2430" y="1500247"/>
                  </a:lnTo>
                  <a:lnTo>
                    <a:pt x="0" y="1481391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F4B84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6241580" y="2920200"/>
            <a:ext cx="2058670" cy="1089025"/>
          </a:xfrm>
          <a:prstGeom prst="rect">
            <a:avLst/>
          </a:prstGeom>
        </p:spPr>
        <p:txBody>
          <a:bodyPr wrap="square" lIns="0" tIns="1079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dirty="0" sz="1600" spc="-20" b="1">
                <a:solidFill>
                  <a:srgbClr val="F4B841"/>
                </a:solidFill>
                <a:latin typeface="Calibri"/>
                <a:cs typeface="Calibri"/>
              </a:rPr>
              <a:t>Wi-</a:t>
            </a:r>
            <a:r>
              <a:rPr dirty="0" sz="1600" b="1">
                <a:solidFill>
                  <a:srgbClr val="F4B841"/>
                </a:solidFill>
                <a:latin typeface="Calibri"/>
                <a:cs typeface="Calibri"/>
              </a:rPr>
              <a:t>Fi,</a:t>
            </a:r>
            <a:r>
              <a:rPr dirty="0" sz="1600" spc="-25" b="1">
                <a:solidFill>
                  <a:srgbClr val="F4B841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F4B841"/>
                </a:solidFill>
                <a:latin typeface="Calibri"/>
                <a:cs typeface="Calibri"/>
              </a:rPr>
              <a:t>not</a:t>
            </a:r>
            <a:r>
              <a:rPr dirty="0" sz="1600" spc="-10" b="1">
                <a:solidFill>
                  <a:srgbClr val="F4B841"/>
                </a:solidFill>
                <a:latin typeface="Calibri"/>
                <a:cs typeface="Calibri"/>
              </a:rPr>
              <a:t> cellular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655"/>
              </a:spcBef>
            </a:pP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RSSI</a:t>
            </a:r>
            <a:r>
              <a:rPr dirty="0" sz="1400" spc="-3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here</a:t>
            </a:r>
            <a:r>
              <a:rPr dirty="0" sz="1400" spc="-2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is</a:t>
            </a:r>
            <a:r>
              <a:rPr dirty="0" sz="1400" spc="-2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Wi-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Fi.</a:t>
            </a:r>
            <a:r>
              <a:rPr dirty="0" sz="1400" spc="-2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CQI,</a:t>
            </a:r>
            <a:r>
              <a:rPr dirty="0" sz="1400" spc="-3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DBE6F2"/>
                </a:solidFill>
                <a:latin typeface="Calibri"/>
                <a:cs typeface="Calibri"/>
              </a:rPr>
              <a:t>RSRP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and</a:t>
            </a:r>
            <a:r>
              <a:rPr dirty="0" sz="1400" spc="-4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RSRQ</a:t>
            </a:r>
            <a:r>
              <a:rPr dirty="0" sz="1400" spc="-4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are</a:t>
            </a:r>
            <a:r>
              <a:rPr dirty="0" sz="1400" spc="-4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cellular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measures</a:t>
            </a:r>
            <a:r>
              <a:rPr dirty="0" sz="1400" spc="-4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and</a:t>
            </a:r>
            <a:r>
              <a:rPr dirty="0" sz="1400" spc="-4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are</a:t>
            </a:r>
            <a:r>
              <a:rPr dirty="0" sz="1400" spc="-4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not</a:t>
            </a:r>
            <a:r>
              <a:rPr dirty="0" sz="1400" spc="-4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DBE6F2"/>
                </a:solidFill>
                <a:latin typeface="Calibri"/>
                <a:cs typeface="Calibri"/>
              </a:rPr>
              <a:t>used.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44144" y="4487305"/>
            <a:ext cx="476694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8EA2BE"/>
                </a:solidFill>
                <a:latin typeface="Calibri"/>
                <a:cs typeface="Calibri"/>
              </a:rPr>
              <a:t>Sources:</a:t>
            </a:r>
            <a:r>
              <a:rPr dirty="0" sz="1000" spc="-5">
                <a:solidFill>
                  <a:srgbClr val="8EA2BE"/>
                </a:solidFill>
                <a:latin typeface="Calibri"/>
                <a:cs typeface="Calibri"/>
              </a:rPr>
              <a:t> </a:t>
            </a:r>
            <a:r>
              <a:rPr dirty="0" sz="1000" spc="-30">
                <a:solidFill>
                  <a:srgbClr val="8EA2BE"/>
                </a:solidFill>
                <a:latin typeface="Calibri"/>
                <a:cs typeface="Calibri"/>
              </a:rPr>
              <a:t>Torres-</a:t>
            </a:r>
            <a:r>
              <a:rPr dirty="0" sz="1000" spc="-10">
                <a:solidFill>
                  <a:srgbClr val="8EA2BE"/>
                </a:solidFill>
                <a:latin typeface="Calibri"/>
                <a:cs typeface="Calibri"/>
              </a:rPr>
              <a:t>Sospedra</a:t>
            </a:r>
            <a:r>
              <a:rPr dirty="0" sz="1000">
                <a:solidFill>
                  <a:srgbClr val="8EA2BE"/>
                </a:solidFill>
                <a:latin typeface="Calibri"/>
                <a:cs typeface="Calibri"/>
              </a:rPr>
              <a:t> et</a:t>
            </a:r>
            <a:r>
              <a:rPr dirty="0" sz="1000" spc="-10">
                <a:solidFill>
                  <a:srgbClr val="8EA2BE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8EA2BE"/>
                </a:solidFill>
                <a:latin typeface="Calibri"/>
                <a:cs typeface="Calibri"/>
              </a:rPr>
              <a:t>al.</a:t>
            </a:r>
            <a:r>
              <a:rPr dirty="0" sz="1000" spc="-5">
                <a:solidFill>
                  <a:srgbClr val="8EA2BE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8EA2BE"/>
                </a:solidFill>
                <a:latin typeface="Calibri"/>
                <a:cs typeface="Calibri"/>
              </a:rPr>
              <a:t>(2014);</a:t>
            </a:r>
            <a:r>
              <a:rPr dirty="0" sz="1000" spc="-5">
                <a:solidFill>
                  <a:srgbClr val="8EA2BE"/>
                </a:solidFill>
                <a:latin typeface="Calibri"/>
                <a:cs typeface="Calibri"/>
              </a:rPr>
              <a:t> </a:t>
            </a:r>
            <a:r>
              <a:rPr dirty="0" sz="1000" spc="-20">
                <a:solidFill>
                  <a:srgbClr val="8EA2BE"/>
                </a:solidFill>
                <a:latin typeface="Calibri"/>
                <a:cs typeface="Calibri"/>
              </a:rPr>
              <a:t>Federated</a:t>
            </a:r>
            <a:r>
              <a:rPr dirty="0" sz="1000" spc="-15">
                <a:solidFill>
                  <a:srgbClr val="8EA2BE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8EA2BE"/>
                </a:solidFill>
                <a:latin typeface="Calibri"/>
                <a:cs typeface="Calibri"/>
              </a:rPr>
              <a:t>Learning</a:t>
            </a:r>
            <a:r>
              <a:rPr dirty="0" sz="1000" spc="-15">
                <a:solidFill>
                  <a:srgbClr val="8EA2BE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8EA2BE"/>
                </a:solidFill>
                <a:latin typeface="Calibri"/>
                <a:cs typeface="Calibri"/>
              </a:rPr>
              <a:t>on </a:t>
            </a:r>
            <a:r>
              <a:rPr dirty="0" sz="1000" spc="-10">
                <a:solidFill>
                  <a:srgbClr val="8EA2BE"/>
                </a:solidFill>
                <a:latin typeface="Calibri"/>
                <a:cs typeface="Calibri"/>
              </a:rPr>
              <a:t>Non-</a:t>
            </a:r>
            <a:r>
              <a:rPr dirty="0" sz="1000">
                <a:solidFill>
                  <a:srgbClr val="8EA2BE"/>
                </a:solidFill>
                <a:latin typeface="Calibri"/>
                <a:cs typeface="Calibri"/>
              </a:rPr>
              <a:t>IID</a:t>
            </a:r>
            <a:r>
              <a:rPr dirty="0" sz="1000" spc="-5">
                <a:solidFill>
                  <a:srgbClr val="8EA2BE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8EA2BE"/>
                </a:solidFill>
                <a:latin typeface="Calibri"/>
                <a:cs typeface="Calibri"/>
              </a:rPr>
              <a:t>Data:</a:t>
            </a:r>
            <a:r>
              <a:rPr dirty="0" sz="1000" spc="-5">
                <a:solidFill>
                  <a:srgbClr val="8EA2BE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8EA2BE"/>
                </a:solidFill>
                <a:latin typeface="Calibri"/>
                <a:cs typeface="Calibri"/>
              </a:rPr>
              <a:t>A</a:t>
            </a:r>
            <a:r>
              <a:rPr dirty="0" sz="1000" spc="-5">
                <a:solidFill>
                  <a:srgbClr val="8EA2BE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8EA2BE"/>
                </a:solidFill>
                <a:latin typeface="Calibri"/>
                <a:cs typeface="Calibri"/>
              </a:rPr>
              <a:t>Survey</a:t>
            </a:r>
            <a:r>
              <a:rPr dirty="0" sz="1000" spc="-10">
                <a:solidFill>
                  <a:srgbClr val="8EA2BE"/>
                </a:solidFill>
                <a:latin typeface="Calibri"/>
                <a:cs typeface="Calibri"/>
              </a:rPr>
              <a:t> (2021).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KLH</a:t>
            </a:r>
            <a:r>
              <a:rPr dirty="0" spc="-35"/>
              <a:t> </a:t>
            </a:r>
            <a:r>
              <a:rPr dirty="0"/>
              <a:t>University</a:t>
            </a:r>
            <a:r>
              <a:rPr dirty="0" spc="175"/>
              <a:t> </a:t>
            </a:r>
            <a:r>
              <a:rPr dirty="0"/>
              <a:t>|</a:t>
            </a:r>
            <a:r>
              <a:rPr dirty="0" spc="175"/>
              <a:t> </a:t>
            </a:r>
            <a:r>
              <a:rPr dirty="0"/>
              <a:t>Dept.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ECE</a:t>
            </a:r>
            <a:r>
              <a:rPr dirty="0" spc="170"/>
              <a:t> </a:t>
            </a:r>
            <a:r>
              <a:rPr dirty="0"/>
              <a:t>|</a:t>
            </a:r>
            <a:r>
              <a:rPr dirty="0" spc="175"/>
              <a:t> </a:t>
            </a:r>
            <a:r>
              <a:rPr dirty="0"/>
              <a:t>Machine</a:t>
            </a:r>
            <a:r>
              <a:rPr dirty="0" spc="-25"/>
              <a:t> </a:t>
            </a:r>
            <a:r>
              <a:rPr dirty="0"/>
              <a:t>Learning</a:t>
            </a:r>
            <a:r>
              <a:rPr dirty="0" spc="-25"/>
              <a:t> </a:t>
            </a:r>
            <a:r>
              <a:rPr dirty="0" spc="-10"/>
              <a:t>(25SC2107E)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749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Dataset</a:t>
            </a:r>
            <a:r>
              <a:rPr dirty="0" spc="-95"/>
              <a:t> </a:t>
            </a:r>
            <a:r>
              <a:rPr dirty="0" spc="-10"/>
              <a:t>Overview:</a:t>
            </a:r>
            <a:r>
              <a:rPr dirty="0" spc="-95"/>
              <a:t> </a:t>
            </a:r>
            <a:r>
              <a:rPr dirty="0" spc="-10"/>
              <a:t>UJIIndoorLoc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2164" y="1137966"/>
            <a:ext cx="1929764" cy="1472565"/>
            <a:chOff x="452164" y="1137966"/>
            <a:chExt cx="1929764" cy="1472565"/>
          </a:xfrm>
        </p:grpSpPr>
        <p:sp>
          <p:nvSpPr>
            <p:cNvPr id="4" name="object 4"/>
            <p:cNvSpPr/>
            <p:nvPr/>
          </p:nvSpPr>
          <p:spPr>
            <a:xfrm>
              <a:off x="456844" y="1142646"/>
              <a:ext cx="1920239" cy="1463040"/>
            </a:xfrm>
            <a:custGeom>
              <a:avLst/>
              <a:gdLst/>
              <a:ahLst/>
              <a:cxnLst/>
              <a:rect l="l" t="t" r="r" b="b"/>
              <a:pathLst>
                <a:path w="1920239" h="1463039">
                  <a:moveTo>
                    <a:pt x="184679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1389951"/>
                  </a:lnTo>
                  <a:lnTo>
                    <a:pt x="15091" y="1434329"/>
                  </a:lnTo>
                  <a:lnTo>
                    <a:pt x="54041" y="1460609"/>
                  </a:lnTo>
                  <a:lnTo>
                    <a:pt x="73075" y="1463039"/>
                  </a:lnTo>
                  <a:lnTo>
                    <a:pt x="1847151" y="1462671"/>
                  </a:lnTo>
                  <a:lnTo>
                    <a:pt x="1891529" y="1447580"/>
                  </a:lnTo>
                  <a:lnTo>
                    <a:pt x="1917749" y="1408807"/>
                  </a:lnTo>
                  <a:lnTo>
                    <a:pt x="1920239" y="1389595"/>
                  </a:lnTo>
                  <a:lnTo>
                    <a:pt x="1919871" y="73075"/>
                  </a:lnTo>
                  <a:lnTo>
                    <a:pt x="1904780" y="28698"/>
                  </a:lnTo>
                  <a:lnTo>
                    <a:pt x="1865830" y="2428"/>
                  </a:lnTo>
                  <a:lnTo>
                    <a:pt x="1846795" y="0"/>
                  </a:lnTo>
                  <a:close/>
                </a:path>
              </a:pathLst>
            </a:custGeom>
            <a:solidFill>
              <a:srgbClr val="1127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456844" y="1142646"/>
              <a:ext cx="1920239" cy="1463040"/>
            </a:xfrm>
            <a:custGeom>
              <a:avLst/>
              <a:gdLst/>
              <a:ahLst/>
              <a:cxnLst/>
              <a:rect l="l" t="t" r="r" b="b"/>
              <a:pathLst>
                <a:path w="1920239" h="1463039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1846795" y="0"/>
                  </a:lnTo>
                  <a:lnTo>
                    <a:pt x="1891323" y="15096"/>
                  </a:lnTo>
                  <a:lnTo>
                    <a:pt x="1917442" y="54219"/>
                  </a:lnTo>
                  <a:lnTo>
                    <a:pt x="1919871" y="73075"/>
                  </a:lnTo>
                  <a:lnTo>
                    <a:pt x="1920239" y="1389595"/>
                  </a:lnTo>
                  <a:lnTo>
                    <a:pt x="1919632" y="1399229"/>
                  </a:lnTo>
                  <a:lnTo>
                    <a:pt x="1917809" y="1408630"/>
                  </a:lnTo>
                  <a:lnTo>
                    <a:pt x="1891529" y="1447580"/>
                  </a:lnTo>
                  <a:lnTo>
                    <a:pt x="1847151" y="1462671"/>
                  </a:lnTo>
                  <a:lnTo>
                    <a:pt x="73075" y="1463039"/>
                  </a:lnTo>
                  <a:lnTo>
                    <a:pt x="28548" y="1447930"/>
                  </a:lnTo>
                  <a:lnTo>
                    <a:pt x="2428" y="1408807"/>
                  </a:lnTo>
                  <a:lnTo>
                    <a:pt x="0" y="1389951"/>
                  </a:lnTo>
                  <a:lnTo>
                    <a:pt x="0" y="73075"/>
                  </a:lnTo>
                  <a:close/>
                </a:path>
              </a:pathLst>
            </a:custGeom>
            <a:ln w="9359">
              <a:solidFill>
                <a:srgbClr val="2345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701535" y="1350989"/>
            <a:ext cx="1430020" cy="780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00"/>
              </a:spcBef>
            </a:pPr>
            <a:r>
              <a:rPr dirty="0" sz="2800" spc="-25" b="1">
                <a:solidFill>
                  <a:srgbClr val="2CD3BE"/>
                </a:solidFill>
                <a:latin typeface="Calibri"/>
                <a:cs typeface="Calibri"/>
              </a:rPr>
              <a:t>520</a:t>
            </a:r>
            <a:endParaRPr sz="2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019"/>
              </a:spcBef>
            </a:pPr>
            <a:r>
              <a:rPr dirty="0" sz="1300" spc="-20">
                <a:solidFill>
                  <a:srgbClr val="DBE6F2"/>
                </a:solidFill>
                <a:latin typeface="Calibri"/>
                <a:cs typeface="Calibri"/>
              </a:rPr>
              <a:t>WAP</a:t>
            </a:r>
            <a:r>
              <a:rPr dirty="0" sz="1300" spc="-3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DBE6F2"/>
                </a:solidFill>
                <a:latin typeface="Calibri"/>
                <a:cs typeface="Calibri"/>
              </a:rPr>
              <a:t>columns</a:t>
            </a:r>
            <a:r>
              <a:rPr dirty="0" sz="1300" spc="-3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(up</a:t>
            </a:r>
            <a:r>
              <a:rPr dirty="0" sz="1300" spc="-3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 spc="-25">
                <a:solidFill>
                  <a:srgbClr val="DBE6F2"/>
                </a:solidFill>
                <a:latin typeface="Calibri"/>
                <a:cs typeface="Calibri"/>
              </a:rPr>
              <a:t>to)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555284" y="1137966"/>
            <a:ext cx="1929764" cy="1472565"/>
            <a:chOff x="2555284" y="1137966"/>
            <a:chExt cx="1929764" cy="1472565"/>
          </a:xfrm>
        </p:grpSpPr>
        <p:sp>
          <p:nvSpPr>
            <p:cNvPr id="8" name="object 8"/>
            <p:cNvSpPr/>
            <p:nvPr/>
          </p:nvSpPr>
          <p:spPr>
            <a:xfrm>
              <a:off x="2559964" y="1142646"/>
              <a:ext cx="1920239" cy="1463040"/>
            </a:xfrm>
            <a:custGeom>
              <a:avLst/>
              <a:gdLst/>
              <a:ahLst/>
              <a:cxnLst/>
              <a:rect l="l" t="t" r="r" b="b"/>
              <a:pathLst>
                <a:path w="1920239" h="1463039">
                  <a:moveTo>
                    <a:pt x="184679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1389951"/>
                  </a:lnTo>
                  <a:lnTo>
                    <a:pt x="594" y="1399229"/>
                  </a:lnTo>
                  <a:lnTo>
                    <a:pt x="607" y="1399429"/>
                  </a:lnTo>
                  <a:lnTo>
                    <a:pt x="2394" y="1408630"/>
                  </a:lnTo>
                  <a:lnTo>
                    <a:pt x="2428" y="1408807"/>
                  </a:lnTo>
                  <a:lnTo>
                    <a:pt x="5412" y="1417692"/>
                  </a:lnTo>
                  <a:lnTo>
                    <a:pt x="36360" y="1453311"/>
                  </a:lnTo>
                  <a:lnTo>
                    <a:pt x="73075" y="1463039"/>
                  </a:lnTo>
                  <a:lnTo>
                    <a:pt x="1847151" y="1462671"/>
                  </a:lnTo>
                  <a:lnTo>
                    <a:pt x="1891529" y="1447580"/>
                  </a:lnTo>
                  <a:lnTo>
                    <a:pt x="1917749" y="1408807"/>
                  </a:lnTo>
                  <a:lnTo>
                    <a:pt x="1919593" y="1399429"/>
                  </a:lnTo>
                  <a:lnTo>
                    <a:pt x="1919632" y="1399229"/>
                  </a:lnTo>
                  <a:lnTo>
                    <a:pt x="1920217" y="1389951"/>
                  </a:lnTo>
                  <a:lnTo>
                    <a:pt x="1920239" y="1389595"/>
                  </a:lnTo>
                  <a:lnTo>
                    <a:pt x="1919871" y="73075"/>
                  </a:lnTo>
                  <a:lnTo>
                    <a:pt x="1904780" y="28698"/>
                  </a:lnTo>
                  <a:lnTo>
                    <a:pt x="1865830" y="2428"/>
                  </a:lnTo>
                  <a:lnTo>
                    <a:pt x="1856429" y="607"/>
                  </a:lnTo>
                  <a:lnTo>
                    <a:pt x="1846795" y="0"/>
                  </a:lnTo>
                  <a:close/>
                </a:path>
              </a:pathLst>
            </a:custGeom>
            <a:solidFill>
              <a:srgbClr val="1127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559964" y="1142646"/>
              <a:ext cx="1920239" cy="1463040"/>
            </a:xfrm>
            <a:custGeom>
              <a:avLst/>
              <a:gdLst/>
              <a:ahLst/>
              <a:cxnLst/>
              <a:rect l="l" t="t" r="r" b="b"/>
              <a:pathLst>
                <a:path w="1920239" h="1463039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1846795" y="0"/>
                  </a:lnTo>
                  <a:lnTo>
                    <a:pt x="1891323" y="15096"/>
                  </a:lnTo>
                  <a:lnTo>
                    <a:pt x="1917442" y="54219"/>
                  </a:lnTo>
                  <a:lnTo>
                    <a:pt x="1919871" y="73075"/>
                  </a:lnTo>
                  <a:lnTo>
                    <a:pt x="1920239" y="1389595"/>
                  </a:lnTo>
                  <a:lnTo>
                    <a:pt x="1919632" y="1399229"/>
                  </a:lnTo>
                  <a:lnTo>
                    <a:pt x="1917809" y="1408630"/>
                  </a:lnTo>
                  <a:lnTo>
                    <a:pt x="1891529" y="1447580"/>
                  </a:lnTo>
                  <a:lnTo>
                    <a:pt x="1847151" y="1462671"/>
                  </a:lnTo>
                  <a:lnTo>
                    <a:pt x="73075" y="1463039"/>
                  </a:lnTo>
                  <a:lnTo>
                    <a:pt x="28548" y="1447930"/>
                  </a:lnTo>
                  <a:lnTo>
                    <a:pt x="2428" y="1408807"/>
                  </a:lnTo>
                  <a:lnTo>
                    <a:pt x="0" y="1389951"/>
                  </a:lnTo>
                  <a:lnTo>
                    <a:pt x="0" y="73075"/>
                  </a:lnTo>
                  <a:close/>
                </a:path>
              </a:pathLst>
            </a:custGeom>
            <a:ln w="9359">
              <a:solidFill>
                <a:srgbClr val="2345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2847860" y="1350989"/>
            <a:ext cx="1343660" cy="9791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800" spc="-10" b="1">
                <a:solidFill>
                  <a:srgbClr val="2CD3BE"/>
                </a:solidFill>
                <a:latin typeface="Calibri"/>
                <a:cs typeface="Calibri"/>
              </a:rPr>
              <a:t>19,937</a:t>
            </a:r>
            <a:endParaRPr sz="2800">
              <a:latin typeface="Calibri"/>
              <a:cs typeface="Calibri"/>
            </a:endParaRPr>
          </a:p>
          <a:p>
            <a:pPr algn="ctr" marL="12065" marR="5080">
              <a:lnSpc>
                <a:spcPct val="100000"/>
              </a:lnSpc>
              <a:spcBef>
                <a:spcPts val="1019"/>
              </a:spcBef>
            </a:pP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samples</a:t>
            </a:r>
            <a:r>
              <a:rPr dirty="0" sz="1300" spc="-4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in</a:t>
            </a:r>
            <a:r>
              <a:rPr dirty="0" sz="1300" spc="-4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the</a:t>
            </a:r>
            <a:r>
              <a:rPr dirty="0" sz="1300" spc="-5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DBE6F2"/>
                </a:solidFill>
                <a:latin typeface="Calibri"/>
                <a:cs typeface="Calibri"/>
              </a:rPr>
              <a:t>class </a:t>
            </a:r>
            <a:r>
              <a:rPr dirty="0" sz="1300" spc="-10">
                <a:solidFill>
                  <a:srgbClr val="DBE6F2"/>
                </a:solidFill>
                <a:latin typeface="Calibri"/>
                <a:cs typeface="Calibri"/>
              </a:rPr>
              <a:t>analysis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52164" y="2783886"/>
            <a:ext cx="1929764" cy="1472565"/>
            <a:chOff x="452164" y="2783886"/>
            <a:chExt cx="1929764" cy="1472565"/>
          </a:xfrm>
        </p:grpSpPr>
        <p:sp>
          <p:nvSpPr>
            <p:cNvPr id="12" name="object 12"/>
            <p:cNvSpPr/>
            <p:nvPr/>
          </p:nvSpPr>
          <p:spPr>
            <a:xfrm>
              <a:off x="456844" y="2788566"/>
              <a:ext cx="1920239" cy="1463040"/>
            </a:xfrm>
            <a:custGeom>
              <a:avLst/>
              <a:gdLst/>
              <a:ahLst/>
              <a:cxnLst/>
              <a:rect l="l" t="t" r="r" b="b"/>
              <a:pathLst>
                <a:path w="1920239" h="1463039">
                  <a:moveTo>
                    <a:pt x="184679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1389951"/>
                  </a:lnTo>
                  <a:lnTo>
                    <a:pt x="594" y="1399229"/>
                  </a:lnTo>
                  <a:lnTo>
                    <a:pt x="607" y="1399429"/>
                  </a:lnTo>
                  <a:lnTo>
                    <a:pt x="2394" y="1408630"/>
                  </a:lnTo>
                  <a:lnTo>
                    <a:pt x="2428" y="1408807"/>
                  </a:lnTo>
                  <a:lnTo>
                    <a:pt x="28548" y="1447930"/>
                  </a:lnTo>
                  <a:lnTo>
                    <a:pt x="73075" y="1463040"/>
                  </a:lnTo>
                  <a:lnTo>
                    <a:pt x="1847151" y="1462671"/>
                  </a:lnTo>
                  <a:lnTo>
                    <a:pt x="1891529" y="1447580"/>
                  </a:lnTo>
                  <a:lnTo>
                    <a:pt x="1917749" y="1408807"/>
                  </a:lnTo>
                  <a:lnTo>
                    <a:pt x="1917809" y="1408630"/>
                  </a:lnTo>
                  <a:lnTo>
                    <a:pt x="1919593" y="1399429"/>
                  </a:lnTo>
                  <a:lnTo>
                    <a:pt x="1919632" y="1399229"/>
                  </a:lnTo>
                  <a:lnTo>
                    <a:pt x="1920217" y="1389951"/>
                  </a:lnTo>
                  <a:lnTo>
                    <a:pt x="1920239" y="1389595"/>
                  </a:lnTo>
                  <a:lnTo>
                    <a:pt x="1919871" y="73075"/>
                  </a:lnTo>
                  <a:lnTo>
                    <a:pt x="1904780" y="28698"/>
                  </a:lnTo>
                  <a:lnTo>
                    <a:pt x="1865830" y="2428"/>
                  </a:lnTo>
                  <a:lnTo>
                    <a:pt x="1856429" y="607"/>
                  </a:lnTo>
                  <a:lnTo>
                    <a:pt x="1846795" y="0"/>
                  </a:lnTo>
                  <a:close/>
                </a:path>
              </a:pathLst>
            </a:custGeom>
            <a:solidFill>
              <a:srgbClr val="1127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56844" y="2788566"/>
              <a:ext cx="1920239" cy="1463040"/>
            </a:xfrm>
            <a:custGeom>
              <a:avLst/>
              <a:gdLst/>
              <a:ahLst/>
              <a:cxnLst/>
              <a:rect l="l" t="t" r="r" b="b"/>
              <a:pathLst>
                <a:path w="1920239" h="1463039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1846795" y="0"/>
                  </a:lnTo>
                  <a:lnTo>
                    <a:pt x="1891323" y="15096"/>
                  </a:lnTo>
                  <a:lnTo>
                    <a:pt x="1917442" y="54219"/>
                  </a:lnTo>
                  <a:lnTo>
                    <a:pt x="1919871" y="73075"/>
                  </a:lnTo>
                  <a:lnTo>
                    <a:pt x="1920239" y="1389595"/>
                  </a:lnTo>
                  <a:lnTo>
                    <a:pt x="1919632" y="1399229"/>
                  </a:lnTo>
                  <a:lnTo>
                    <a:pt x="1917809" y="1408630"/>
                  </a:lnTo>
                  <a:lnTo>
                    <a:pt x="1891529" y="1447580"/>
                  </a:lnTo>
                  <a:lnTo>
                    <a:pt x="1847151" y="1462671"/>
                  </a:lnTo>
                  <a:lnTo>
                    <a:pt x="73075" y="1463040"/>
                  </a:lnTo>
                  <a:lnTo>
                    <a:pt x="28548" y="1447930"/>
                  </a:lnTo>
                  <a:lnTo>
                    <a:pt x="2428" y="1408807"/>
                  </a:lnTo>
                  <a:lnTo>
                    <a:pt x="0" y="1389951"/>
                  </a:lnTo>
                  <a:lnTo>
                    <a:pt x="0" y="73075"/>
                  </a:lnTo>
                  <a:close/>
                </a:path>
              </a:pathLst>
            </a:custGeom>
            <a:ln w="9359">
              <a:solidFill>
                <a:srgbClr val="2345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785418" y="2996909"/>
            <a:ext cx="1263650" cy="9791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800" spc="-25" b="1">
                <a:solidFill>
                  <a:srgbClr val="2CD3BE"/>
                </a:solidFill>
                <a:latin typeface="Calibri"/>
                <a:cs typeface="Calibri"/>
              </a:rPr>
              <a:t>16</a:t>
            </a:r>
            <a:endParaRPr sz="2800">
              <a:latin typeface="Calibri"/>
              <a:cs typeface="Calibri"/>
            </a:endParaRPr>
          </a:p>
          <a:p>
            <a:pPr algn="ctr" marL="12065" marR="5080">
              <a:lnSpc>
                <a:spcPct val="100000"/>
              </a:lnSpc>
              <a:spcBef>
                <a:spcPts val="1019"/>
              </a:spcBef>
            </a:pP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PHONEID</a:t>
            </a:r>
            <a:r>
              <a:rPr dirty="0" sz="1300" spc="-5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DBE6F2"/>
                </a:solidFill>
                <a:latin typeface="Calibri"/>
                <a:cs typeface="Calibri"/>
              </a:rPr>
              <a:t>groups</a:t>
            </a:r>
            <a:r>
              <a:rPr dirty="0" sz="1300" spc="-50">
                <a:solidFill>
                  <a:srgbClr val="DBE6F2"/>
                </a:solidFill>
                <a:latin typeface="Calibri"/>
                <a:cs typeface="Calibri"/>
              </a:rPr>
              <a:t> = </a:t>
            </a:r>
            <a:r>
              <a:rPr dirty="0" sz="1300" spc="-10">
                <a:solidFill>
                  <a:srgbClr val="DBE6F2"/>
                </a:solidFill>
                <a:latin typeface="Calibri"/>
                <a:cs typeface="Calibri"/>
              </a:rPr>
              <a:t>simulated</a:t>
            </a:r>
            <a:r>
              <a:rPr dirty="0" sz="1300" spc="-3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DBE6F2"/>
                </a:solidFill>
                <a:latin typeface="Calibri"/>
                <a:cs typeface="Calibri"/>
              </a:rPr>
              <a:t>clients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555284" y="2783886"/>
            <a:ext cx="1929764" cy="1472565"/>
            <a:chOff x="2555284" y="2783886"/>
            <a:chExt cx="1929764" cy="1472565"/>
          </a:xfrm>
        </p:grpSpPr>
        <p:sp>
          <p:nvSpPr>
            <p:cNvPr id="16" name="object 16"/>
            <p:cNvSpPr/>
            <p:nvPr/>
          </p:nvSpPr>
          <p:spPr>
            <a:xfrm>
              <a:off x="2559964" y="2788566"/>
              <a:ext cx="1920239" cy="1463040"/>
            </a:xfrm>
            <a:custGeom>
              <a:avLst/>
              <a:gdLst/>
              <a:ahLst/>
              <a:cxnLst/>
              <a:rect l="l" t="t" r="r" b="b"/>
              <a:pathLst>
                <a:path w="1920239" h="1463039">
                  <a:moveTo>
                    <a:pt x="184679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1389951"/>
                  </a:lnTo>
                  <a:lnTo>
                    <a:pt x="594" y="1399229"/>
                  </a:lnTo>
                  <a:lnTo>
                    <a:pt x="607" y="1399429"/>
                  </a:lnTo>
                  <a:lnTo>
                    <a:pt x="2394" y="1408630"/>
                  </a:lnTo>
                  <a:lnTo>
                    <a:pt x="2428" y="1408807"/>
                  </a:lnTo>
                  <a:lnTo>
                    <a:pt x="5412" y="1417692"/>
                  </a:lnTo>
                  <a:lnTo>
                    <a:pt x="36360" y="1453311"/>
                  </a:lnTo>
                  <a:lnTo>
                    <a:pt x="73075" y="1463040"/>
                  </a:lnTo>
                  <a:lnTo>
                    <a:pt x="1847151" y="1462671"/>
                  </a:lnTo>
                  <a:lnTo>
                    <a:pt x="1891529" y="1447580"/>
                  </a:lnTo>
                  <a:lnTo>
                    <a:pt x="1917749" y="1408807"/>
                  </a:lnTo>
                  <a:lnTo>
                    <a:pt x="1919593" y="1399429"/>
                  </a:lnTo>
                  <a:lnTo>
                    <a:pt x="1919632" y="1399229"/>
                  </a:lnTo>
                  <a:lnTo>
                    <a:pt x="1920217" y="1389951"/>
                  </a:lnTo>
                  <a:lnTo>
                    <a:pt x="1920239" y="1389595"/>
                  </a:lnTo>
                  <a:lnTo>
                    <a:pt x="1919871" y="73075"/>
                  </a:lnTo>
                  <a:lnTo>
                    <a:pt x="1904780" y="28698"/>
                  </a:lnTo>
                  <a:lnTo>
                    <a:pt x="1865830" y="2428"/>
                  </a:lnTo>
                  <a:lnTo>
                    <a:pt x="1856429" y="607"/>
                  </a:lnTo>
                  <a:lnTo>
                    <a:pt x="1846795" y="0"/>
                  </a:lnTo>
                  <a:close/>
                </a:path>
              </a:pathLst>
            </a:custGeom>
            <a:solidFill>
              <a:srgbClr val="1127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559964" y="2788566"/>
              <a:ext cx="1920239" cy="1463040"/>
            </a:xfrm>
            <a:custGeom>
              <a:avLst/>
              <a:gdLst/>
              <a:ahLst/>
              <a:cxnLst/>
              <a:rect l="l" t="t" r="r" b="b"/>
              <a:pathLst>
                <a:path w="1920239" h="1463039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1846795" y="0"/>
                  </a:lnTo>
                  <a:lnTo>
                    <a:pt x="1891323" y="15096"/>
                  </a:lnTo>
                  <a:lnTo>
                    <a:pt x="1917442" y="54219"/>
                  </a:lnTo>
                  <a:lnTo>
                    <a:pt x="1919871" y="73075"/>
                  </a:lnTo>
                  <a:lnTo>
                    <a:pt x="1920239" y="1389595"/>
                  </a:lnTo>
                  <a:lnTo>
                    <a:pt x="1919632" y="1399229"/>
                  </a:lnTo>
                  <a:lnTo>
                    <a:pt x="1917809" y="1408630"/>
                  </a:lnTo>
                  <a:lnTo>
                    <a:pt x="1891529" y="1447580"/>
                  </a:lnTo>
                  <a:lnTo>
                    <a:pt x="1847151" y="1462671"/>
                  </a:lnTo>
                  <a:lnTo>
                    <a:pt x="73075" y="1463040"/>
                  </a:lnTo>
                  <a:lnTo>
                    <a:pt x="28548" y="1447930"/>
                  </a:lnTo>
                  <a:lnTo>
                    <a:pt x="2428" y="1408807"/>
                  </a:lnTo>
                  <a:lnTo>
                    <a:pt x="0" y="1389951"/>
                  </a:lnTo>
                  <a:lnTo>
                    <a:pt x="0" y="73075"/>
                  </a:lnTo>
                  <a:close/>
                </a:path>
              </a:pathLst>
            </a:custGeom>
            <a:ln w="9359">
              <a:solidFill>
                <a:srgbClr val="2345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2827337" y="2996909"/>
            <a:ext cx="1386205" cy="9791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800" b="1">
                <a:solidFill>
                  <a:srgbClr val="2CD3BE"/>
                </a:solidFill>
                <a:latin typeface="Calibri"/>
                <a:cs typeface="Calibri"/>
              </a:rPr>
              <a:t>2</a:t>
            </a:r>
            <a:r>
              <a:rPr dirty="0" sz="2800" spc="-30" b="1">
                <a:solidFill>
                  <a:srgbClr val="2CD3BE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2CD3BE"/>
                </a:solidFill>
                <a:latin typeface="Calibri"/>
                <a:cs typeface="Calibri"/>
              </a:rPr>
              <a:t>files</a:t>
            </a:r>
            <a:endParaRPr sz="2800">
              <a:latin typeface="Calibri"/>
              <a:cs typeface="Calibri"/>
            </a:endParaRPr>
          </a:p>
          <a:p>
            <a:pPr algn="ctr" marL="12065" marR="5080">
              <a:lnSpc>
                <a:spcPct val="100000"/>
              </a:lnSpc>
              <a:spcBef>
                <a:spcPts val="1019"/>
              </a:spcBef>
            </a:pPr>
            <a:r>
              <a:rPr dirty="0" sz="1300" spc="-10">
                <a:solidFill>
                  <a:srgbClr val="DBE6F2"/>
                </a:solidFill>
                <a:latin typeface="Calibri"/>
                <a:cs typeface="Calibri"/>
              </a:rPr>
              <a:t>trainingData.csv</a:t>
            </a:r>
            <a:r>
              <a:rPr dirty="0" sz="1300" spc="-6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 spc="-25">
                <a:solidFill>
                  <a:srgbClr val="DBE6F2"/>
                </a:solidFill>
                <a:latin typeface="Calibri"/>
                <a:cs typeface="Calibri"/>
              </a:rPr>
              <a:t>and </a:t>
            </a:r>
            <a:r>
              <a:rPr dirty="0" sz="1300" spc="-10">
                <a:solidFill>
                  <a:srgbClr val="DBE6F2"/>
                </a:solidFill>
                <a:latin typeface="Calibri"/>
                <a:cs typeface="Calibri"/>
              </a:rPr>
              <a:t>validationData.csv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841284" y="1137966"/>
            <a:ext cx="3850004" cy="3118485"/>
            <a:chOff x="4841284" y="1137966"/>
            <a:chExt cx="3850004" cy="3118485"/>
          </a:xfrm>
        </p:grpSpPr>
        <p:sp>
          <p:nvSpPr>
            <p:cNvPr id="20" name="object 20"/>
            <p:cNvSpPr/>
            <p:nvPr/>
          </p:nvSpPr>
          <p:spPr>
            <a:xfrm>
              <a:off x="4845964" y="1142646"/>
              <a:ext cx="3840479" cy="3108960"/>
            </a:xfrm>
            <a:custGeom>
              <a:avLst/>
              <a:gdLst/>
              <a:ahLst/>
              <a:cxnLst/>
              <a:rect l="l" t="t" r="r" b="b"/>
              <a:pathLst>
                <a:path w="3840479" h="3108960">
                  <a:moveTo>
                    <a:pt x="376703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3035871"/>
                  </a:lnTo>
                  <a:lnTo>
                    <a:pt x="5412" y="3063612"/>
                  </a:lnTo>
                  <a:lnTo>
                    <a:pt x="5464" y="3063767"/>
                  </a:lnTo>
                  <a:lnTo>
                    <a:pt x="36360" y="3099231"/>
                  </a:lnTo>
                  <a:lnTo>
                    <a:pt x="73075" y="3108959"/>
                  </a:lnTo>
                  <a:lnTo>
                    <a:pt x="3767391" y="3108591"/>
                  </a:lnTo>
                  <a:lnTo>
                    <a:pt x="3811769" y="3093500"/>
                  </a:lnTo>
                  <a:lnTo>
                    <a:pt x="3837989" y="3054727"/>
                  </a:lnTo>
                  <a:lnTo>
                    <a:pt x="3839833" y="3045349"/>
                  </a:lnTo>
                  <a:lnTo>
                    <a:pt x="3839872" y="3045149"/>
                  </a:lnTo>
                  <a:lnTo>
                    <a:pt x="3840457" y="3035871"/>
                  </a:lnTo>
                  <a:lnTo>
                    <a:pt x="3840479" y="3035515"/>
                  </a:lnTo>
                  <a:lnTo>
                    <a:pt x="3840111" y="73075"/>
                  </a:lnTo>
                  <a:lnTo>
                    <a:pt x="3825020" y="28698"/>
                  </a:lnTo>
                  <a:lnTo>
                    <a:pt x="3786070" y="2428"/>
                  </a:lnTo>
                  <a:lnTo>
                    <a:pt x="3776669" y="607"/>
                  </a:lnTo>
                  <a:lnTo>
                    <a:pt x="3767035" y="0"/>
                  </a:lnTo>
                  <a:close/>
                </a:path>
              </a:pathLst>
            </a:custGeom>
            <a:solidFill>
              <a:srgbClr val="1127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845964" y="1142646"/>
              <a:ext cx="3840479" cy="3108960"/>
            </a:xfrm>
            <a:custGeom>
              <a:avLst/>
              <a:gdLst/>
              <a:ahLst/>
              <a:cxnLst/>
              <a:rect l="l" t="t" r="r" b="b"/>
              <a:pathLst>
                <a:path w="3840479" h="3108960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3767035" y="0"/>
                  </a:lnTo>
                  <a:lnTo>
                    <a:pt x="3811563" y="15096"/>
                  </a:lnTo>
                  <a:lnTo>
                    <a:pt x="3837682" y="54219"/>
                  </a:lnTo>
                  <a:lnTo>
                    <a:pt x="3840111" y="73075"/>
                  </a:lnTo>
                  <a:lnTo>
                    <a:pt x="3840479" y="3035515"/>
                  </a:lnTo>
                  <a:lnTo>
                    <a:pt x="3839872" y="3045149"/>
                  </a:lnTo>
                  <a:lnTo>
                    <a:pt x="3838049" y="3054550"/>
                  </a:lnTo>
                  <a:lnTo>
                    <a:pt x="3811769" y="3093500"/>
                  </a:lnTo>
                  <a:lnTo>
                    <a:pt x="3767391" y="3108591"/>
                  </a:lnTo>
                  <a:lnTo>
                    <a:pt x="73075" y="3108959"/>
                  </a:lnTo>
                  <a:lnTo>
                    <a:pt x="28548" y="3093850"/>
                  </a:lnTo>
                  <a:lnTo>
                    <a:pt x="2428" y="3054727"/>
                  </a:lnTo>
                  <a:lnTo>
                    <a:pt x="0" y="3035871"/>
                  </a:lnTo>
                  <a:lnTo>
                    <a:pt x="0" y="73075"/>
                  </a:lnTo>
                  <a:close/>
                </a:path>
              </a:pathLst>
            </a:custGeom>
            <a:ln w="9359">
              <a:solidFill>
                <a:srgbClr val="2345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5016144" y="1267462"/>
            <a:ext cx="16167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2CD3BE"/>
                </a:solidFill>
                <a:latin typeface="Calibri"/>
                <a:cs typeface="Calibri"/>
              </a:rPr>
              <a:t>Why</a:t>
            </a:r>
            <a:r>
              <a:rPr dirty="0" sz="1800" spc="-35" b="1">
                <a:solidFill>
                  <a:srgbClr val="2CD3B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2CD3BE"/>
                </a:solidFill>
                <a:latin typeface="Calibri"/>
                <a:cs typeface="Calibri"/>
              </a:rPr>
              <a:t>this</a:t>
            </a:r>
            <a:r>
              <a:rPr dirty="0" sz="1800" spc="-40" b="1">
                <a:solidFill>
                  <a:srgbClr val="2CD3BE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2CD3BE"/>
                </a:solidFill>
                <a:latin typeface="Calibri"/>
                <a:cs typeface="Calibri"/>
              </a:rPr>
              <a:t>dataset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016144" y="1649427"/>
            <a:ext cx="8890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solidFill>
                  <a:srgbClr val="DBE6F2"/>
                </a:solidFill>
                <a:latin typeface="Arial"/>
                <a:cs typeface="Arial"/>
              </a:rPr>
              <a:t>•</a:t>
            </a:r>
            <a:endParaRPr sz="1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016144" y="2165301"/>
            <a:ext cx="8890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solidFill>
                  <a:srgbClr val="DBE6F2"/>
                </a:solidFill>
                <a:latin typeface="Arial"/>
                <a:cs typeface="Arial"/>
              </a:rPr>
              <a:t>•</a:t>
            </a:r>
            <a:endParaRPr sz="14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016144" y="2681187"/>
            <a:ext cx="8890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solidFill>
                  <a:srgbClr val="DBE6F2"/>
                </a:solidFill>
                <a:latin typeface="Arial"/>
                <a:cs typeface="Arial"/>
              </a:rPr>
              <a:t>•</a:t>
            </a:r>
            <a:endParaRPr sz="14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016144" y="3197061"/>
            <a:ext cx="8890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solidFill>
                  <a:srgbClr val="DBE6F2"/>
                </a:solidFill>
                <a:latin typeface="Arial"/>
                <a:cs typeface="Arial"/>
              </a:rPr>
              <a:t>•</a:t>
            </a:r>
            <a:endParaRPr sz="14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193982" y="1678586"/>
            <a:ext cx="3081020" cy="17868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16839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Public</a:t>
            </a:r>
            <a:r>
              <a:rPr dirty="0" sz="1400" spc="-2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Wi-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Fi</a:t>
            </a:r>
            <a:r>
              <a:rPr dirty="0" sz="1400" spc="-2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fingerprint dataset</a:t>
            </a:r>
            <a:r>
              <a:rPr dirty="0" sz="1400" spc="-3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with</a:t>
            </a:r>
            <a:r>
              <a:rPr dirty="0" sz="1400" spc="-20">
                <a:solidFill>
                  <a:srgbClr val="DBE6F2"/>
                </a:solidFill>
                <a:latin typeface="Calibri"/>
                <a:cs typeface="Calibri"/>
              </a:rPr>
              <a:t> RSSI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from</a:t>
            </a:r>
            <a:r>
              <a:rPr dirty="0" sz="1400" spc="-4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many</a:t>
            </a:r>
            <a:r>
              <a:rPr dirty="0" sz="1400" spc="-5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DBE6F2"/>
                </a:solidFill>
                <a:latin typeface="Calibri"/>
                <a:cs typeface="Calibri"/>
              </a:rPr>
              <a:t>WAPs.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700"/>
              </a:spcBef>
            </a:pP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The</a:t>
            </a:r>
            <a:r>
              <a:rPr dirty="0" sz="1400" spc="-3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PHONEID</a:t>
            </a:r>
            <a:r>
              <a:rPr dirty="0" sz="1400" spc="-4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column</a:t>
            </a:r>
            <a:r>
              <a:rPr dirty="0" sz="1400" spc="-3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gives</a:t>
            </a:r>
            <a:r>
              <a:rPr dirty="0" sz="1400" spc="-4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natural</a:t>
            </a:r>
            <a:r>
              <a:rPr dirty="0" sz="1400" spc="-3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groups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that</a:t>
            </a:r>
            <a:r>
              <a:rPr dirty="0" sz="1400" spc="-2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can</a:t>
            </a:r>
            <a:r>
              <a:rPr dirty="0" sz="1400" spc="-3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act</a:t>
            </a:r>
            <a:r>
              <a:rPr dirty="0" sz="1400" spc="-4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as</a:t>
            </a:r>
            <a:r>
              <a:rPr dirty="0" sz="1400" spc="-2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clients.</a:t>
            </a:r>
            <a:endParaRPr sz="1400">
              <a:latin typeface="Calibri"/>
              <a:cs typeface="Calibri"/>
            </a:endParaRPr>
          </a:p>
          <a:p>
            <a:pPr marL="12700" marR="247650">
              <a:lnSpc>
                <a:spcPct val="100000"/>
              </a:lnSpc>
              <a:spcBef>
                <a:spcPts val="705"/>
              </a:spcBef>
            </a:pP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Measured</a:t>
            </a:r>
            <a:r>
              <a:rPr dirty="0" sz="1400" spc="-1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RSSI</a:t>
            </a:r>
            <a:r>
              <a:rPr dirty="0" sz="1400" spc="-1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readings,</a:t>
            </a:r>
            <a:r>
              <a:rPr dirty="0" sz="1400" spc="-1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not</a:t>
            </a:r>
            <a:r>
              <a:rPr dirty="0" sz="1400" spc="-2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simulated signals.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Wi-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Fi</a:t>
            </a:r>
            <a:r>
              <a:rPr dirty="0" sz="1400" spc="-3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only:</a:t>
            </a:r>
            <a:r>
              <a:rPr dirty="0" sz="1400" spc="-3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no</a:t>
            </a:r>
            <a:r>
              <a:rPr dirty="0" sz="1400" spc="-2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cellular</a:t>
            </a:r>
            <a:r>
              <a:rPr dirty="0" sz="1400" spc="-2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CQI,</a:t>
            </a:r>
            <a:r>
              <a:rPr dirty="0" sz="1400" spc="-2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RSRP</a:t>
            </a:r>
            <a:r>
              <a:rPr dirty="0" sz="1400" spc="-2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or</a:t>
            </a:r>
            <a:r>
              <a:rPr dirty="0" sz="1400" spc="-3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DBE6F2"/>
                </a:solidFill>
                <a:latin typeface="Calibri"/>
                <a:cs typeface="Calibri"/>
              </a:rPr>
              <a:t>RSRQ.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44144" y="4487305"/>
            <a:ext cx="271716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8EA2BE"/>
                </a:solidFill>
                <a:latin typeface="Calibri"/>
                <a:cs typeface="Calibri"/>
              </a:rPr>
              <a:t>Sources:</a:t>
            </a:r>
            <a:r>
              <a:rPr dirty="0" sz="1000" spc="5">
                <a:solidFill>
                  <a:srgbClr val="8EA2BE"/>
                </a:solidFill>
                <a:latin typeface="Calibri"/>
                <a:cs typeface="Calibri"/>
              </a:rPr>
              <a:t> </a:t>
            </a:r>
            <a:r>
              <a:rPr dirty="0" sz="1000" spc="-30">
                <a:solidFill>
                  <a:srgbClr val="8EA2BE"/>
                </a:solidFill>
                <a:latin typeface="Calibri"/>
                <a:cs typeface="Calibri"/>
              </a:rPr>
              <a:t>Torres-</a:t>
            </a:r>
            <a:r>
              <a:rPr dirty="0" sz="1000" spc="-10">
                <a:solidFill>
                  <a:srgbClr val="8EA2BE"/>
                </a:solidFill>
                <a:latin typeface="Calibri"/>
                <a:cs typeface="Calibri"/>
              </a:rPr>
              <a:t>Sospedra</a:t>
            </a:r>
            <a:r>
              <a:rPr dirty="0" sz="1000" spc="15">
                <a:solidFill>
                  <a:srgbClr val="8EA2BE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8EA2BE"/>
                </a:solidFill>
                <a:latin typeface="Calibri"/>
                <a:cs typeface="Calibri"/>
              </a:rPr>
              <a:t>et</a:t>
            </a:r>
            <a:r>
              <a:rPr dirty="0" sz="1000" spc="5">
                <a:solidFill>
                  <a:srgbClr val="8EA2BE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8EA2BE"/>
                </a:solidFill>
                <a:latin typeface="Calibri"/>
                <a:cs typeface="Calibri"/>
              </a:rPr>
              <a:t>al.</a:t>
            </a:r>
            <a:r>
              <a:rPr dirty="0" sz="1000" spc="10">
                <a:solidFill>
                  <a:srgbClr val="8EA2BE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8EA2BE"/>
                </a:solidFill>
                <a:latin typeface="Calibri"/>
                <a:cs typeface="Calibri"/>
              </a:rPr>
              <a:t>(2014),</a:t>
            </a:r>
            <a:r>
              <a:rPr dirty="0" sz="1000">
                <a:solidFill>
                  <a:srgbClr val="8EA2BE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8EA2BE"/>
                </a:solidFill>
                <a:latin typeface="Calibri"/>
                <a:cs typeface="Calibri"/>
              </a:rPr>
              <a:t>UJIIndoorLoc.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KLH</a:t>
            </a:r>
            <a:r>
              <a:rPr dirty="0" spc="-35"/>
              <a:t> </a:t>
            </a:r>
            <a:r>
              <a:rPr dirty="0"/>
              <a:t>University</a:t>
            </a:r>
            <a:r>
              <a:rPr dirty="0" spc="175"/>
              <a:t> </a:t>
            </a:r>
            <a:r>
              <a:rPr dirty="0"/>
              <a:t>|</a:t>
            </a:r>
            <a:r>
              <a:rPr dirty="0" spc="175"/>
              <a:t> </a:t>
            </a:r>
            <a:r>
              <a:rPr dirty="0"/>
              <a:t>Dept.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ECE</a:t>
            </a:r>
            <a:r>
              <a:rPr dirty="0" spc="170"/>
              <a:t> </a:t>
            </a:r>
            <a:r>
              <a:rPr dirty="0"/>
              <a:t>|</a:t>
            </a:r>
            <a:r>
              <a:rPr dirty="0" spc="175"/>
              <a:t> </a:t>
            </a:r>
            <a:r>
              <a:rPr dirty="0"/>
              <a:t>Machine</a:t>
            </a:r>
            <a:r>
              <a:rPr dirty="0" spc="-25"/>
              <a:t> </a:t>
            </a:r>
            <a:r>
              <a:rPr dirty="0"/>
              <a:t>Learning</a:t>
            </a:r>
            <a:r>
              <a:rPr dirty="0" spc="-25"/>
              <a:t> </a:t>
            </a:r>
            <a:r>
              <a:rPr dirty="0" spc="-10"/>
              <a:t>(25SC2107E)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8520023" y="4793271"/>
            <a:ext cx="90170" cy="18097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000" spc="-50">
                <a:solidFill>
                  <a:srgbClr val="8EA2BE"/>
                </a:solidFill>
                <a:latin typeface="Calibri"/>
                <a:cs typeface="Calibri"/>
              </a:rPr>
              <a:t>5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749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Exploratory</a:t>
            </a:r>
            <a:r>
              <a:rPr dirty="0" spc="-114"/>
              <a:t> </a:t>
            </a:r>
            <a:r>
              <a:rPr dirty="0"/>
              <a:t>Data</a:t>
            </a:r>
            <a:r>
              <a:rPr dirty="0" spc="-110"/>
              <a:t> </a:t>
            </a:r>
            <a:r>
              <a:rPr dirty="0"/>
              <a:t>Analysis</a:t>
            </a:r>
            <a:r>
              <a:rPr dirty="0" spc="-110"/>
              <a:t> </a:t>
            </a:r>
            <a:r>
              <a:rPr dirty="0" spc="-10"/>
              <a:t>Findings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2164" y="1137966"/>
            <a:ext cx="4581525" cy="3118485"/>
            <a:chOff x="452164" y="1137966"/>
            <a:chExt cx="4581525" cy="3118485"/>
          </a:xfrm>
        </p:grpSpPr>
        <p:sp>
          <p:nvSpPr>
            <p:cNvPr id="4" name="object 4"/>
            <p:cNvSpPr/>
            <p:nvPr/>
          </p:nvSpPr>
          <p:spPr>
            <a:xfrm>
              <a:off x="456844" y="1142646"/>
              <a:ext cx="4572000" cy="3108960"/>
            </a:xfrm>
            <a:custGeom>
              <a:avLst/>
              <a:gdLst/>
              <a:ahLst/>
              <a:cxnLst/>
              <a:rect l="l" t="t" r="r" b="b"/>
              <a:pathLst>
                <a:path w="4572000" h="3108960">
                  <a:moveTo>
                    <a:pt x="449855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3035871"/>
                  </a:lnTo>
                  <a:lnTo>
                    <a:pt x="594" y="3045149"/>
                  </a:lnTo>
                  <a:lnTo>
                    <a:pt x="607" y="3045349"/>
                  </a:lnTo>
                  <a:lnTo>
                    <a:pt x="2394" y="3054550"/>
                  </a:lnTo>
                  <a:lnTo>
                    <a:pt x="2428" y="3054727"/>
                  </a:lnTo>
                  <a:lnTo>
                    <a:pt x="28548" y="3093850"/>
                  </a:lnTo>
                  <a:lnTo>
                    <a:pt x="73075" y="3108959"/>
                  </a:lnTo>
                  <a:lnTo>
                    <a:pt x="4498911" y="3108591"/>
                  </a:lnTo>
                  <a:lnTo>
                    <a:pt x="4543289" y="3093500"/>
                  </a:lnTo>
                  <a:lnTo>
                    <a:pt x="4569509" y="3054727"/>
                  </a:lnTo>
                  <a:lnTo>
                    <a:pt x="4571353" y="3045349"/>
                  </a:lnTo>
                  <a:lnTo>
                    <a:pt x="4571392" y="3045149"/>
                  </a:lnTo>
                  <a:lnTo>
                    <a:pt x="4571977" y="3035871"/>
                  </a:lnTo>
                  <a:lnTo>
                    <a:pt x="4572000" y="3035515"/>
                  </a:lnTo>
                  <a:lnTo>
                    <a:pt x="4571631" y="73075"/>
                  </a:lnTo>
                  <a:lnTo>
                    <a:pt x="4556540" y="28698"/>
                  </a:lnTo>
                  <a:lnTo>
                    <a:pt x="4517590" y="2428"/>
                  </a:lnTo>
                  <a:lnTo>
                    <a:pt x="4508189" y="607"/>
                  </a:lnTo>
                  <a:lnTo>
                    <a:pt x="4498555" y="0"/>
                  </a:lnTo>
                  <a:close/>
                </a:path>
              </a:pathLst>
            </a:custGeom>
            <a:solidFill>
              <a:srgbClr val="1127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456844" y="1142646"/>
              <a:ext cx="4572000" cy="3108960"/>
            </a:xfrm>
            <a:custGeom>
              <a:avLst/>
              <a:gdLst/>
              <a:ahLst/>
              <a:cxnLst/>
              <a:rect l="l" t="t" r="r" b="b"/>
              <a:pathLst>
                <a:path w="4572000" h="3108960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4498555" y="0"/>
                  </a:lnTo>
                  <a:lnTo>
                    <a:pt x="4543083" y="15096"/>
                  </a:lnTo>
                  <a:lnTo>
                    <a:pt x="4569202" y="54219"/>
                  </a:lnTo>
                  <a:lnTo>
                    <a:pt x="4571631" y="73075"/>
                  </a:lnTo>
                  <a:lnTo>
                    <a:pt x="4572000" y="3035515"/>
                  </a:lnTo>
                  <a:lnTo>
                    <a:pt x="4571392" y="3045149"/>
                  </a:lnTo>
                  <a:lnTo>
                    <a:pt x="4569569" y="3054550"/>
                  </a:lnTo>
                  <a:lnTo>
                    <a:pt x="4543289" y="3093500"/>
                  </a:lnTo>
                  <a:lnTo>
                    <a:pt x="4498911" y="3108591"/>
                  </a:lnTo>
                  <a:lnTo>
                    <a:pt x="73075" y="3108959"/>
                  </a:lnTo>
                  <a:lnTo>
                    <a:pt x="28548" y="3093850"/>
                  </a:lnTo>
                  <a:lnTo>
                    <a:pt x="2428" y="3054727"/>
                  </a:lnTo>
                  <a:lnTo>
                    <a:pt x="0" y="3035871"/>
                  </a:lnTo>
                  <a:lnTo>
                    <a:pt x="0" y="73075"/>
                  </a:lnTo>
                  <a:close/>
                </a:path>
              </a:pathLst>
            </a:custGeom>
            <a:ln w="9359">
              <a:solidFill>
                <a:srgbClr val="23457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729803" y="1683361"/>
              <a:ext cx="54610" cy="2462530"/>
            </a:xfrm>
            <a:custGeom>
              <a:avLst/>
              <a:gdLst/>
              <a:ahLst/>
              <a:cxnLst/>
              <a:rect l="l" t="t" r="r" b="b"/>
              <a:pathLst>
                <a:path w="54610" h="2462529">
                  <a:moveTo>
                    <a:pt x="0" y="0"/>
                  </a:moveTo>
                  <a:lnTo>
                    <a:pt x="54000" y="0"/>
                  </a:lnTo>
                </a:path>
                <a:path w="54610" h="2462529">
                  <a:moveTo>
                    <a:pt x="0" y="615594"/>
                  </a:moveTo>
                  <a:lnTo>
                    <a:pt x="54000" y="615594"/>
                  </a:lnTo>
                </a:path>
                <a:path w="54610" h="2462529">
                  <a:moveTo>
                    <a:pt x="0" y="1230845"/>
                  </a:moveTo>
                  <a:lnTo>
                    <a:pt x="54000" y="1230845"/>
                  </a:lnTo>
                </a:path>
                <a:path w="54610" h="2462529">
                  <a:moveTo>
                    <a:pt x="0" y="1846440"/>
                  </a:moveTo>
                  <a:lnTo>
                    <a:pt x="54000" y="1846440"/>
                  </a:lnTo>
                </a:path>
                <a:path w="54610" h="2462529">
                  <a:moveTo>
                    <a:pt x="0" y="2462034"/>
                  </a:moveTo>
                  <a:lnTo>
                    <a:pt x="54000" y="2462034"/>
                  </a:lnTo>
                </a:path>
                <a:path w="54610" h="2462529">
                  <a:moveTo>
                    <a:pt x="54000" y="2462034"/>
                  </a:moveTo>
                  <a:lnTo>
                    <a:pt x="54000" y="0"/>
                  </a:lnTo>
                </a:path>
              </a:pathLst>
            </a:custGeom>
            <a:ln w="12598">
              <a:solidFill>
                <a:srgbClr val="87878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783803" y="1778764"/>
              <a:ext cx="2442845" cy="424815"/>
            </a:xfrm>
            <a:custGeom>
              <a:avLst/>
              <a:gdLst/>
              <a:ahLst/>
              <a:cxnLst/>
              <a:rect l="l" t="t" r="r" b="b"/>
              <a:pathLst>
                <a:path w="2442845" h="424814">
                  <a:moveTo>
                    <a:pt x="2442591" y="0"/>
                  </a:moveTo>
                  <a:lnTo>
                    <a:pt x="0" y="0"/>
                  </a:lnTo>
                  <a:lnTo>
                    <a:pt x="0" y="424434"/>
                  </a:lnTo>
                  <a:lnTo>
                    <a:pt x="2442591" y="424434"/>
                  </a:lnTo>
                  <a:lnTo>
                    <a:pt x="2442591" y="0"/>
                  </a:lnTo>
                  <a:close/>
                </a:path>
              </a:pathLst>
            </a:custGeom>
            <a:solidFill>
              <a:srgbClr val="2CD3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783803" y="2394358"/>
              <a:ext cx="2118995" cy="424180"/>
            </a:xfrm>
            <a:custGeom>
              <a:avLst/>
              <a:gdLst/>
              <a:ahLst/>
              <a:cxnLst/>
              <a:rect l="l" t="t" r="r" b="b"/>
              <a:pathLst>
                <a:path w="2118995" h="424180">
                  <a:moveTo>
                    <a:pt x="2118601" y="0"/>
                  </a:moveTo>
                  <a:lnTo>
                    <a:pt x="0" y="0"/>
                  </a:lnTo>
                  <a:lnTo>
                    <a:pt x="0" y="424078"/>
                  </a:lnTo>
                  <a:lnTo>
                    <a:pt x="2118601" y="424078"/>
                  </a:lnTo>
                  <a:lnTo>
                    <a:pt x="2118601" y="0"/>
                  </a:lnTo>
                  <a:close/>
                </a:path>
              </a:pathLst>
            </a:custGeom>
            <a:solidFill>
              <a:srgbClr val="37BC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783803" y="3009597"/>
              <a:ext cx="886460" cy="424815"/>
            </a:xfrm>
            <a:custGeom>
              <a:avLst/>
              <a:gdLst/>
              <a:ahLst/>
              <a:cxnLst/>
              <a:rect l="l" t="t" r="r" b="b"/>
              <a:pathLst>
                <a:path w="886460" h="424814">
                  <a:moveTo>
                    <a:pt x="885952" y="0"/>
                  </a:moveTo>
                  <a:lnTo>
                    <a:pt x="0" y="0"/>
                  </a:lnTo>
                  <a:lnTo>
                    <a:pt x="0" y="424446"/>
                  </a:lnTo>
                  <a:lnTo>
                    <a:pt x="885952" y="424446"/>
                  </a:lnTo>
                  <a:lnTo>
                    <a:pt x="885952" y="0"/>
                  </a:lnTo>
                  <a:close/>
                </a:path>
              </a:pathLst>
            </a:custGeom>
            <a:solidFill>
              <a:srgbClr val="F4B8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783803" y="3625204"/>
              <a:ext cx="374650" cy="424815"/>
            </a:xfrm>
            <a:custGeom>
              <a:avLst/>
              <a:gdLst/>
              <a:ahLst/>
              <a:cxnLst/>
              <a:rect l="l" t="t" r="r" b="b"/>
              <a:pathLst>
                <a:path w="374650" h="424814">
                  <a:moveTo>
                    <a:pt x="374040" y="0"/>
                  </a:moveTo>
                  <a:lnTo>
                    <a:pt x="0" y="0"/>
                  </a:lnTo>
                  <a:lnTo>
                    <a:pt x="0" y="424434"/>
                  </a:lnTo>
                  <a:lnTo>
                    <a:pt x="374040" y="424434"/>
                  </a:lnTo>
                  <a:lnTo>
                    <a:pt x="374040" y="0"/>
                  </a:lnTo>
                  <a:close/>
                </a:path>
              </a:pathLst>
            </a:custGeom>
            <a:solidFill>
              <a:srgbClr val="F7707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1453819" y="1331749"/>
            <a:ext cx="257111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Class</a:t>
            </a:r>
            <a:r>
              <a:rPr dirty="0" sz="1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distribution</a:t>
            </a:r>
            <a:r>
              <a:rPr dirty="0" sz="14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(19,937</a:t>
            </a:r>
            <a:r>
              <a:rPr dirty="0" sz="1400" spc="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samples)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3722" y="1878522"/>
            <a:ext cx="1078865" cy="2082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Excellent</a:t>
            </a:r>
            <a:r>
              <a:rPr dirty="0" sz="12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(42.0%)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49711" y="1878522"/>
            <a:ext cx="368935" cy="2082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8,366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207044" y="1138322"/>
            <a:ext cx="3484245" cy="969644"/>
            <a:chOff x="5207044" y="1138322"/>
            <a:chExt cx="3484245" cy="969644"/>
          </a:xfrm>
        </p:grpSpPr>
        <p:sp>
          <p:nvSpPr>
            <p:cNvPr id="21" name="object 21"/>
            <p:cNvSpPr/>
            <p:nvPr/>
          </p:nvSpPr>
          <p:spPr>
            <a:xfrm>
              <a:off x="5211724" y="1143002"/>
              <a:ext cx="3474720" cy="960119"/>
            </a:xfrm>
            <a:custGeom>
              <a:avLst/>
              <a:gdLst/>
              <a:ahLst/>
              <a:cxnLst/>
              <a:rect l="l" t="t" r="r" b="b"/>
              <a:pathLst>
                <a:path w="3474720" h="960119">
                  <a:moveTo>
                    <a:pt x="340127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887044"/>
                  </a:lnTo>
                  <a:lnTo>
                    <a:pt x="5412" y="914779"/>
                  </a:lnTo>
                  <a:lnTo>
                    <a:pt x="5464" y="914935"/>
                  </a:lnTo>
                  <a:lnTo>
                    <a:pt x="36360" y="950404"/>
                  </a:lnTo>
                  <a:lnTo>
                    <a:pt x="73075" y="960120"/>
                  </a:lnTo>
                  <a:lnTo>
                    <a:pt x="3401631" y="959764"/>
                  </a:lnTo>
                  <a:lnTo>
                    <a:pt x="3446009" y="944660"/>
                  </a:lnTo>
                  <a:lnTo>
                    <a:pt x="3469172" y="914935"/>
                  </a:lnTo>
                  <a:lnTo>
                    <a:pt x="3469249" y="914779"/>
                  </a:lnTo>
                  <a:lnTo>
                    <a:pt x="3474696" y="887044"/>
                  </a:lnTo>
                  <a:lnTo>
                    <a:pt x="3474719" y="886675"/>
                  </a:lnTo>
                  <a:lnTo>
                    <a:pt x="3474351" y="73075"/>
                  </a:lnTo>
                  <a:lnTo>
                    <a:pt x="3459260" y="28705"/>
                  </a:lnTo>
                  <a:lnTo>
                    <a:pt x="3420310" y="2428"/>
                  </a:lnTo>
                  <a:lnTo>
                    <a:pt x="3410909" y="607"/>
                  </a:lnTo>
                  <a:lnTo>
                    <a:pt x="3401275" y="0"/>
                  </a:lnTo>
                  <a:close/>
                </a:path>
              </a:pathLst>
            </a:custGeom>
            <a:solidFill>
              <a:srgbClr val="1127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5211724" y="1143002"/>
              <a:ext cx="3474720" cy="960119"/>
            </a:xfrm>
            <a:custGeom>
              <a:avLst/>
              <a:gdLst/>
              <a:ahLst/>
              <a:cxnLst/>
              <a:rect l="l" t="t" r="r" b="b"/>
              <a:pathLst>
                <a:path w="3474720" h="960119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3401275" y="0"/>
                  </a:lnTo>
                  <a:lnTo>
                    <a:pt x="3445803" y="15104"/>
                  </a:lnTo>
                  <a:lnTo>
                    <a:pt x="3471922" y="54224"/>
                  </a:lnTo>
                  <a:lnTo>
                    <a:pt x="3474351" y="73075"/>
                  </a:lnTo>
                  <a:lnTo>
                    <a:pt x="3474719" y="886675"/>
                  </a:lnTo>
                  <a:lnTo>
                    <a:pt x="3474112" y="896315"/>
                  </a:lnTo>
                  <a:lnTo>
                    <a:pt x="3472289" y="905716"/>
                  </a:lnTo>
                  <a:lnTo>
                    <a:pt x="3446009" y="944660"/>
                  </a:lnTo>
                  <a:lnTo>
                    <a:pt x="3401631" y="959764"/>
                  </a:lnTo>
                  <a:lnTo>
                    <a:pt x="73075" y="960120"/>
                  </a:lnTo>
                  <a:lnTo>
                    <a:pt x="28548" y="945015"/>
                  </a:lnTo>
                  <a:lnTo>
                    <a:pt x="2428" y="905895"/>
                  </a:lnTo>
                  <a:lnTo>
                    <a:pt x="0" y="887044"/>
                  </a:lnTo>
                  <a:lnTo>
                    <a:pt x="0" y="73075"/>
                  </a:lnTo>
                  <a:close/>
                </a:path>
              </a:pathLst>
            </a:custGeom>
            <a:ln w="9359">
              <a:solidFill>
                <a:srgbClr val="2345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5363895" y="1175790"/>
            <a:ext cx="2820035" cy="688975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 sz="1400" b="1">
                <a:solidFill>
                  <a:srgbClr val="2CD3BE"/>
                </a:solidFill>
                <a:latin typeface="Calibri"/>
                <a:cs typeface="Calibri"/>
              </a:rPr>
              <a:t>Class</a:t>
            </a:r>
            <a:r>
              <a:rPr dirty="0" sz="1400" spc="-35" b="1">
                <a:solidFill>
                  <a:srgbClr val="2CD3BE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2CD3BE"/>
                </a:solidFill>
                <a:latin typeface="Calibri"/>
                <a:cs typeface="Calibri"/>
              </a:rPr>
              <a:t>imbalance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204"/>
              </a:spcBef>
            </a:pPr>
            <a:r>
              <a:rPr dirty="0" sz="1300" spc="-10">
                <a:solidFill>
                  <a:srgbClr val="DBE6F2"/>
                </a:solidFill>
                <a:latin typeface="Calibri"/>
                <a:cs typeface="Calibri"/>
              </a:rPr>
              <a:t>Excellent</a:t>
            </a:r>
            <a:r>
              <a:rPr dirty="0" sz="1300" spc="-3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is</a:t>
            </a:r>
            <a:r>
              <a:rPr dirty="0" sz="1300" spc="-4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42.0%</a:t>
            </a:r>
            <a:r>
              <a:rPr dirty="0" sz="1300" spc="-4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of</a:t>
            </a:r>
            <a:r>
              <a:rPr dirty="0" sz="1300" spc="-4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samples;</a:t>
            </a:r>
            <a:r>
              <a:rPr dirty="0" sz="1300" spc="-3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Poor</a:t>
            </a:r>
            <a:r>
              <a:rPr dirty="0" sz="1300" spc="-3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is</a:t>
            </a:r>
            <a:r>
              <a:rPr dirty="0" sz="1300" spc="-4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DBE6F2"/>
                </a:solidFill>
                <a:latin typeface="Calibri"/>
                <a:cs typeface="Calibri"/>
              </a:rPr>
              <a:t>only 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6.4%</a:t>
            </a:r>
            <a:r>
              <a:rPr dirty="0" sz="1300" spc="-4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DBE6F2"/>
                </a:solidFill>
                <a:latin typeface="Calibri"/>
                <a:cs typeface="Calibri"/>
              </a:rPr>
              <a:t>(1,281).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42949" y="2494040"/>
            <a:ext cx="861060" cy="2082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20">
                <a:solidFill>
                  <a:srgbClr val="FFFFFF"/>
                </a:solidFill>
                <a:latin typeface="Calibri"/>
                <a:cs typeface="Calibri"/>
              </a:rPr>
              <a:t>Good</a:t>
            </a:r>
            <a:r>
              <a:rPr dirty="0" sz="12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(36.4%)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25735" y="2494040"/>
            <a:ext cx="368935" cy="2082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7,256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207044" y="2208246"/>
            <a:ext cx="3484245" cy="969644"/>
            <a:chOff x="5207044" y="2208246"/>
            <a:chExt cx="3484245" cy="969644"/>
          </a:xfrm>
        </p:grpSpPr>
        <p:sp>
          <p:nvSpPr>
            <p:cNvPr id="25" name="object 25"/>
            <p:cNvSpPr/>
            <p:nvPr/>
          </p:nvSpPr>
          <p:spPr>
            <a:xfrm>
              <a:off x="5211724" y="2212926"/>
              <a:ext cx="3474720" cy="960119"/>
            </a:xfrm>
            <a:custGeom>
              <a:avLst/>
              <a:gdLst/>
              <a:ahLst/>
              <a:cxnLst/>
              <a:rect l="l" t="t" r="r" b="b"/>
              <a:pathLst>
                <a:path w="3474720" h="960119">
                  <a:moveTo>
                    <a:pt x="340127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887031"/>
                  </a:lnTo>
                  <a:lnTo>
                    <a:pt x="5412" y="914772"/>
                  </a:lnTo>
                  <a:lnTo>
                    <a:pt x="5464" y="914927"/>
                  </a:lnTo>
                  <a:lnTo>
                    <a:pt x="36360" y="950391"/>
                  </a:lnTo>
                  <a:lnTo>
                    <a:pt x="73075" y="960119"/>
                  </a:lnTo>
                  <a:lnTo>
                    <a:pt x="3401631" y="959751"/>
                  </a:lnTo>
                  <a:lnTo>
                    <a:pt x="3446009" y="944660"/>
                  </a:lnTo>
                  <a:lnTo>
                    <a:pt x="3472229" y="905887"/>
                  </a:lnTo>
                  <a:lnTo>
                    <a:pt x="3474073" y="896509"/>
                  </a:lnTo>
                  <a:lnTo>
                    <a:pt x="3474112" y="896309"/>
                  </a:lnTo>
                  <a:lnTo>
                    <a:pt x="3474697" y="887031"/>
                  </a:lnTo>
                  <a:lnTo>
                    <a:pt x="3474719" y="886675"/>
                  </a:lnTo>
                  <a:lnTo>
                    <a:pt x="3474351" y="73075"/>
                  </a:lnTo>
                  <a:lnTo>
                    <a:pt x="3459260" y="28698"/>
                  </a:lnTo>
                  <a:lnTo>
                    <a:pt x="3420310" y="2428"/>
                  </a:lnTo>
                  <a:lnTo>
                    <a:pt x="3410909" y="607"/>
                  </a:lnTo>
                  <a:lnTo>
                    <a:pt x="3401275" y="0"/>
                  </a:lnTo>
                  <a:close/>
                </a:path>
              </a:pathLst>
            </a:custGeom>
            <a:solidFill>
              <a:srgbClr val="1127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5211724" y="2212926"/>
              <a:ext cx="3474720" cy="960119"/>
            </a:xfrm>
            <a:custGeom>
              <a:avLst/>
              <a:gdLst/>
              <a:ahLst/>
              <a:cxnLst/>
              <a:rect l="l" t="t" r="r" b="b"/>
              <a:pathLst>
                <a:path w="3474720" h="960119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3401275" y="0"/>
                  </a:lnTo>
                  <a:lnTo>
                    <a:pt x="3445803" y="15096"/>
                  </a:lnTo>
                  <a:lnTo>
                    <a:pt x="3471922" y="54219"/>
                  </a:lnTo>
                  <a:lnTo>
                    <a:pt x="3474351" y="73075"/>
                  </a:lnTo>
                  <a:lnTo>
                    <a:pt x="3474719" y="886675"/>
                  </a:lnTo>
                  <a:lnTo>
                    <a:pt x="3474112" y="896309"/>
                  </a:lnTo>
                  <a:lnTo>
                    <a:pt x="3472289" y="905710"/>
                  </a:lnTo>
                  <a:lnTo>
                    <a:pt x="3446009" y="944660"/>
                  </a:lnTo>
                  <a:lnTo>
                    <a:pt x="3401631" y="959751"/>
                  </a:lnTo>
                  <a:lnTo>
                    <a:pt x="73075" y="960119"/>
                  </a:lnTo>
                  <a:lnTo>
                    <a:pt x="28548" y="945010"/>
                  </a:lnTo>
                  <a:lnTo>
                    <a:pt x="2428" y="905887"/>
                  </a:lnTo>
                  <a:lnTo>
                    <a:pt x="0" y="887031"/>
                  </a:lnTo>
                  <a:lnTo>
                    <a:pt x="0" y="73075"/>
                  </a:lnTo>
                  <a:close/>
                </a:path>
              </a:pathLst>
            </a:custGeom>
            <a:ln w="9359">
              <a:solidFill>
                <a:srgbClr val="2345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5363895" y="2245713"/>
            <a:ext cx="2934970" cy="887094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 sz="1400" b="1">
                <a:solidFill>
                  <a:srgbClr val="2CD3BE"/>
                </a:solidFill>
                <a:latin typeface="Calibri"/>
                <a:cs typeface="Calibri"/>
              </a:rPr>
              <a:t>RSSI</a:t>
            </a:r>
            <a:r>
              <a:rPr dirty="0" sz="1400" spc="-35" b="1">
                <a:solidFill>
                  <a:srgbClr val="2CD3BE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2CD3BE"/>
                </a:solidFill>
                <a:latin typeface="Calibri"/>
                <a:cs typeface="Calibri"/>
              </a:rPr>
              <a:t>and</a:t>
            </a:r>
            <a:r>
              <a:rPr dirty="0" sz="1400" spc="-25" b="1">
                <a:solidFill>
                  <a:srgbClr val="2CD3BE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2CD3BE"/>
                </a:solidFill>
                <a:latin typeface="Calibri"/>
                <a:cs typeface="Calibri"/>
              </a:rPr>
              <a:t>access</a:t>
            </a:r>
            <a:r>
              <a:rPr dirty="0" sz="1400" spc="-20" b="1">
                <a:solidFill>
                  <a:srgbClr val="2CD3BE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2CD3BE"/>
                </a:solidFill>
                <a:latin typeface="Calibri"/>
                <a:cs typeface="Calibri"/>
              </a:rPr>
              <a:t>points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204"/>
              </a:spcBef>
            </a:pPr>
            <a:r>
              <a:rPr dirty="0" sz="1300" spc="-30">
                <a:solidFill>
                  <a:srgbClr val="DBE6F2"/>
                </a:solidFill>
                <a:latin typeface="Calibri"/>
                <a:cs typeface="Calibri"/>
              </a:rPr>
              <a:t>Not-</a:t>
            </a:r>
            <a:r>
              <a:rPr dirty="0" sz="1300" spc="-10">
                <a:solidFill>
                  <a:srgbClr val="DBE6F2"/>
                </a:solidFill>
                <a:latin typeface="Calibri"/>
                <a:cs typeface="Calibri"/>
              </a:rPr>
              <a:t>detected</a:t>
            </a:r>
            <a:r>
              <a:rPr dirty="0" sz="1300" spc="-3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DBE6F2"/>
                </a:solidFill>
                <a:latin typeface="Calibri"/>
                <a:cs typeface="Calibri"/>
              </a:rPr>
              <a:t>WAPs</a:t>
            </a:r>
            <a:r>
              <a:rPr dirty="0" sz="1300" spc="-3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are</a:t>
            </a:r>
            <a:r>
              <a:rPr dirty="0" sz="1300" spc="-3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DBE6F2"/>
                </a:solidFill>
                <a:latin typeface="Calibri"/>
                <a:cs typeface="Calibri"/>
              </a:rPr>
              <a:t>stored</a:t>
            </a:r>
            <a:r>
              <a:rPr dirty="0" sz="1300" spc="-3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as</a:t>
            </a:r>
            <a:r>
              <a:rPr dirty="0" sz="1300" spc="-3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100</a:t>
            </a:r>
            <a:r>
              <a:rPr dirty="0" sz="1300" spc="-3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DBE6F2"/>
                </a:solidFill>
                <a:latin typeface="Calibri"/>
                <a:cs typeface="Calibri"/>
              </a:rPr>
              <a:t>(−100 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dBm).</a:t>
            </a:r>
            <a:r>
              <a:rPr dirty="0" sz="1300" spc="-3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55</a:t>
            </a:r>
            <a:r>
              <a:rPr dirty="0" sz="1300" spc="-2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of</a:t>
            </a:r>
            <a:r>
              <a:rPr dirty="0" sz="1300" spc="-3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up</a:t>
            </a:r>
            <a:r>
              <a:rPr dirty="0" sz="1300" spc="-3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to</a:t>
            </a:r>
            <a:r>
              <a:rPr dirty="0" sz="1300" spc="-3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520</a:t>
            </a:r>
            <a:r>
              <a:rPr dirty="0" sz="1300" spc="-3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DBE6F2"/>
                </a:solidFill>
                <a:latin typeface="Calibri"/>
                <a:cs typeface="Calibri"/>
              </a:rPr>
              <a:t>WAP</a:t>
            </a:r>
            <a:r>
              <a:rPr dirty="0" sz="1300" spc="-3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DBE6F2"/>
                </a:solidFill>
                <a:latin typeface="Calibri"/>
                <a:cs typeface="Calibri"/>
              </a:rPr>
              <a:t>columns</a:t>
            </a:r>
            <a:r>
              <a:rPr dirty="0" sz="1300" spc="-3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 spc="-25">
                <a:solidFill>
                  <a:srgbClr val="DBE6F2"/>
                </a:solidFill>
                <a:latin typeface="Calibri"/>
                <a:cs typeface="Calibri"/>
              </a:rPr>
              <a:t>are </a:t>
            </a:r>
            <a:r>
              <a:rPr dirty="0" sz="1300" spc="-10">
                <a:solidFill>
                  <a:srgbClr val="DBE6F2"/>
                </a:solidFill>
                <a:latin typeface="Calibri"/>
                <a:cs typeface="Calibri"/>
              </a:rPr>
              <a:t>constant,</a:t>
            </a:r>
            <a:r>
              <a:rPr dirty="0" sz="1300" spc="-4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so</a:t>
            </a:r>
            <a:r>
              <a:rPr dirty="0" sz="1300" spc="-4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465</a:t>
            </a:r>
            <a:r>
              <a:rPr dirty="0" sz="1300" spc="-4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are</a:t>
            </a:r>
            <a:r>
              <a:rPr dirty="0" sz="1300" spc="-3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DBE6F2"/>
                </a:solidFill>
                <a:latin typeface="Calibri"/>
                <a:cs typeface="Calibri"/>
              </a:rPr>
              <a:t>kept.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47699" y="3109571"/>
            <a:ext cx="756285" cy="2082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Fair</a:t>
            </a:r>
            <a:r>
              <a:rPr dirty="0" sz="12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(15.2%)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692844" y="3109571"/>
            <a:ext cx="368935" cy="2082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3,034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66774" y="3725102"/>
            <a:ext cx="737235" cy="2082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Poor</a:t>
            </a:r>
            <a:r>
              <a:rPr dirty="0" sz="12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(6.4%)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180958" y="3725102"/>
            <a:ext cx="368935" cy="2082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1,281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5207044" y="3278157"/>
            <a:ext cx="3484245" cy="969644"/>
            <a:chOff x="5207044" y="3278157"/>
            <a:chExt cx="3484245" cy="969644"/>
          </a:xfrm>
        </p:grpSpPr>
        <p:sp>
          <p:nvSpPr>
            <p:cNvPr id="29" name="object 29"/>
            <p:cNvSpPr/>
            <p:nvPr/>
          </p:nvSpPr>
          <p:spPr>
            <a:xfrm>
              <a:off x="5211724" y="3282837"/>
              <a:ext cx="3474720" cy="960119"/>
            </a:xfrm>
            <a:custGeom>
              <a:avLst/>
              <a:gdLst/>
              <a:ahLst/>
              <a:cxnLst/>
              <a:rect l="l" t="t" r="r" b="b"/>
              <a:pathLst>
                <a:path w="3474720" h="960120">
                  <a:moveTo>
                    <a:pt x="340127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7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887044"/>
                  </a:lnTo>
                  <a:lnTo>
                    <a:pt x="594" y="896320"/>
                  </a:lnTo>
                  <a:lnTo>
                    <a:pt x="607" y="896522"/>
                  </a:lnTo>
                  <a:lnTo>
                    <a:pt x="2393" y="905717"/>
                  </a:lnTo>
                  <a:lnTo>
                    <a:pt x="2428" y="905900"/>
                  </a:lnTo>
                  <a:lnTo>
                    <a:pt x="5410" y="914779"/>
                  </a:lnTo>
                  <a:lnTo>
                    <a:pt x="36360" y="950404"/>
                  </a:lnTo>
                  <a:lnTo>
                    <a:pt x="73075" y="960120"/>
                  </a:lnTo>
                  <a:lnTo>
                    <a:pt x="3401631" y="959764"/>
                  </a:lnTo>
                  <a:lnTo>
                    <a:pt x="3446009" y="944665"/>
                  </a:lnTo>
                  <a:lnTo>
                    <a:pt x="3469170" y="914940"/>
                  </a:lnTo>
                  <a:lnTo>
                    <a:pt x="3469249" y="914779"/>
                  </a:lnTo>
                  <a:lnTo>
                    <a:pt x="3472228" y="905900"/>
                  </a:lnTo>
                  <a:lnTo>
                    <a:pt x="3472289" y="905717"/>
                  </a:lnTo>
                  <a:lnTo>
                    <a:pt x="3474073" y="896522"/>
                  </a:lnTo>
                  <a:lnTo>
                    <a:pt x="3474112" y="896320"/>
                  </a:lnTo>
                  <a:lnTo>
                    <a:pt x="3474697" y="887044"/>
                  </a:lnTo>
                  <a:lnTo>
                    <a:pt x="3474719" y="886688"/>
                  </a:lnTo>
                  <a:lnTo>
                    <a:pt x="3474351" y="73088"/>
                  </a:lnTo>
                  <a:lnTo>
                    <a:pt x="3459260" y="28710"/>
                  </a:lnTo>
                  <a:lnTo>
                    <a:pt x="3420310" y="2430"/>
                  </a:lnTo>
                  <a:lnTo>
                    <a:pt x="3410909" y="607"/>
                  </a:lnTo>
                  <a:lnTo>
                    <a:pt x="3401275" y="0"/>
                  </a:lnTo>
                  <a:close/>
                </a:path>
              </a:pathLst>
            </a:custGeom>
            <a:solidFill>
              <a:srgbClr val="1127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5211724" y="3282837"/>
              <a:ext cx="3474720" cy="960119"/>
            </a:xfrm>
            <a:custGeom>
              <a:avLst/>
              <a:gdLst/>
              <a:ahLst/>
              <a:cxnLst/>
              <a:rect l="l" t="t" r="r" b="b"/>
              <a:pathLst>
                <a:path w="3474720" h="960120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698" y="15103"/>
                  </a:lnTo>
                  <a:lnTo>
                    <a:pt x="73075" y="0"/>
                  </a:lnTo>
                  <a:lnTo>
                    <a:pt x="3401275" y="0"/>
                  </a:lnTo>
                  <a:lnTo>
                    <a:pt x="3445803" y="15109"/>
                  </a:lnTo>
                  <a:lnTo>
                    <a:pt x="3471922" y="54232"/>
                  </a:lnTo>
                  <a:lnTo>
                    <a:pt x="3474351" y="73088"/>
                  </a:lnTo>
                  <a:lnTo>
                    <a:pt x="3474719" y="886688"/>
                  </a:lnTo>
                  <a:lnTo>
                    <a:pt x="3474112" y="896320"/>
                  </a:lnTo>
                  <a:lnTo>
                    <a:pt x="3472289" y="905717"/>
                  </a:lnTo>
                  <a:lnTo>
                    <a:pt x="3446009" y="944665"/>
                  </a:lnTo>
                  <a:lnTo>
                    <a:pt x="3401631" y="959764"/>
                  </a:lnTo>
                  <a:lnTo>
                    <a:pt x="73075" y="960120"/>
                  </a:lnTo>
                  <a:lnTo>
                    <a:pt x="28548" y="945023"/>
                  </a:lnTo>
                  <a:lnTo>
                    <a:pt x="2428" y="905900"/>
                  </a:lnTo>
                  <a:lnTo>
                    <a:pt x="0" y="887044"/>
                  </a:lnTo>
                  <a:lnTo>
                    <a:pt x="0" y="73088"/>
                  </a:lnTo>
                  <a:close/>
                </a:path>
              </a:pathLst>
            </a:custGeom>
            <a:ln w="9359">
              <a:solidFill>
                <a:srgbClr val="2345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5363895" y="3315638"/>
            <a:ext cx="2987040" cy="688975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 sz="1400" b="1">
                <a:solidFill>
                  <a:srgbClr val="2CD3BE"/>
                </a:solidFill>
                <a:latin typeface="Calibri"/>
                <a:cs typeface="Calibri"/>
              </a:rPr>
              <a:t>Clients</a:t>
            </a:r>
            <a:r>
              <a:rPr dirty="0" sz="1400" spc="-50" b="1">
                <a:solidFill>
                  <a:srgbClr val="2CD3BE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2CD3BE"/>
                </a:solidFill>
                <a:latin typeface="Calibri"/>
                <a:cs typeface="Calibri"/>
              </a:rPr>
              <a:t>differ</a:t>
            </a:r>
            <a:r>
              <a:rPr dirty="0" sz="1400" spc="-50" b="1">
                <a:solidFill>
                  <a:srgbClr val="2CD3BE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2CD3BE"/>
                </a:solidFill>
                <a:latin typeface="Calibri"/>
                <a:cs typeface="Calibri"/>
              </a:rPr>
              <a:t>(non-</a:t>
            </a:r>
            <a:r>
              <a:rPr dirty="0" sz="1400" spc="-20" b="1">
                <a:solidFill>
                  <a:srgbClr val="2CD3BE"/>
                </a:solidFill>
                <a:latin typeface="Calibri"/>
                <a:cs typeface="Calibri"/>
              </a:rPr>
              <a:t>IID)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204"/>
              </a:spcBef>
            </a:pP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The</a:t>
            </a:r>
            <a:r>
              <a:rPr dirty="0" sz="1300" spc="-4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16</a:t>
            </a:r>
            <a:r>
              <a:rPr dirty="0" sz="1300" spc="-4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PHONEID</a:t>
            </a:r>
            <a:r>
              <a:rPr dirty="0" sz="1300" spc="-3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DBE6F2"/>
                </a:solidFill>
                <a:latin typeface="Calibri"/>
                <a:cs typeface="Calibri"/>
              </a:rPr>
              <a:t>groups</a:t>
            </a:r>
            <a:r>
              <a:rPr dirty="0" sz="1300" spc="-4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DBE6F2"/>
                </a:solidFill>
                <a:latin typeface="Calibri"/>
                <a:cs typeface="Calibri"/>
              </a:rPr>
              <a:t>differ</a:t>
            </a:r>
            <a:r>
              <a:rPr dirty="0" sz="1300" spc="-4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in</a:t>
            </a:r>
            <a:r>
              <a:rPr dirty="0" sz="1300" spc="-4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sample</a:t>
            </a:r>
            <a:r>
              <a:rPr dirty="0" sz="1300" spc="-4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DBE6F2"/>
                </a:solidFill>
                <a:latin typeface="Calibri"/>
                <a:cs typeface="Calibri"/>
              </a:rPr>
              <a:t>size 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and</a:t>
            </a:r>
            <a:r>
              <a:rPr dirty="0" sz="1300" spc="-4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in</a:t>
            </a:r>
            <a:r>
              <a:rPr dirty="0" sz="1300" spc="-3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class</a:t>
            </a:r>
            <a:r>
              <a:rPr dirty="0" sz="1300" spc="-3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DBE6F2"/>
                </a:solidFill>
                <a:latin typeface="Calibri"/>
                <a:cs typeface="Calibri"/>
              </a:rPr>
              <a:t>mix.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44144" y="4487305"/>
            <a:ext cx="478472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8EA2BE"/>
                </a:solidFill>
                <a:latin typeface="Calibri"/>
                <a:cs typeface="Calibri"/>
              </a:rPr>
              <a:t>Sources: UJIIndoorLoc</a:t>
            </a:r>
            <a:r>
              <a:rPr dirty="0" sz="1000" spc="-5">
                <a:solidFill>
                  <a:srgbClr val="8EA2BE"/>
                </a:solidFill>
                <a:latin typeface="Calibri"/>
                <a:cs typeface="Calibri"/>
              </a:rPr>
              <a:t> </a:t>
            </a:r>
            <a:r>
              <a:rPr dirty="0" sz="1000" spc="-25">
                <a:solidFill>
                  <a:srgbClr val="8EA2BE"/>
                </a:solidFill>
                <a:latin typeface="Calibri"/>
                <a:cs typeface="Calibri"/>
              </a:rPr>
              <a:t>(Torres-</a:t>
            </a:r>
            <a:r>
              <a:rPr dirty="0" sz="1000" spc="-10">
                <a:solidFill>
                  <a:srgbClr val="8EA2BE"/>
                </a:solidFill>
                <a:latin typeface="Calibri"/>
                <a:cs typeface="Calibri"/>
              </a:rPr>
              <a:t>Sospedra</a:t>
            </a:r>
            <a:r>
              <a:rPr dirty="0" sz="1000" spc="-15">
                <a:solidFill>
                  <a:srgbClr val="8EA2BE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8EA2BE"/>
                </a:solidFill>
                <a:latin typeface="Calibri"/>
                <a:cs typeface="Calibri"/>
              </a:rPr>
              <a:t>et al.,</a:t>
            </a:r>
            <a:r>
              <a:rPr dirty="0" sz="1000" spc="-5">
                <a:solidFill>
                  <a:srgbClr val="8EA2BE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8EA2BE"/>
                </a:solidFill>
                <a:latin typeface="Calibri"/>
                <a:cs typeface="Calibri"/>
              </a:rPr>
              <a:t>2014);</a:t>
            </a:r>
            <a:r>
              <a:rPr dirty="0" sz="1000" spc="-5">
                <a:solidFill>
                  <a:srgbClr val="8EA2BE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8EA2BE"/>
                </a:solidFill>
                <a:latin typeface="Calibri"/>
                <a:cs typeface="Calibri"/>
              </a:rPr>
              <a:t>class</a:t>
            </a:r>
            <a:r>
              <a:rPr dirty="0" sz="1000" spc="-10">
                <a:solidFill>
                  <a:srgbClr val="8EA2BE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8EA2BE"/>
                </a:solidFill>
                <a:latin typeface="Calibri"/>
                <a:cs typeface="Calibri"/>
              </a:rPr>
              <a:t>counts </a:t>
            </a:r>
            <a:r>
              <a:rPr dirty="0" sz="1000" spc="-10">
                <a:solidFill>
                  <a:srgbClr val="8EA2BE"/>
                </a:solidFill>
                <a:latin typeface="Calibri"/>
                <a:cs typeface="Calibri"/>
              </a:rPr>
              <a:t>from </a:t>
            </a:r>
            <a:r>
              <a:rPr dirty="0" sz="1000">
                <a:solidFill>
                  <a:srgbClr val="8EA2BE"/>
                </a:solidFill>
                <a:latin typeface="Calibri"/>
                <a:cs typeface="Calibri"/>
              </a:rPr>
              <a:t>this</a:t>
            </a:r>
            <a:r>
              <a:rPr dirty="0" sz="1000" spc="-15">
                <a:solidFill>
                  <a:srgbClr val="8EA2BE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8EA2BE"/>
                </a:solidFill>
                <a:latin typeface="Calibri"/>
                <a:cs typeface="Calibri"/>
              </a:rPr>
              <a:t>project's</a:t>
            </a:r>
            <a:r>
              <a:rPr dirty="0" sz="1000" spc="5">
                <a:solidFill>
                  <a:srgbClr val="8EA2BE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8EA2BE"/>
                </a:solidFill>
                <a:latin typeface="Calibri"/>
                <a:cs typeface="Calibri"/>
              </a:rPr>
              <a:t>analysis.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KLH</a:t>
            </a:r>
            <a:r>
              <a:rPr dirty="0" spc="-35"/>
              <a:t> </a:t>
            </a:r>
            <a:r>
              <a:rPr dirty="0"/>
              <a:t>University</a:t>
            </a:r>
            <a:r>
              <a:rPr dirty="0" spc="175"/>
              <a:t> </a:t>
            </a:r>
            <a:r>
              <a:rPr dirty="0"/>
              <a:t>|</a:t>
            </a:r>
            <a:r>
              <a:rPr dirty="0" spc="175"/>
              <a:t> </a:t>
            </a:r>
            <a:r>
              <a:rPr dirty="0"/>
              <a:t>Dept.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ECE</a:t>
            </a:r>
            <a:r>
              <a:rPr dirty="0" spc="170"/>
              <a:t> </a:t>
            </a:r>
            <a:r>
              <a:rPr dirty="0"/>
              <a:t>|</a:t>
            </a:r>
            <a:r>
              <a:rPr dirty="0" spc="175"/>
              <a:t> </a:t>
            </a:r>
            <a:r>
              <a:rPr dirty="0"/>
              <a:t>Machine</a:t>
            </a:r>
            <a:r>
              <a:rPr dirty="0" spc="-25"/>
              <a:t> </a:t>
            </a:r>
            <a:r>
              <a:rPr dirty="0"/>
              <a:t>Learning</a:t>
            </a:r>
            <a:r>
              <a:rPr dirty="0" spc="-25"/>
              <a:t> </a:t>
            </a:r>
            <a:r>
              <a:rPr dirty="0" spc="-10"/>
              <a:t>(25SC2107E)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749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Preprocessing</a:t>
            </a:r>
            <a:r>
              <a:rPr dirty="0" spc="-65"/>
              <a:t> </a:t>
            </a:r>
            <a:r>
              <a:rPr dirty="0"/>
              <a:t>and</a:t>
            </a:r>
            <a:r>
              <a:rPr dirty="0" spc="-55"/>
              <a:t> </a:t>
            </a:r>
            <a:r>
              <a:rPr dirty="0" spc="-20"/>
              <a:t>Feature</a:t>
            </a:r>
            <a:r>
              <a:rPr dirty="0" spc="-55"/>
              <a:t> </a:t>
            </a:r>
            <a:r>
              <a:rPr dirty="0" spc="-10"/>
              <a:t>Engineering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2164" y="1184042"/>
            <a:ext cx="8238959" cy="197531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53935" y="1349173"/>
            <a:ext cx="747395" cy="568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9539">
              <a:lnSpc>
                <a:spcPct val="100000"/>
              </a:lnSpc>
              <a:spcBef>
                <a:spcPts val="100"/>
              </a:spcBef>
            </a:pPr>
            <a:r>
              <a:rPr dirty="0" sz="1200" spc="-50" b="1">
                <a:solidFill>
                  <a:srgbClr val="09182F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Load</a:t>
            </a:r>
            <a:r>
              <a:rPr dirty="0" sz="14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45575" y="1349173"/>
            <a:ext cx="1181735" cy="568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9539">
              <a:lnSpc>
                <a:spcPct val="100000"/>
              </a:lnSpc>
              <a:spcBef>
                <a:spcPts val="100"/>
              </a:spcBef>
            </a:pPr>
            <a:r>
              <a:rPr dirty="0" sz="1200" spc="-50" b="1">
                <a:solidFill>
                  <a:srgbClr val="09182F"/>
                </a:solidFill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Fix</a:t>
            </a:r>
            <a:r>
              <a:rPr dirty="0" sz="14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missing</a:t>
            </a:r>
            <a:r>
              <a:rPr dirty="0" sz="14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solidFill>
                  <a:srgbClr val="FFFFFF"/>
                </a:solidFill>
                <a:latin typeface="Calibri"/>
                <a:cs typeface="Calibri"/>
              </a:rPr>
              <a:t>RSSI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3935" y="2200213"/>
            <a:ext cx="114554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DBE6F2"/>
                </a:solidFill>
                <a:latin typeface="Calibri"/>
                <a:cs typeface="Calibri"/>
              </a:rPr>
              <a:t>trainingData.csv </a:t>
            </a:r>
            <a:r>
              <a:rPr dirty="0" sz="1200" spc="-25">
                <a:solidFill>
                  <a:srgbClr val="DBE6F2"/>
                </a:solidFill>
                <a:latin typeface="Calibri"/>
                <a:cs typeface="Calibri"/>
              </a:rPr>
              <a:t>and </a:t>
            </a:r>
            <a:r>
              <a:rPr dirty="0" sz="1200" spc="-10">
                <a:solidFill>
                  <a:srgbClr val="DBE6F2"/>
                </a:solidFill>
                <a:latin typeface="Calibri"/>
                <a:cs typeface="Calibri"/>
              </a:rPr>
              <a:t>validationData.csv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45575" y="2200213"/>
            <a:ext cx="124142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DBE6F2"/>
                </a:solidFill>
                <a:latin typeface="Calibri"/>
                <a:cs typeface="Calibri"/>
              </a:rPr>
              <a:t>Sentinel</a:t>
            </a:r>
            <a:r>
              <a:rPr dirty="0" sz="1200" spc="-6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DBE6F2"/>
                </a:solidFill>
                <a:latin typeface="Calibri"/>
                <a:cs typeface="Calibri"/>
              </a:rPr>
              <a:t>value</a:t>
            </a:r>
            <a:r>
              <a:rPr dirty="0" sz="1200" spc="-5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DBE6F2"/>
                </a:solidFill>
                <a:latin typeface="Calibri"/>
                <a:cs typeface="Calibri"/>
              </a:rPr>
              <a:t>100 </a:t>
            </a:r>
            <a:r>
              <a:rPr dirty="0" sz="1200">
                <a:solidFill>
                  <a:srgbClr val="DBE6F2"/>
                </a:solidFill>
                <a:latin typeface="Calibri"/>
                <a:cs typeface="Calibri"/>
              </a:rPr>
              <a:t>(not</a:t>
            </a:r>
            <a:r>
              <a:rPr dirty="0" sz="1200" spc="-3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DBE6F2"/>
                </a:solidFill>
                <a:latin typeface="Calibri"/>
                <a:cs typeface="Calibri"/>
              </a:rPr>
              <a:t>detected) becomes</a:t>
            </a:r>
            <a:r>
              <a:rPr dirty="0" sz="1200" spc="-3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DBE6F2"/>
                </a:solidFill>
                <a:latin typeface="Calibri"/>
                <a:cs typeface="Calibri"/>
              </a:rPr>
              <a:t>−100</a:t>
            </a:r>
            <a:r>
              <a:rPr dirty="0" sz="1200" spc="-25">
                <a:solidFill>
                  <a:srgbClr val="DBE6F2"/>
                </a:solidFill>
                <a:latin typeface="Calibri"/>
                <a:cs typeface="Calibri"/>
              </a:rPr>
              <a:t> dBm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37215" y="1349173"/>
            <a:ext cx="1117600" cy="142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9539">
              <a:lnSpc>
                <a:spcPct val="100000"/>
              </a:lnSpc>
              <a:spcBef>
                <a:spcPts val="100"/>
              </a:spcBef>
            </a:pPr>
            <a:r>
              <a:rPr dirty="0" sz="1200" spc="-50" b="1">
                <a:solidFill>
                  <a:srgbClr val="09182F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  <a:p>
            <a:pPr marL="12700" marR="53975">
              <a:lnSpc>
                <a:spcPct val="100000"/>
              </a:lnSpc>
              <a:spcBef>
                <a:spcPts val="1155"/>
              </a:spcBef>
            </a:pP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Drop</a:t>
            </a:r>
            <a:r>
              <a:rPr dirty="0" sz="14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constant columns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745"/>
              </a:spcBef>
            </a:pPr>
            <a:r>
              <a:rPr dirty="0" sz="1200">
                <a:solidFill>
                  <a:srgbClr val="DBE6F2"/>
                </a:solidFill>
                <a:latin typeface="Calibri"/>
                <a:cs typeface="Calibri"/>
              </a:rPr>
              <a:t>55</a:t>
            </a:r>
            <a:r>
              <a:rPr dirty="0" sz="1200" spc="-4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DBE6F2"/>
                </a:solidFill>
                <a:latin typeface="Calibri"/>
                <a:cs typeface="Calibri"/>
              </a:rPr>
              <a:t>columns</a:t>
            </a:r>
            <a:r>
              <a:rPr dirty="0" sz="1200" spc="-4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DBE6F2"/>
                </a:solidFill>
                <a:latin typeface="Calibri"/>
                <a:cs typeface="Calibri"/>
              </a:rPr>
              <a:t>never </a:t>
            </a:r>
            <a:r>
              <a:rPr dirty="0" sz="1200">
                <a:solidFill>
                  <a:srgbClr val="DBE6F2"/>
                </a:solidFill>
                <a:latin typeface="Calibri"/>
                <a:cs typeface="Calibri"/>
              </a:rPr>
              <a:t>change,</a:t>
            </a:r>
            <a:r>
              <a:rPr dirty="0" sz="1200" spc="-5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DBE6F2"/>
                </a:solidFill>
                <a:latin typeface="Calibri"/>
                <a:cs typeface="Calibri"/>
              </a:rPr>
              <a:t>so</a:t>
            </a:r>
            <a:r>
              <a:rPr dirty="0" sz="1200" spc="-3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DBE6F2"/>
                </a:solidFill>
                <a:latin typeface="Calibri"/>
                <a:cs typeface="Calibri"/>
              </a:rPr>
              <a:t>they </a:t>
            </a:r>
            <a:r>
              <a:rPr dirty="0" sz="1200">
                <a:solidFill>
                  <a:srgbClr val="DBE6F2"/>
                </a:solidFill>
                <a:latin typeface="Calibri"/>
                <a:cs typeface="Calibri"/>
              </a:rPr>
              <a:t>carry</a:t>
            </a:r>
            <a:r>
              <a:rPr dirty="0" sz="1200" spc="-2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DBE6F2"/>
                </a:solidFill>
                <a:latin typeface="Calibri"/>
                <a:cs typeface="Calibri"/>
              </a:rPr>
              <a:t>no</a:t>
            </a:r>
            <a:r>
              <a:rPr dirty="0" sz="1200" spc="-10">
                <a:solidFill>
                  <a:srgbClr val="DBE6F2"/>
                </a:solidFill>
                <a:latin typeface="Calibri"/>
                <a:cs typeface="Calibri"/>
              </a:rPr>
              <a:t> signal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628856" y="1349173"/>
            <a:ext cx="1077595" cy="142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9539">
              <a:lnSpc>
                <a:spcPct val="100000"/>
              </a:lnSpc>
              <a:spcBef>
                <a:spcPts val="100"/>
              </a:spcBef>
            </a:pPr>
            <a:r>
              <a:rPr dirty="0" sz="1200" spc="-50" b="1">
                <a:solidFill>
                  <a:srgbClr val="09182F"/>
                </a:solidFill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  <a:p>
            <a:pPr marL="12700" marR="26034">
              <a:lnSpc>
                <a:spcPct val="100000"/>
              </a:lnSpc>
              <a:spcBef>
                <a:spcPts val="1155"/>
              </a:spcBef>
            </a:pP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Add</a:t>
            </a:r>
            <a:r>
              <a:rPr dirty="0" sz="14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summary features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745"/>
              </a:spcBef>
            </a:pPr>
            <a:r>
              <a:rPr dirty="0" sz="1200">
                <a:solidFill>
                  <a:srgbClr val="DBE6F2"/>
                </a:solidFill>
                <a:latin typeface="Calibri"/>
                <a:cs typeface="Calibri"/>
              </a:rPr>
              <a:t>Seven</a:t>
            </a:r>
            <a:r>
              <a:rPr dirty="0" sz="1200" spc="-5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DBE6F2"/>
                </a:solidFill>
                <a:latin typeface="Calibri"/>
                <a:cs typeface="Calibri"/>
              </a:rPr>
              <a:t>summary </a:t>
            </a:r>
            <a:r>
              <a:rPr dirty="0" sz="1200">
                <a:solidFill>
                  <a:srgbClr val="DBE6F2"/>
                </a:solidFill>
                <a:latin typeface="Calibri"/>
                <a:cs typeface="Calibri"/>
              </a:rPr>
              <a:t>values</a:t>
            </a:r>
            <a:r>
              <a:rPr dirty="0" sz="1200" spc="-7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DBE6F2"/>
                </a:solidFill>
                <a:latin typeface="Calibri"/>
                <a:cs typeface="Calibri"/>
              </a:rPr>
              <a:t>computed </a:t>
            </a:r>
            <a:r>
              <a:rPr dirty="0" sz="1200">
                <a:solidFill>
                  <a:srgbClr val="DBE6F2"/>
                </a:solidFill>
                <a:latin typeface="Calibri"/>
                <a:cs typeface="Calibri"/>
              </a:rPr>
              <a:t>per</a:t>
            </a:r>
            <a:r>
              <a:rPr dirty="0" sz="1200" spc="-2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DBE6F2"/>
                </a:solidFill>
                <a:latin typeface="Calibri"/>
                <a:cs typeface="Calibri"/>
              </a:rPr>
              <a:t>fingerprint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320495" y="1349173"/>
            <a:ext cx="908050" cy="568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9539">
              <a:lnSpc>
                <a:spcPct val="100000"/>
              </a:lnSpc>
              <a:spcBef>
                <a:spcPts val="100"/>
              </a:spcBef>
            </a:pPr>
            <a:r>
              <a:rPr dirty="0" sz="1200" spc="-50" b="1">
                <a:solidFill>
                  <a:srgbClr val="09182F"/>
                </a:solidFill>
                <a:latin typeface="Calibri"/>
                <a:cs typeface="Calibri"/>
              </a:rPr>
              <a:t>5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Scale</a:t>
            </a:r>
            <a:r>
              <a:rPr dirty="0" sz="140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inputs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320495" y="2200213"/>
            <a:ext cx="119253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DBE6F2"/>
                </a:solidFill>
                <a:latin typeface="Calibri"/>
                <a:cs typeface="Calibri"/>
              </a:rPr>
              <a:t>Saved </a:t>
            </a:r>
            <a:r>
              <a:rPr dirty="0" sz="1200" spc="-10">
                <a:solidFill>
                  <a:srgbClr val="DBE6F2"/>
                </a:solidFill>
                <a:latin typeface="Calibri"/>
                <a:cs typeface="Calibri"/>
              </a:rPr>
              <a:t>MinMaxScaler scales</a:t>
            </a:r>
            <a:r>
              <a:rPr dirty="0" sz="1200" spc="-3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DBE6F2"/>
                </a:solidFill>
                <a:latin typeface="Calibri"/>
                <a:cs typeface="Calibri"/>
              </a:rPr>
              <a:t>every</a:t>
            </a:r>
            <a:r>
              <a:rPr dirty="0" sz="1200" spc="-1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DBE6F2"/>
                </a:solidFill>
                <a:latin typeface="Calibri"/>
                <a:cs typeface="Calibri"/>
              </a:rPr>
              <a:t>model </a:t>
            </a:r>
            <a:r>
              <a:rPr dirty="0" sz="1200" spc="-10">
                <a:solidFill>
                  <a:srgbClr val="DBE6F2"/>
                </a:solidFill>
                <a:latin typeface="Calibri"/>
                <a:cs typeface="Calibri"/>
              </a:rPr>
              <a:t>input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52164" y="3332882"/>
            <a:ext cx="1472565" cy="969644"/>
            <a:chOff x="452164" y="3332882"/>
            <a:chExt cx="1472565" cy="969644"/>
          </a:xfrm>
        </p:grpSpPr>
        <p:sp>
          <p:nvSpPr>
            <p:cNvPr id="7" name="object 7"/>
            <p:cNvSpPr/>
            <p:nvPr/>
          </p:nvSpPr>
          <p:spPr>
            <a:xfrm>
              <a:off x="456844" y="3337562"/>
              <a:ext cx="1463040" cy="960119"/>
            </a:xfrm>
            <a:custGeom>
              <a:avLst/>
              <a:gdLst/>
              <a:ahLst/>
              <a:cxnLst/>
              <a:rect l="l" t="t" r="r" b="b"/>
              <a:pathLst>
                <a:path w="1463039" h="960120">
                  <a:moveTo>
                    <a:pt x="138959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887044"/>
                  </a:lnTo>
                  <a:lnTo>
                    <a:pt x="594" y="896315"/>
                  </a:lnTo>
                  <a:lnTo>
                    <a:pt x="607" y="896520"/>
                  </a:lnTo>
                  <a:lnTo>
                    <a:pt x="2394" y="905716"/>
                  </a:lnTo>
                  <a:lnTo>
                    <a:pt x="2428" y="905895"/>
                  </a:lnTo>
                  <a:lnTo>
                    <a:pt x="5412" y="914779"/>
                  </a:lnTo>
                  <a:lnTo>
                    <a:pt x="36360" y="950404"/>
                  </a:lnTo>
                  <a:lnTo>
                    <a:pt x="73075" y="960119"/>
                  </a:lnTo>
                  <a:lnTo>
                    <a:pt x="1389951" y="959764"/>
                  </a:lnTo>
                  <a:lnTo>
                    <a:pt x="1434329" y="944660"/>
                  </a:lnTo>
                  <a:lnTo>
                    <a:pt x="1457492" y="914935"/>
                  </a:lnTo>
                  <a:lnTo>
                    <a:pt x="1457569" y="914779"/>
                  </a:lnTo>
                  <a:lnTo>
                    <a:pt x="1460549" y="905895"/>
                  </a:lnTo>
                  <a:lnTo>
                    <a:pt x="1460609" y="905716"/>
                  </a:lnTo>
                  <a:lnTo>
                    <a:pt x="1462392" y="896520"/>
                  </a:lnTo>
                  <a:lnTo>
                    <a:pt x="1462432" y="896315"/>
                  </a:lnTo>
                  <a:lnTo>
                    <a:pt x="1463016" y="887044"/>
                  </a:lnTo>
                  <a:lnTo>
                    <a:pt x="1463039" y="886675"/>
                  </a:lnTo>
                  <a:lnTo>
                    <a:pt x="1462671" y="73075"/>
                  </a:lnTo>
                  <a:lnTo>
                    <a:pt x="1447580" y="28705"/>
                  </a:lnTo>
                  <a:lnTo>
                    <a:pt x="1408630" y="2428"/>
                  </a:lnTo>
                  <a:lnTo>
                    <a:pt x="1399229" y="607"/>
                  </a:lnTo>
                  <a:lnTo>
                    <a:pt x="1389595" y="0"/>
                  </a:lnTo>
                  <a:close/>
                </a:path>
              </a:pathLst>
            </a:custGeom>
            <a:solidFill>
              <a:srgbClr val="050F1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56844" y="3337562"/>
              <a:ext cx="1463040" cy="960119"/>
            </a:xfrm>
            <a:custGeom>
              <a:avLst/>
              <a:gdLst/>
              <a:ahLst/>
              <a:cxnLst/>
              <a:rect l="l" t="t" r="r" b="b"/>
              <a:pathLst>
                <a:path w="1463039" h="96012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1389595" y="0"/>
                  </a:lnTo>
                  <a:lnTo>
                    <a:pt x="1434123" y="15104"/>
                  </a:lnTo>
                  <a:lnTo>
                    <a:pt x="1460242" y="54224"/>
                  </a:lnTo>
                  <a:lnTo>
                    <a:pt x="1462671" y="73075"/>
                  </a:lnTo>
                  <a:lnTo>
                    <a:pt x="1463039" y="886675"/>
                  </a:lnTo>
                  <a:lnTo>
                    <a:pt x="1462432" y="896315"/>
                  </a:lnTo>
                  <a:lnTo>
                    <a:pt x="1460609" y="905716"/>
                  </a:lnTo>
                  <a:lnTo>
                    <a:pt x="1434329" y="944660"/>
                  </a:lnTo>
                  <a:lnTo>
                    <a:pt x="1389951" y="959764"/>
                  </a:lnTo>
                  <a:lnTo>
                    <a:pt x="73075" y="960119"/>
                  </a:lnTo>
                  <a:lnTo>
                    <a:pt x="28548" y="945015"/>
                  </a:lnTo>
                  <a:lnTo>
                    <a:pt x="2428" y="905895"/>
                  </a:lnTo>
                  <a:lnTo>
                    <a:pt x="0" y="887044"/>
                  </a:lnTo>
                  <a:lnTo>
                    <a:pt x="0" y="73075"/>
                  </a:lnTo>
                  <a:close/>
                </a:path>
              </a:pathLst>
            </a:custGeom>
            <a:ln w="9359">
              <a:solidFill>
                <a:srgbClr val="2345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525500" y="3442222"/>
            <a:ext cx="1323975" cy="726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00"/>
              </a:spcBef>
            </a:pPr>
            <a:r>
              <a:rPr dirty="0" sz="2600" spc="-25" b="1">
                <a:solidFill>
                  <a:srgbClr val="2CD3BE"/>
                </a:solidFill>
                <a:latin typeface="Calibri"/>
                <a:cs typeface="Calibri"/>
              </a:rPr>
              <a:t>520</a:t>
            </a:r>
            <a:endParaRPr sz="2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955"/>
              </a:spcBef>
            </a:pPr>
            <a:r>
              <a:rPr dirty="0" sz="1200" spc="-10">
                <a:solidFill>
                  <a:srgbClr val="A8B9CF"/>
                </a:solidFill>
                <a:latin typeface="Calibri"/>
                <a:cs typeface="Calibri"/>
              </a:rPr>
              <a:t>WAP</a:t>
            </a:r>
            <a:r>
              <a:rPr dirty="0" sz="1200" spc="-45">
                <a:solidFill>
                  <a:srgbClr val="A8B9C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A8B9CF"/>
                </a:solidFill>
                <a:latin typeface="Calibri"/>
                <a:cs typeface="Calibri"/>
              </a:rPr>
              <a:t>columns</a:t>
            </a:r>
            <a:r>
              <a:rPr dirty="0" sz="1200" spc="-35">
                <a:solidFill>
                  <a:srgbClr val="A8B9C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A8B9CF"/>
                </a:solidFill>
                <a:latin typeface="Calibri"/>
                <a:cs typeface="Calibri"/>
              </a:rPr>
              <a:t>(up</a:t>
            </a:r>
            <a:r>
              <a:rPr dirty="0" sz="1200" spc="-40">
                <a:solidFill>
                  <a:srgbClr val="A8B9CF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A8B9CF"/>
                </a:solidFill>
                <a:latin typeface="Calibri"/>
                <a:cs typeface="Calibri"/>
              </a:rPr>
              <a:t>to)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143804" y="3332882"/>
            <a:ext cx="1472565" cy="969644"/>
            <a:chOff x="2143804" y="3332882"/>
            <a:chExt cx="1472565" cy="969644"/>
          </a:xfrm>
        </p:grpSpPr>
        <p:sp>
          <p:nvSpPr>
            <p:cNvPr id="13" name="object 13"/>
            <p:cNvSpPr/>
            <p:nvPr/>
          </p:nvSpPr>
          <p:spPr>
            <a:xfrm>
              <a:off x="2148484" y="3337562"/>
              <a:ext cx="1463040" cy="960119"/>
            </a:xfrm>
            <a:custGeom>
              <a:avLst/>
              <a:gdLst/>
              <a:ahLst/>
              <a:cxnLst/>
              <a:rect l="l" t="t" r="r" b="b"/>
              <a:pathLst>
                <a:path w="1463039" h="960120">
                  <a:moveTo>
                    <a:pt x="138959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887044"/>
                  </a:lnTo>
                  <a:lnTo>
                    <a:pt x="5412" y="914779"/>
                  </a:lnTo>
                  <a:lnTo>
                    <a:pt x="5464" y="914935"/>
                  </a:lnTo>
                  <a:lnTo>
                    <a:pt x="36360" y="950404"/>
                  </a:lnTo>
                  <a:lnTo>
                    <a:pt x="73075" y="960119"/>
                  </a:lnTo>
                  <a:lnTo>
                    <a:pt x="1389951" y="959764"/>
                  </a:lnTo>
                  <a:lnTo>
                    <a:pt x="1434329" y="944660"/>
                  </a:lnTo>
                  <a:lnTo>
                    <a:pt x="1460549" y="905895"/>
                  </a:lnTo>
                  <a:lnTo>
                    <a:pt x="1463040" y="886675"/>
                  </a:lnTo>
                  <a:lnTo>
                    <a:pt x="1462671" y="73075"/>
                  </a:lnTo>
                  <a:lnTo>
                    <a:pt x="1447580" y="28705"/>
                  </a:lnTo>
                  <a:lnTo>
                    <a:pt x="1408630" y="2428"/>
                  </a:lnTo>
                  <a:lnTo>
                    <a:pt x="1399229" y="607"/>
                  </a:lnTo>
                  <a:lnTo>
                    <a:pt x="1389595" y="0"/>
                  </a:lnTo>
                  <a:close/>
                </a:path>
              </a:pathLst>
            </a:custGeom>
            <a:solidFill>
              <a:srgbClr val="050F1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148484" y="3337562"/>
              <a:ext cx="1463040" cy="960119"/>
            </a:xfrm>
            <a:custGeom>
              <a:avLst/>
              <a:gdLst/>
              <a:ahLst/>
              <a:cxnLst/>
              <a:rect l="l" t="t" r="r" b="b"/>
              <a:pathLst>
                <a:path w="1463039" h="96012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1389595" y="0"/>
                  </a:lnTo>
                  <a:lnTo>
                    <a:pt x="1434123" y="15104"/>
                  </a:lnTo>
                  <a:lnTo>
                    <a:pt x="1460242" y="54224"/>
                  </a:lnTo>
                  <a:lnTo>
                    <a:pt x="1462671" y="73075"/>
                  </a:lnTo>
                  <a:lnTo>
                    <a:pt x="1463040" y="886675"/>
                  </a:lnTo>
                  <a:lnTo>
                    <a:pt x="1462432" y="896315"/>
                  </a:lnTo>
                  <a:lnTo>
                    <a:pt x="1460609" y="905716"/>
                  </a:lnTo>
                  <a:lnTo>
                    <a:pt x="1434329" y="944660"/>
                  </a:lnTo>
                  <a:lnTo>
                    <a:pt x="1389951" y="959764"/>
                  </a:lnTo>
                  <a:lnTo>
                    <a:pt x="73075" y="960119"/>
                  </a:lnTo>
                  <a:lnTo>
                    <a:pt x="28548" y="945015"/>
                  </a:lnTo>
                  <a:lnTo>
                    <a:pt x="2428" y="905895"/>
                  </a:lnTo>
                  <a:lnTo>
                    <a:pt x="0" y="887044"/>
                  </a:lnTo>
                  <a:lnTo>
                    <a:pt x="0" y="73075"/>
                  </a:lnTo>
                  <a:close/>
                </a:path>
              </a:pathLst>
            </a:custGeom>
            <a:ln w="9359">
              <a:solidFill>
                <a:srgbClr val="2345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2317584" y="3442222"/>
            <a:ext cx="1123315" cy="726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600" spc="-20" b="1">
                <a:solidFill>
                  <a:srgbClr val="2CD3BE"/>
                </a:solidFill>
                <a:latin typeface="Calibri"/>
                <a:cs typeface="Calibri"/>
              </a:rPr>
              <a:t>−100</a:t>
            </a:r>
            <a:endParaRPr sz="2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955"/>
              </a:spcBef>
            </a:pPr>
            <a:r>
              <a:rPr dirty="0" sz="1200">
                <a:solidFill>
                  <a:srgbClr val="A8B9CF"/>
                </a:solidFill>
                <a:latin typeface="Calibri"/>
                <a:cs typeface="Calibri"/>
              </a:rPr>
              <a:t>dBm</a:t>
            </a:r>
            <a:r>
              <a:rPr dirty="0" sz="1200" spc="-10">
                <a:solidFill>
                  <a:srgbClr val="A8B9CF"/>
                </a:solidFill>
                <a:latin typeface="Calibri"/>
                <a:cs typeface="Calibri"/>
              </a:rPr>
              <a:t> replaces</a:t>
            </a:r>
            <a:r>
              <a:rPr dirty="0" sz="1200" spc="-15">
                <a:solidFill>
                  <a:srgbClr val="A8B9CF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A8B9CF"/>
                </a:solidFill>
                <a:latin typeface="Calibri"/>
                <a:cs typeface="Calibri"/>
              </a:rPr>
              <a:t>100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835444" y="3332882"/>
            <a:ext cx="1472565" cy="969644"/>
            <a:chOff x="3835444" y="3332882"/>
            <a:chExt cx="1472565" cy="969644"/>
          </a:xfrm>
        </p:grpSpPr>
        <p:sp>
          <p:nvSpPr>
            <p:cNvPr id="18" name="object 18"/>
            <p:cNvSpPr/>
            <p:nvPr/>
          </p:nvSpPr>
          <p:spPr>
            <a:xfrm>
              <a:off x="3840124" y="3337562"/>
              <a:ext cx="1463040" cy="960119"/>
            </a:xfrm>
            <a:custGeom>
              <a:avLst/>
              <a:gdLst/>
              <a:ahLst/>
              <a:cxnLst/>
              <a:rect l="l" t="t" r="r" b="b"/>
              <a:pathLst>
                <a:path w="1463039" h="960120">
                  <a:moveTo>
                    <a:pt x="138959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887044"/>
                  </a:lnTo>
                  <a:lnTo>
                    <a:pt x="15091" y="931414"/>
                  </a:lnTo>
                  <a:lnTo>
                    <a:pt x="54041" y="957691"/>
                  </a:lnTo>
                  <a:lnTo>
                    <a:pt x="73075" y="960119"/>
                  </a:lnTo>
                  <a:lnTo>
                    <a:pt x="1389951" y="959764"/>
                  </a:lnTo>
                  <a:lnTo>
                    <a:pt x="1434329" y="944660"/>
                  </a:lnTo>
                  <a:lnTo>
                    <a:pt x="1460549" y="905895"/>
                  </a:lnTo>
                  <a:lnTo>
                    <a:pt x="1463039" y="886675"/>
                  </a:lnTo>
                  <a:lnTo>
                    <a:pt x="1462671" y="73075"/>
                  </a:lnTo>
                  <a:lnTo>
                    <a:pt x="1447580" y="28705"/>
                  </a:lnTo>
                  <a:lnTo>
                    <a:pt x="1408630" y="2428"/>
                  </a:lnTo>
                  <a:lnTo>
                    <a:pt x="1389595" y="0"/>
                  </a:lnTo>
                  <a:close/>
                </a:path>
              </a:pathLst>
            </a:custGeom>
            <a:solidFill>
              <a:srgbClr val="050F1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3840124" y="3337562"/>
              <a:ext cx="1463040" cy="960119"/>
            </a:xfrm>
            <a:custGeom>
              <a:avLst/>
              <a:gdLst/>
              <a:ahLst/>
              <a:cxnLst/>
              <a:rect l="l" t="t" r="r" b="b"/>
              <a:pathLst>
                <a:path w="1463039" h="96012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1389595" y="0"/>
                  </a:lnTo>
                  <a:lnTo>
                    <a:pt x="1434123" y="15104"/>
                  </a:lnTo>
                  <a:lnTo>
                    <a:pt x="1460242" y="54224"/>
                  </a:lnTo>
                  <a:lnTo>
                    <a:pt x="1462671" y="73075"/>
                  </a:lnTo>
                  <a:lnTo>
                    <a:pt x="1463039" y="886675"/>
                  </a:lnTo>
                  <a:lnTo>
                    <a:pt x="1462432" y="896315"/>
                  </a:lnTo>
                  <a:lnTo>
                    <a:pt x="1460609" y="905716"/>
                  </a:lnTo>
                  <a:lnTo>
                    <a:pt x="1434329" y="944660"/>
                  </a:lnTo>
                  <a:lnTo>
                    <a:pt x="1389951" y="959764"/>
                  </a:lnTo>
                  <a:lnTo>
                    <a:pt x="73075" y="960119"/>
                  </a:lnTo>
                  <a:lnTo>
                    <a:pt x="28548" y="945015"/>
                  </a:lnTo>
                  <a:lnTo>
                    <a:pt x="2428" y="905895"/>
                  </a:lnTo>
                  <a:lnTo>
                    <a:pt x="0" y="887044"/>
                  </a:lnTo>
                  <a:lnTo>
                    <a:pt x="0" y="73075"/>
                  </a:lnTo>
                  <a:close/>
                </a:path>
              </a:pathLst>
            </a:custGeom>
            <a:ln w="9359">
              <a:solidFill>
                <a:srgbClr val="2345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4146384" y="3442222"/>
            <a:ext cx="848360" cy="726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00"/>
              </a:spcBef>
            </a:pPr>
            <a:r>
              <a:rPr dirty="0" sz="2600" spc="-25" b="1">
                <a:solidFill>
                  <a:srgbClr val="2CD3BE"/>
                </a:solidFill>
                <a:latin typeface="Calibri"/>
                <a:cs typeface="Calibri"/>
              </a:rPr>
              <a:t>465</a:t>
            </a:r>
            <a:endParaRPr sz="2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955"/>
              </a:spcBef>
            </a:pPr>
            <a:r>
              <a:rPr dirty="0" sz="1200" spc="-10">
                <a:solidFill>
                  <a:srgbClr val="A8B9CF"/>
                </a:solidFill>
                <a:latin typeface="Calibri"/>
                <a:cs typeface="Calibri"/>
              </a:rPr>
              <a:t>columns</a:t>
            </a:r>
            <a:r>
              <a:rPr dirty="0" sz="1200" spc="-5">
                <a:solidFill>
                  <a:srgbClr val="A8B9CF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A8B9CF"/>
                </a:solidFill>
                <a:latin typeface="Calibri"/>
                <a:cs typeface="Calibri"/>
              </a:rPr>
              <a:t>kept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527084" y="3332882"/>
            <a:ext cx="1472565" cy="969644"/>
            <a:chOff x="5527084" y="3332882"/>
            <a:chExt cx="1472565" cy="969644"/>
          </a:xfrm>
        </p:grpSpPr>
        <p:sp>
          <p:nvSpPr>
            <p:cNvPr id="23" name="object 23"/>
            <p:cNvSpPr/>
            <p:nvPr/>
          </p:nvSpPr>
          <p:spPr>
            <a:xfrm>
              <a:off x="5531764" y="3337562"/>
              <a:ext cx="1463040" cy="960119"/>
            </a:xfrm>
            <a:custGeom>
              <a:avLst/>
              <a:gdLst/>
              <a:ahLst/>
              <a:cxnLst/>
              <a:rect l="l" t="t" r="r" b="b"/>
              <a:pathLst>
                <a:path w="1463040" h="960120">
                  <a:moveTo>
                    <a:pt x="138959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887044"/>
                  </a:lnTo>
                  <a:lnTo>
                    <a:pt x="15091" y="931414"/>
                  </a:lnTo>
                  <a:lnTo>
                    <a:pt x="54041" y="957691"/>
                  </a:lnTo>
                  <a:lnTo>
                    <a:pt x="73075" y="960119"/>
                  </a:lnTo>
                  <a:lnTo>
                    <a:pt x="1389951" y="959764"/>
                  </a:lnTo>
                  <a:lnTo>
                    <a:pt x="1434329" y="944660"/>
                  </a:lnTo>
                  <a:lnTo>
                    <a:pt x="1457492" y="914935"/>
                  </a:lnTo>
                  <a:lnTo>
                    <a:pt x="1457569" y="914779"/>
                  </a:lnTo>
                  <a:lnTo>
                    <a:pt x="1463016" y="887044"/>
                  </a:lnTo>
                  <a:lnTo>
                    <a:pt x="1463040" y="886675"/>
                  </a:lnTo>
                  <a:lnTo>
                    <a:pt x="1462671" y="73075"/>
                  </a:lnTo>
                  <a:lnTo>
                    <a:pt x="1447580" y="28705"/>
                  </a:lnTo>
                  <a:lnTo>
                    <a:pt x="1408630" y="2428"/>
                  </a:lnTo>
                  <a:lnTo>
                    <a:pt x="1399229" y="607"/>
                  </a:lnTo>
                  <a:lnTo>
                    <a:pt x="1389595" y="0"/>
                  </a:lnTo>
                  <a:close/>
                </a:path>
              </a:pathLst>
            </a:custGeom>
            <a:solidFill>
              <a:srgbClr val="050F1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5531764" y="3337562"/>
              <a:ext cx="1463040" cy="960119"/>
            </a:xfrm>
            <a:custGeom>
              <a:avLst/>
              <a:gdLst/>
              <a:ahLst/>
              <a:cxnLst/>
              <a:rect l="l" t="t" r="r" b="b"/>
              <a:pathLst>
                <a:path w="1463040" h="96012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1389595" y="0"/>
                  </a:lnTo>
                  <a:lnTo>
                    <a:pt x="1434123" y="15104"/>
                  </a:lnTo>
                  <a:lnTo>
                    <a:pt x="1460242" y="54224"/>
                  </a:lnTo>
                  <a:lnTo>
                    <a:pt x="1462671" y="73075"/>
                  </a:lnTo>
                  <a:lnTo>
                    <a:pt x="1463040" y="886675"/>
                  </a:lnTo>
                  <a:lnTo>
                    <a:pt x="1462432" y="896315"/>
                  </a:lnTo>
                  <a:lnTo>
                    <a:pt x="1460609" y="905716"/>
                  </a:lnTo>
                  <a:lnTo>
                    <a:pt x="1434329" y="944660"/>
                  </a:lnTo>
                  <a:lnTo>
                    <a:pt x="1389951" y="959764"/>
                  </a:lnTo>
                  <a:lnTo>
                    <a:pt x="73075" y="960119"/>
                  </a:lnTo>
                  <a:lnTo>
                    <a:pt x="28548" y="945015"/>
                  </a:lnTo>
                  <a:lnTo>
                    <a:pt x="2428" y="905895"/>
                  </a:lnTo>
                  <a:lnTo>
                    <a:pt x="0" y="887044"/>
                  </a:lnTo>
                  <a:lnTo>
                    <a:pt x="0" y="73075"/>
                  </a:lnTo>
                  <a:close/>
                </a:path>
              </a:pathLst>
            </a:custGeom>
            <a:ln w="9359">
              <a:solidFill>
                <a:srgbClr val="2345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5690057" y="3442222"/>
            <a:ext cx="1144270" cy="726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00"/>
              </a:spcBef>
            </a:pPr>
            <a:r>
              <a:rPr dirty="0" sz="2600" spc="-25" b="1">
                <a:solidFill>
                  <a:srgbClr val="2CD3BE"/>
                </a:solidFill>
                <a:latin typeface="Calibri"/>
                <a:cs typeface="Calibri"/>
              </a:rPr>
              <a:t>+7</a:t>
            </a:r>
            <a:endParaRPr sz="2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955"/>
              </a:spcBef>
            </a:pPr>
            <a:r>
              <a:rPr dirty="0" sz="1200">
                <a:solidFill>
                  <a:srgbClr val="A8B9CF"/>
                </a:solidFill>
                <a:latin typeface="Calibri"/>
                <a:cs typeface="Calibri"/>
              </a:rPr>
              <a:t>summary</a:t>
            </a:r>
            <a:r>
              <a:rPr dirty="0" sz="1200" spc="-45">
                <a:solidFill>
                  <a:srgbClr val="A8B9C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A8B9CF"/>
                </a:solidFill>
                <a:latin typeface="Calibri"/>
                <a:cs typeface="Calibri"/>
              </a:rPr>
              <a:t>features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7218724" y="3332882"/>
            <a:ext cx="1472565" cy="969644"/>
            <a:chOff x="7218724" y="3332882"/>
            <a:chExt cx="1472565" cy="969644"/>
          </a:xfrm>
        </p:grpSpPr>
        <p:sp>
          <p:nvSpPr>
            <p:cNvPr id="29" name="object 29"/>
            <p:cNvSpPr/>
            <p:nvPr/>
          </p:nvSpPr>
          <p:spPr>
            <a:xfrm>
              <a:off x="7223404" y="3337562"/>
              <a:ext cx="1463040" cy="960119"/>
            </a:xfrm>
            <a:custGeom>
              <a:avLst/>
              <a:gdLst/>
              <a:ahLst/>
              <a:cxnLst/>
              <a:rect l="l" t="t" r="r" b="b"/>
              <a:pathLst>
                <a:path w="1463040" h="960120">
                  <a:moveTo>
                    <a:pt x="138959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887044"/>
                  </a:lnTo>
                  <a:lnTo>
                    <a:pt x="594" y="896315"/>
                  </a:lnTo>
                  <a:lnTo>
                    <a:pt x="607" y="896520"/>
                  </a:lnTo>
                  <a:lnTo>
                    <a:pt x="2394" y="905716"/>
                  </a:lnTo>
                  <a:lnTo>
                    <a:pt x="2428" y="905895"/>
                  </a:lnTo>
                  <a:lnTo>
                    <a:pt x="5412" y="914779"/>
                  </a:lnTo>
                  <a:lnTo>
                    <a:pt x="36360" y="950404"/>
                  </a:lnTo>
                  <a:lnTo>
                    <a:pt x="73075" y="960119"/>
                  </a:lnTo>
                  <a:lnTo>
                    <a:pt x="1389951" y="959764"/>
                  </a:lnTo>
                  <a:lnTo>
                    <a:pt x="1434329" y="944660"/>
                  </a:lnTo>
                  <a:lnTo>
                    <a:pt x="1457492" y="914935"/>
                  </a:lnTo>
                  <a:lnTo>
                    <a:pt x="1457569" y="914779"/>
                  </a:lnTo>
                  <a:lnTo>
                    <a:pt x="1463016" y="887044"/>
                  </a:lnTo>
                  <a:lnTo>
                    <a:pt x="1463039" y="886675"/>
                  </a:lnTo>
                  <a:lnTo>
                    <a:pt x="1462671" y="73075"/>
                  </a:lnTo>
                  <a:lnTo>
                    <a:pt x="1447580" y="28705"/>
                  </a:lnTo>
                  <a:lnTo>
                    <a:pt x="1408630" y="2428"/>
                  </a:lnTo>
                  <a:lnTo>
                    <a:pt x="1399229" y="607"/>
                  </a:lnTo>
                  <a:lnTo>
                    <a:pt x="1389595" y="0"/>
                  </a:lnTo>
                  <a:close/>
                </a:path>
              </a:pathLst>
            </a:custGeom>
            <a:solidFill>
              <a:srgbClr val="050F1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7223404" y="3337562"/>
              <a:ext cx="1463040" cy="960119"/>
            </a:xfrm>
            <a:custGeom>
              <a:avLst/>
              <a:gdLst/>
              <a:ahLst/>
              <a:cxnLst/>
              <a:rect l="l" t="t" r="r" b="b"/>
              <a:pathLst>
                <a:path w="1463040" h="96012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1389595" y="0"/>
                  </a:lnTo>
                  <a:lnTo>
                    <a:pt x="1434123" y="15104"/>
                  </a:lnTo>
                  <a:lnTo>
                    <a:pt x="1460242" y="54224"/>
                  </a:lnTo>
                  <a:lnTo>
                    <a:pt x="1462671" y="73075"/>
                  </a:lnTo>
                  <a:lnTo>
                    <a:pt x="1463039" y="886675"/>
                  </a:lnTo>
                  <a:lnTo>
                    <a:pt x="1462432" y="896315"/>
                  </a:lnTo>
                  <a:lnTo>
                    <a:pt x="1460609" y="905716"/>
                  </a:lnTo>
                  <a:lnTo>
                    <a:pt x="1434329" y="944660"/>
                  </a:lnTo>
                  <a:lnTo>
                    <a:pt x="1389951" y="959764"/>
                  </a:lnTo>
                  <a:lnTo>
                    <a:pt x="73075" y="960119"/>
                  </a:lnTo>
                  <a:lnTo>
                    <a:pt x="28548" y="945015"/>
                  </a:lnTo>
                  <a:lnTo>
                    <a:pt x="2428" y="905895"/>
                  </a:lnTo>
                  <a:lnTo>
                    <a:pt x="0" y="887044"/>
                  </a:lnTo>
                  <a:lnTo>
                    <a:pt x="0" y="73075"/>
                  </a:lnTo>
                  <a:close/>
                </a:path>
              </a:pathLst>
            </a:custGeom>
            <a:ln w="9359">
              <a:solidFill>
                <a:srgbClr val="2345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7374864" y="3442222"/>
            <a:ext cx="1157605" cy="726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00"/>
              </a:spcBef>
            </a:pPr>
            <a:r>
              <a:rPr dirty="0" sz="2600" spc="-25" b="1">
                <a:solidFill>
                  <a:srgbClr val="2CD3BE"/>
                </a:solidFill>
                <a:latin typeface="Calibri"/>
                <a:cs typeface="Calibri"/>
              </a:rPr>
              <a:t>472</a:t>
            </a:r>
            <a:endParaRPr sz="2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955"/>
              </a:spcBef>
            </a:pPr>
            <a:r>
              <a:rPr dirty="0" sz="1200">
                <a:solidFill>
                  <a:srgbClr val="A8B9CF"/>
                </a:solidFill>
                <a:latin typeface="Calibri"/>
                <a:cs typeface="Calibri"/>
              </a:rPr>
              <a:t>total</a:t>
            </a:r>
            <a:r>
              <a:rPr dirty="0" sz="1200" spc="-55">
                <a:solidFill>
                  <a:srgbClr val="A8B9C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A8B9CF"/>
                </a:solidFill>
                <a:latin typeface="Calibri"/>
                <a:cs typeface="Calibri"/>
              </a:rPr>
              <a:t>model</a:t>
            </a:r>
            <a:r>
              <a:rPr dirty="0" sz="1200" spc="-40">
                <a:solidFill>
                  <a:srgbClr val="A8B9C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A8B9CF"/>
                </a:solidFill>
                <a:latin typeface="Calibri"/>
                <a:cs typeface="Calibri"/>
              </a:rPr>
              <a:t>inputs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KLH</a:t>
            </a:r>
            <a:r>
              <a:rPr dirty="0" spc="-35"/>
              <a:t> </a:t>
            </a:r>
            <a:r>
              <a:rPr dirty="0"/>
              <a:t>University</a:t>
            </a:r>
            <a:r>
              <a:rPr dirty="0" spc="175"/>
              <a:t> </a:t>
            </a:r>
            <a:r>
              <a:rPr dirty="0"/>
              <a:t>|</a:t>
            </a:r>
            <a:r>
              <a:rPr dirty="0" spc="175"/>
              <a:t> </a:t>
            </a:r>
            <a:r>
              <a:rPr dirty="0"/>
              <a:t>Dept.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ECE</a:t>
            </a:r>
            <a:r>
              <a:rPr dirty="0" spc="170"/>
              <a:t> </a:t>
            </a:r>
            <a:r>
              <a:rPr dirty="0"/>
              <a:t>|</a:t>
            </a:r>
            <a:r>
              <a:rPr dirty="0" spc="175"/>
              <a:t> </a:t>
            </a:r>
            <a:r>
              <a:rPr dirty="0"/>
              <a:t>Machine</a:t>
            </a:r>
            <a:r>
              <a:rPr dirty="0" spc="-25"/>
              <a:t> </a:t>
            </a:r>
            <a:r>
              <a:rPr dirty="0"/>
              <a:t>Learning</a:t>
            </a:r>
            <a:r>
              <a:rPr dirty="0" spc="-25"/>
              <a:t> </a:t>
            </a:r>
            <a:r>
              <a:rPr dirty="0" spc="-10"/>
              <a:t>(25SC2107E)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749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RSSI</a:t>
            </a:r>
            <a:r>
              <a:rPr dirty="0" spc="-90"/>
              <a:t> </a:t>
            </a:r>
            <a:r>
              <a:rPr dirty="0"/>
              <a:t>Thresholds</a:t>
            </a:r>
            <a:r>
              <a:rPr dirty="0" spc="-90"/>
              <a:t> </a:t>
            </a:r>
            <a:r>
              <a:rPr dirty="0"/>
              <a:t>for</a:t>
            </a:r>
            <a:r>
              <a:rPr dirty="0" spc="-85"/>
              <a:t> </a:t>
            </a:r>
            <a:r>
              <a:rPr dirty="0"/>
              <a:t>the</a:t>
            </a:r>
            <a:r>
              <a:rPr dirty="0" spc="-80"/>
              <a:t> </a:t>
            </a:r>
            <a:r>
              <a:rPr dirty="0"/>
              <a:t>Four</a:t>
            </a:r>
            <a:r>
              <a:rPr dirty="0" spc="-90"/>
              <a:t> </a:t>
            </a:r>
            <a:r>
              <a:rPr dirty="0" spc="-10"/>
              <a:t>Classes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1234441"/>
            <a:ext cx="2057400" cy="1051560"/>
          </a:xfrm>
          <a:custGeom>
            <a:avLst/>
            <a:gdLst/>
            <a:ahLst/>
            <a:cxnLst/>
            <a:rect l="l" t="t" r="r" b="b"/>
            <a:pathLst>
              <a:path w="2057400" h="1051560">
                <a:moveTo>
                  <a:pt x="2057044" y="0"/>
                </a:moveTo>
                <a:lnTo>
                  <a:pt x="0" y="0"/>
                </a:lnTo>
                <a:lnTo>
                  <a:pt x="0" y="1051204"/>
                </a:lnTo>
                <a:lnTo>
                  <a:pt x="1028522" y="1051204"/>
                </a:lnTo>
                <a:lnTo>
                  <a:pt x="2057044" y="1051204"/>
                </a:lnTo>
                <a:lnTo>
                  <a:pt x="2057044" y="0"/>
                </a:lnTo>
                <a:close/>
              </a:path>
            </a:pathLst>
          </a:custGeom>
          <a:solidFill>
            <a:srgbClr val="F7707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09980" y="1488137"/>
            <a:ext cx="1151255" cy="544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000" spc="-20" b="1">
                <a:solidFill>
                  <a:srgbClr val="09182F"/>
                </a:solidFill>
                <a:latin typeface="Calibri"/>
                <a:cs typeface="Calibri"/>
              </a:rPr>
              <a:t>Poor</a:t>
            </a:r>
            <a:endParaRPr sz="2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400">
                <a:solidFill>
                  <a:srgbClr val="09182F"/>
                </a:solidFill>
                <a:latin typeface="Calibri"/>
                <a:cs typeface="Calibri"/>
              </a:rPr>
              <a:t>below</a:t>
            </a:r>
            <a:r>
              <a:rPr dirty="0" sz="1400" spc="-30">
                <a:solidFill>
                  <a:srgbClr val="09182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9182F"/>
                </a:solidFill>
                <a:latin typeface="Calibri"/>
                <a:cs typeface="Calibri"/>
              </a:rPr>
              <a:t>−75</a:t>
            </a:r>
            <a:r>
              <a:rPr dirty="0" sz="1400" spc="-30">
                <a:solidFill>
                  <a:srgbClr val="09182F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09182F"/>
                </a:solidFill>
                <a:latin typeface="Calibri"/>
                <a:cs typeface="Calibri"/>
              </a:rPr>
              <a:t>dBm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514600" y="1234441"/>
            <a:ext cx="2057400" cy="1051560"/>
          </a:xfrm>
          <a:custGeom>
            <a:avLst/>
            <a:gdLst/>
            <a:ahLst/>
            <a:cxnLst/>
            <a:rect l="l" t="t" r="r" b="b"/>
            <a:pathLst>
              <a:path w="2057400" h="1051560">
                <a:moveTo>
                  <a:pt x="2057044" y="0"/>
                </a:moveTo>
                <a:lnTo>
                  <a:pt x="0" y="0"/>
                </a:lnTo>
                <a:lnTo>
                  <a:pt x="0" y="1051204"/>
                </a:lnTo>
                <a:lnTo>
                  <a:pt x="1028522" y="1051204"/>
                </a:lnTo>
                <a:lnTo>
                  <a:pt x="2057044" y="1051204"/>
                </a:lnTo>
                <a:lnTo>
                  <a:pt x="2057044" y="0"/>
                </a:lnTo>
                <a:close/>
              </a:path>
            </a:pathLst>
          </a:custGeom>
          <a:solidFill>
            <a:srgbClr val="F4B84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715742" y="1488137"/>
            <a:ext cx="1652270" cy="544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2540">
              <a:lnSpc>
                <a:spcPct val="100000"/>
              </a:lnSpc>
              <a:spcBef>
                <a:spcPts val="100"/>
              </a:spcBef>
            </a:pPr>
            <a:r>
              <a:rPr dirty="0" sz="2000" spc="-20" b="1">
                <a:solidFill>
                  <a:srgbClr val="09182F"/>
                </a:solidFill>
                <a:latin typeface="Calibri"/>
                <a:cs typeface="Calibri"/>
              </a:rPr>
              <a:t>Fair</a:t>
            </a:r>
            <a:endParaRPr sz="2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400">
                <a:solidFill>
                  <a:srgbClr val="09182F"/>
                </a:solidFill>
                <a:latin typeface="Calibri"/>
                <a:cs typeface="Calibri"/>
              </a:rPr>
              <a:t>−75</a:t>
            </a:r>
            <a:r>
              <a:rPr dirty="0" sz="1400" spc="-30">
                <a:solidFill>
                  <a:srgbClr val="09182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9182F"/>
                </a:solidFill>
                <a:latin typeface="Calibri"/>
                <a:cs typeface="Calibri"/>
              </a:rPr>
              <a:t>to</a:t>
            </a:r>
            <a:r>
              <a:rPr dirty="0" sz="1400" spc="-30">
                <a:solidFill>
                  <a:srgbClr val="09182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9182F"/>
                </a:solidFill>
                <a:latin typeface="Calibri"/>
                <a:cs typeface="Calibri"/>
              </a:rPr>
              <a:t>below</a:t>
            </a:r>
            <a:r>
              <a:rPr dirty="0" sz="1400" spc="-30">
                <a:solidFill>
                  <a:srgbClr val="09182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9182F"/>
                </a:solidFill>
                <a:latin typeface="Calibri"/>
                <a:cs typeface="Calibri"/>
              </a:rPr>
              <a:t>−65</a:t>
            </a:r>
            <a:r>
              <a:rPr dirty="0" sz="1400" spc="-25">
                <a:solidFill>
                  <a:srgbClr val="09182F"/>
                </a:solidFill>
                <a:latin typeface="Calibri"/>
                <a:cs typeface="Calibri"/>
              </a:rPr>
              <a:t> dBm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72000" y="1234441"/>
            <a:ext cx="2057400" cy="1051560"/>
          </a:xfrm>
          <a:custGeom>
            <a:avLst/>
            <a:gdLst/>
            <a:ahLst/>
            <a:cxnLst/>
            <a:rect l="l" t="t" r="r" b="b"/>
            <a:pathLst>
              <a:path w="2057400" h="1051560">
                <a:moveTo>
                  <a:pt x="2057044" y="0"/>
                </a:moveTo>
                <a:lnTo>
                  <a:pt x="0" y="0"/>
                </a:lnTo>
                <a:lnTo>
                  <a:pt x="0" y="1051204"/>
                </a:lnTo>
                <a:lnTo>
                  <a:pt x="1028522" y="1051204"/>
                </a:lnTo>
                <a:lnTo>
                  <a:pt x="2057044" y="1051204"/>
                </a:lnTo>
                <a:lnTo>
                  <a:pt x="2057044" y="0"/>
                </a:lnTo>
                <a:close/>
              </a:path>
            </a:pathLst>
          </a:custGeom>
          <a:solidFill>
            <a:srgbClr val="37BC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773142" y="1488137"/>
            <a:ext cx="1652270" cy="544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00"/>
              </a:spcBef>
            </a:pPr>
            <a:r>
              <a:rPr dirty="0" sz="2000" spc="-20" b="1">
                <a:solidFill>
                  <a:srgbClr val="09182F"/>
                </a:solidFill>
                <a:latin typeface="Calibri"/>
                <a:cs typeface="Calibri"/>
              </a:rPr>
              <a:t>Good</a:t>
            </a:r>
            <a:endParaRPr sz="2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400">
                <a:solidFill>
                  <a:srgbClr val="09182F"/>
                </a:solidFill>
                <a:latin typeface="Calibri"/>
                <a:cs typeface="Calibri"/>
              </a:rPr>
              <a:t>−65</a:t>
            </a:r>
            <a:r>
              <a:rPr dirty="0" sz="1400" spc="-30">
                <a:solidFill>
                  <a:srgbClr val="09182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9182F"/>
                </a:solidFill>
                <a:latin typeface="Calibri"/>
                <a:cs typeface="Calibri"/>
              </a:rPr>
              <a:t>to</a:t>
            </a:r>
            <a:r>
              <a:rPr dirty="0" sz="1400" spc="-30">
                <a:solidFill>
                  <a:srgbClr val="09182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9182F"/>
                </a:solidFill>
                <a:latin typeface="Calibri"/>
                <a:cs typeface="Calibri"/>
              </a:rPr>
              <a:t>below</a:t>
            </a:r>
            <a:r>
              <a:rPr dirty="0" sz="1400" spc="-30">
                <a:solidFill>
                  <a:srgbClr val="09182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9182F"/>
                </a:solidFill>
                <a:latin typeface="Calibri"/>
                <a:cs typeface="Calibri"/>
              </a:rPr>
              <a:t>−55</a:t>
            </a:r>
            <a:r>
              <a:rPr dirty="0" sz="1400" spc="-25">
                <a:solidFill>
                  <a:srgbClr val="09182F"/>
                </a:solidFill>
                <a:latin typeface="Calibri"/>
                <a:cs typeface="Calibri"/>
              </a:rPr>
              <a:t> dBm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629400" y="1234441"/>
            <a:ext cx="2057400" cy="1051560"/>
          </a:xfrm>
          <a:custGeom>
            <a:avLst/>
            <a:gdLst/>
            <a:ahLst/>
            <a:cxnLst/>
            <a:rect l="l" t="t" r="r" b="b"/>
            <a:pathLst>
              <a:path w="2057400" h="1051560">
                <a:moveTo>
                  <a:pt x="2057044" y="0"/>
                </a:moveTo>
                <a:lnTo>
                  <a:pt x="0" y="0"/>
                </a:lnTo>
                <a:lnTo>
                  <a:pt x="0" y="1051204"/>
                </a:lnTo>
                <a:lnTo>
                  <a:pt x="1028522" y="1051204"/>
                </a:lnTo>
                <a:lnTo>
                  <a:pt x="2057044" y="1051204"/>
                </a:lnTo>
                <a:lnTo>
                  <a:pt x="2057044" y="0"/>
                </a:lnTo>
                <a:close/>
              </a:path>
            </a:pathLst>
          </a:custGeom>
          <a:solidFill>
            <a:srgbClr val="2CD3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902183" y="1488137"/>
            <a:ext cx="1511935" cy="544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000" spc="-10" b="1">
                <a:solidFill>
                  <a:srgbClr val="09182F"/>
                </a:solidFill>
                <a:latin typeface="Calibri"/>
                <a:cs typeface="Calibri"/>
              </a:rPr>
              <a:t>Excellent</a:t>
            </a:r>
            <a:endParaRPr sz="2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400">
                <a:solidFill>
                  <a:srgbClr val="09182F"/>
                </a:solidFill>
                <a:latin typeface="Calibri"/>
                <a:cs typeface="Calibri"/>
              </a:rPr>
              <a:t>−55</a:t>
            </a:r>
            <a:r>
              <a:rPr dirty="0" sz="1400" spc="-20">
                <a:solidFill>
                  <a:srgbClr val="09182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9182F"/>
                </a:solidFill>
                <a:latin typeface="Calibri"/>
                <a:cs typeface="Calibri"/>
              </a:rPr>
              <a:t>dBm</a:t>
            </a:r>
            <a:r>
              <a:rPr dirty="0" sz="1400" spc="-20">
                <a:solidFill>
                  <a:srgbClr val="09182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9182F"/>
                </a:solidFill>
                <a:latin typeface="Calibri"/>
                <a:cs typeface="Calibri"/>
              </a:rPr>
              <a:t>or</a:t>
            </a:r>
            <a:r>
              <a:rPr dirty="0" sz="1400" spc="-15">
                <a:solidFill>
                  <a:srgbClr val="09182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9182F"/>
                </a:solidFill>
                <a:latin typeface="Calibri"/>
                <a:cs typeface="Calibri"/>
              </a:rPr>
              <a:t>stronger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23985" y="2382737"/>
            <a:ext cx="5784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−75</a:t>
            </a:r>
            <a:r>
              <a:rPr dirty="0" sz="1200" spc="-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25" b="1">
                <a:solidFill>
                  <a:srgbClr val="FFFFFF"/>
                </a:solidFill>
                <a:latin typeface="Calibri"/>
                <a:cs typeface="Calibri"/>
              </a:rPr>
              <a:t>dBm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81385" y="2382737"/>
            <a:ext cx="5784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−65</a:t>
            </a:r>
            <a:r>
              <a:rPr dirty="0" sz="1200" spc="-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25" b="1">
                <a:solidFill>
                  <a:srgbClr val="FFFFFF"/>
                </a:solidFill>
                <a:latin typeface="Calibri"/>
                <a:cs typeface="Calibri"/>
              </a:rPr>
              <a:t>dBm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38785" y="2382737"/>
            <a:ext cx="5784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−55</a:t>
            </a:r>
            <a:r>
              <a:rPr dirty="0" sz="1200" spc="-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25" b="1">
                <a:solidFill>
                  <a:srgbClr val="FFFFFF"/>
                </a:solidFill>
                <a:latin typeface="Calibri"/>
                <a:cs typeface="Calibri"/>
              </a:rPr>
              <a:t>dBm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44420" y="2750758"/>
            <a:ext cx="8242934" cy="76835"/>
            <a:chOff x="444420" y="2750758"/>
            <a:chExt cx="8242934" cy="76835"/>
          </a:xfrm>
        </p:grpSpPr>
        <p:sp>
          <p:nvSpPr>
            <p:cNvPr id="15" name="object 15"/>
            <p:cNvSpPr/>
            <p:nvPr/>
          </p:nvSpPr>
          <p:spPr>
            <a:xfrm>
              <a:off x="457200" y="2788921"/>
              <a:ext cx="8158480" cy="635"/>
            </a:xfrm>
            <a:custGeom>
              <a:avLst/>
              <a:gdLst/>
              <a:ahLst/>
              <a:cxnLst/>
              <a:rect l="l" t="t" r="r" b="b"/>
              <a:pathLst>
                <a:path w="8158480" h="635">
                  <a:moveTo>
                    <a:pt x="0" y="0"/>
                  </a:moveTo>
                  <a:lnTo>
                    <a:pt x="8157959" y="355"/>
                  </a:lnTo>
                </a:path>
              </a:pathLst>
            </a:custGeom>
            <a:ln w="25559">
              <a:solidFill>
                <a:srgbClr val="8EA2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8610117" y="2750758"/>
              <a:ext cx="76835" cy="76835"/>
            </a:xfrm>
            <a:custGeom>
              <a:avLst/>
              <a:gdLst/>
              <a:ahLst/>
              <a:cxnLst/>
              <a:rect l="l" t="t" r="r" b="b"/>
              <a:pathLst>
                <a:path w="76834" h="76835">
                  <a:moveTo>
                    <a:pt x="0" y="0"/>
                  </a:moveTo>
                  <a:lnTo>
                    <a:pt x="0" y="76682"/>
                  </a:lnTo>
                  <a:lnTo>
                    <a:pt x="76682" y="385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EA2B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444144" y="2844611"/>
            <a:ext cx="8623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A8B9CF"/>
                </a:solidFill>
                <a:latin typeface="Calibri"/>
                <a:cs typeface="Calibri"/>
              </a:rPr>
              <a:t>weaker</a:t>
            </a:r>
            <a:r>
              <a:rPr dirty="0" sz="1200" spc="-50">
                <a:solidFill>
                  <a:srgbClr val="A8B9C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A8B9CF"/>
                </a:solidFill>
                <a:latin typeface="Calibri"/>
                <a:cs typeface="Calibri"/>
              </a:rPr>
              <a:t>signal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766901" y="2844611"/>
            <a:ext cx="9321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A8B9CF"/>
                </a:solidFill>
                <a:latin typeface="Calibri"/>
                <a:cs typeface="Calibri"/>
              </a:rPr>
              <a:t>stronger</a:t>
            </a:r>
            <a:r>
              <a:rPr dirty="0" sz="1200" spc="-15">
                <a:solidFill>
                  <a:srgbClr val="A8B9C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A8B9CF"/>
                </a:solidFill>
                <a:latin typeface="Calibri"/>
                <a:cs typeface="Calibri"/>
              </a:rPr>
              <a:t>signal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52164" y="3241086"/>
            <a:ext cx="2606675" cy="1106805"/>
            <a:chOff x="452164" y="3241086"/>
            <a:chExt cx="2606675" cy="1106805"/>
          </a:xfrm>
        </p:grpSpPr>
        <p:sp>
          <p:nvSpPr>
            <p:cNvPr id="20" name="object 20"/>
            <p:cNvSpPr/>
            <p:nvPr/>
          </p:nvSpPr>
          <p:spPr>
            <a:xfrm>
              <a:off x="456844" y="3245766"/>
              <a:ext cx="2597150" cy="1097280"/>
            </a:xfrm>
            <a:custGeom>
              <a:avLst/>
              <a:gdLst/>
              <a:ahLst/>
              <a:cxnLst/>
              <a:rect l="l" t="t" r="r" b="b"/>
              <a:pathLst>
                <a:path w="2597150" h="1097279">
                  <a:moveTo>
                    <a:pt x="2523591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1024191"/>
                  </a:lnTo>
                  <a:lnTo>
                    <a:pt x="594" y="1033469"/>
                  </a:lnTo>
                  <a:lnTo>
                    <a:pt x="607" y="1033669"/>
                  </a:lnTo>
                  <a:lnTo>
                    <a:pt x="2394" y="1042870"/>
                  </a:lnTo>
                  <a:lnTo>
                    <a:pt x="2428" y="1043047"/>
                  </a:lnTo>
                  <a:lnTo>
                    <a:pt x="28548" y="1082170"/>
                  </a:lnTo>
                  <a:lnTo>
                    <a:pt x="73075" y="1097280"/>
                  </a:lnTo>
                  <a:lnTo>
                    <a:pt x="2523959" y="1096911"/>
                  </a:lnTo>
                  <a:lnTo>
                    <a:pt x="2568330" y="1081820"/>
                  </a:lnTo>
                  <a:lnTo>
                    <a:pt x="2594547" y="1043047"/>
                  </a:lnTo>
                  <a:lnTo>
                    <a:pt x="2597035" y="1023835"/>
                  </a:lnTo>
                  <a:lnTo>
                    <a:pt x="2596680" y="73075"/>
                  </a:lnTo>
                  <a:lnTo>
                    <a:pt x="2581576" y="28698"/>
                  </a:lnTo>
                  <a:lnTo>
                    <a:pt x="2542632" y="2428"/>
                  </a:lnTo>
                  <a:lnTo>
                    <a:pt x="2533230" y="607"/>
                  </a:lnTo>
                  <a:lnTo>
                    <a:pt x="2523591" y="0"/>
                  </a:lnTo>
                  <a:close/>
                </a:path>
              </a:pathLst>
            </a:custGeom>
            <a:solidFill>
              <a:srgbClr val="1127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56844" y="3245766"/>
              <a:ext cx="2597150" cy="1097280"/>
            </a:xfrm>
            <a:custGeom>
              <a:avLst/>
              <a:gdLst/>
              <a:ahLst/>
              <a:cxnLst/>
              <a:rect l="l" t="t" r="r" b="b"/>
              <a:pathLst>
                <a:path w="2597150" h="1097279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2523591" y="0"/>
                  </a:lnTo>
                  <a:lnTo>
                    <a:pt x="2568124" y="15096"/>
                  </a:lnTo>
                  <a:lnTo>
                    <a:pt x="2594249" y="54219"/>
                  </a:lnTo>
                  <a:lnTo>
                    <a:pt x="2596680" y="73075"/>
                  </a:lnTo>
                  <a:lnTo>
                    <a:pt x="2597035" y="1023835"/>
                  </a:lnTo>
                  <a:lnTo>
                    <a:pt x="2596428" y="1033469"/>
                  </a:lnTo>
                  <a:lnTo>
                    <a:pt x="2594606" y="1042870"/>
                  </a:lnTo>
                  <a:lnTo>
                    <a:pt x="2568330" y="1081820"/>
                  </a:lnTo>
                  <a:lnTo>
                    <a:pt x="2523959" y="1096911"/>
                  </a:lnTo>
                  <a:lnTo>
                    <a:pt x="73075" y="1097280"/>
                  </a:lnTo>
                  <a:lnTo>
                    <a:pt x="28548" y="1082170"/>
                  </a:lnTo>
                  <a:lnTo>
                    <a:pt x="2428" y="1043047"/>
                  </a:lnTo>
                  <a:lnTo>
                    <a:pt x="0" y="1024191"/>
                  </a:lnTo>
                  <a:lnTo>
                    <a:pt x="0" y="73075"/>
                  </a:lnTo>
                  <a:close/>
                </a:path>
              </a:pathLst>
            </a:custGeom>
            <a:ln w="9359">
              <a:solidFill>
                <a:srgbClr val="2345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581304" y="3278909"/>
            <a:ext cx="2115185" cy="688975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 sz="1400" b="1">
                <a:solidFill>
                  <a:srgbClr val="2CD3BE"/>
                </a:solidFill>
                <a:latin typeface="Calibri"/>
                <a:cs typeface="Calibri"/>
              </a:rPr>
              <a:t>Uses</a:t>
            </a:r>
            <a:r>
              <a:rPr dirty="0" sz="1400" spc="-30" b="1">
                <a:solidFill>
                  <a:srgbClr val="2CD3BE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2CD3BE"/>
                </a:solidFill>
                <a:latin typeface="Calibri"/>
                <a:cs typeface="Calibri"/>
              </a:rPr>
              <a:t>maximum</a:t>
            </a:r>
            <a:r>
              <a:rPr dirty="0" sz="1400" spc="-40" b="1">
                <a:solidFill>
                  <a:srgbClr val="2CD3BE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solidFill>
                  <a:srgbClr val="2CD3BE"/>
                </a:solidFill>
                <a:latin typeface="Calibri"/>
                <a:cs typeface="Calibri"/>
              </a:rPr>
              <a:t>RSSI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204"/>
              </a:spcBef>
            </a:pP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Each</a:t>
            </a:r>
            <a:r>
              <a:rPr dirty="0" sz="1300" spc="-4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row</a:t>
            </a:r>
            <a:r>
              <a:rPr dirty="0" sz="1300" spc="-2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is</a:t>
            </a:r>
            <a:r>
              <a:rPr dirty="0" sz="1300" spc="-3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DBE6F2"/>
                </a:solidFill>
                <a:latin typeface="Calibri"/>
                <a:cs typeface="Calibri"/>
              </a:rPr>
              <a:t>labelled</a:t>
            </a:r>
            <a:r>
              <a:rPr dirty="0" sz="1300" spc="-3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by</a:t>
            </a:r>
            <a:r>
              <a:rPr dirty="0" sz="1300" spc="-3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 spc="-25">
                <a:solidFill>
                  <a:srgbClr val="DBE6F2"/>
                </a:solidFill>
                <a:latin typeface="Calibri"/>
                <a:cs typeface="Calibri"/>
              </a:rPr>
              <a:t>the </a:t>
            </a:r>
            <a:r>
              <a:rPr dirty="0" sz="1300" spc="-20">
                <a:solidFill>
                  <a:srgbClr val="DBE6F2"/>
                </a:solidFill>
                <a:latin typeface="Calibri"/>
                <a:cs typeface="Calibri"/>
              </a:rPr>
              <a:t>strongest</a:t>
            </a:r>
            <a:r>
              <a:rPr dirty="0" sz="1300" spc="-3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RSSI</a:t>
            </a:r>
            <a:r>
              <a:rPr dirty="0" sz="1300" spc="-2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among</a:t>
            </a:r>
            <a:r>
              <a:rPr dirty="0" sz="1300" spc="-2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its</a:t>
            </a:r>
            <a:r>
              <a:rPr dirty="0" sz="1300" spc="-3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DBE6F2"/>
                </a:solidFill>
                <a:latin typeface="Calibri"/>
                <a:cs typeface="Calibri"/>
              </a:rPr>
              <a:t>WAPs.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268440" y="3241086"/>
            <a:ext cx="2606675" cy="1106805"/>
            <a:chOff x="3268440" y="3241086"/>
            <a:chExt cx="2606675" cy="1106805"/>
          </a:xfrm>
        </p:grpSpPr>
        <p:sp>
          <p:nvSpPr>
            <p:cNvPr id="24" name="object 24"/>
            <p:cNvSpPr/>
            <p:nvPr/>
          </p:nvSpPr>
          <p:spPr>
            <a:xfrm>
              <a:off x="3273120" y="3245766"/>
              <a:ext cx="2597150" cy="1097280"/>
            </a:xfrm>
            <a:custGeom>
              <a:avLst/>
              <a:gdLst/>
              <a:ahLst/>
              <a:cxnLst/>
              <a:rect l="l" t="t" r="r" b="b"/>
              <a:pathLst>
                <a:path w="2597150" h="1097279">
                  <a:moveTo>
                    <a:pt x="2523604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1024191"/>
                  </a:lnTo>
                  <a:lnTo>
                    <a:pt x="5412" y="1051932"/>
                  </a:lnTo>
                  <a:lnTo>
                    <a:pt x="5464" y="1052087"/>
                  </a:lnTo>
                  <a:lnTo>
                    <a:pt x="36360" y="1087551"/>
                  </a:lnTo>
                  <a:lnTo>
                    <a:pt x="73075" y="1097280"/>
                  </a:lnTo>
                  <a:lnTo>
                    <a:pt x="2523959" y="1096911"/>
                  </a:lnTo>
                  <a:lnTo>
                    <a:pt x="2568337" y="1081820"/>
                  </a:lnTo>
                  <a:lnTo>
                    <a:pt x="2594547" y="1043047"/>
                  </a:lnTo>
                  <a:lnTo>
                    <a:pt x="2594606" y="1042870"/>
                  </a:lnTo>
                  <a:lnTo>
                    <a:pt x="2596389" y="1033669"/>
                  </a:lnTo>
                  <a:lnTo>
                    <a:pt x="2596428" y="1033469"/>
                  </a:lnTo>
                  <a:lnTo>
                    <a:pt x="2597013" y="1024191"/>
                  </a:lnTo>
                  <a:lnTo>
                    <a:pt x="2597035" y="1023835"/>
                  </a:lnTo>
                  <a:lnTo>
                    <a:pt x="2596680" y="73075"/>
                  </a:lnTo>
                  <a:lnTo>
                    <a:pt x="2581581" y="28698"/>
                  </a:lnTo>
                  <a:lnTo>
                    <a:pt x="2542633" y="2428"/>
                  </a:lnTo>
                  <a:lnTo>
                    <a:pt x="2533236" y="607"/>
                  </a:lnTo>
                  <a:lnTo>
                    <a:pt x="2523604" y="0"/>
                  </a:lnTo>
                  <a:close/>
                </a:path>
              </a:pathLst>
            </a:custGeom>
            <a:solidFill>
              <a:srgbClr val="1127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273120" y="3245766"/>
              <a:ext cx="2597150" cy="1097280"/>
            </a:xfrm>
            <a:custGeom>
              <a:avLst/>
              <a:gdLst/>
              <a:ahLst/>
              <a:cxnLst/>
              <a:rect l="l" t="t" r="r" b="b"/>
              <a:pathLst>
                <a:path w="2597150" h="1097279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705" y="15091"/>
                  </a:lnTo>
                  <a:lnTo>
                    <a:pt x="73075" y="0"/>
                  </a:lnTo>
                  <a:lnTo>
                    <a:pt x="2523604" y="0"/>
                  </a:lnTo>
                  <a:lnTo>
                    <a:pt x="2568124" y="15096"/>
                  </a:lnTo>
                  <a:lnTo>
                    <a:pt x="2594251" y="54219"/>
                  </a:lnTo>
                  <a:lnTo>
                    <a:pt x="2596680" y="73075"/>
                  </a:lnTo>
                  <a:lnTo>
                    <a:pt x="2597035" y="1023835"/>
                  </a:lnTo>
                  <a:lnTo>
                    <a:pt x="2596428" y="1033469"/>
                  </a:lnTo>
                  <a:lnTo>
                    <a:pt x="2594606" y="1042870"/>
                  </a:lnTo>
                  <a:lnTo>
                    <a:pt x="2568337" y="1081820"/>
                  </a:lnTo>
                  <a:lnTo>
                    <a:pt x="2523959" y="1096911"/>
                  </a:lnTo>
                  <a:lnTo>
                    <a:pt x="73075" y="1097280"/>
                  </a:lnTo>
                  <a:lnTo>
                    <a:pt x="28555" y="1082170"/>
                  </a:lnTo>
                  <a:lnTo>
                    <a:pt x="2428" y="1043047"/>
                  </a:lnTo>
                  <a:lnTo>
                    <a:pt x="0" y="1024191"/>
                  </a:lnTo>
                  <a:lnTo>
                    <a:pt x="0" y="73075"/>
                  </a:lnTo>
                  <a:close/>
                </a:path>
              </a:pathLst>
            </a:custGeom>
            <a:ln w="9359">
              <a:solidFill>
                <a:srgbClr val="2345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3397580" y="3278909"/>
            <a:ext cx="1992630" cy="688975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 sz="1400" b="1">
                <a:solidFill>
                  <a:srgbClr val="2CD3BE"/>
                </a:solidFill>
                <a:latin typeface="Calibri"/>
                <a:cs typeface="Calibri"/>
              </a:rPr>
              <a:t>Edge</a:t>
            </a:r>
            <a:r>
              <a:rPr dirty="0" sz="1400" spc="-60" b="1">
                <a:solidFill>
                  <a:srgbClr val="2CD3BE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2CD3BE"/>
                </a:solidFill>
                <a:latin typeface="Calibri"/>
                <a:cs typeface="Calibri"/>
              </a:rPr>
              <a:t>values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204"/>
              </a:spcBef>
            </a:pPr>
            <a:r>
              <a:rPr dirty="0" sz="1300" spc="-10">
                <a:solidFill>
                  <a:srgbClr val="DBE6F2"/>
                </a:solidFill>
                <a:latin typeface="Calibri"/>
                <a:cs typeface="Calibri"/>
              </a:rPr>
              <a:t>Exactly</a:t>
            </a:r>
            <a:r>
              <a:rPr dirty="0" sz="1300" spc="-3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−75</a:t>
            </a:r>
            <a:r>
              <a:rPr dirty="0" sz="1300" spc="-3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dBm</a:t>
            </a:r>
            <a:r>
              <a:rPr dirty="0" sz="1300" spc="-3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is</a:t>
            </a:r>
            <a:r>
              <a:rPr dirty="0" sz="1300" spc="-2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 spc="-30">
                <a:solidFill>
                  <a:srgbClr val="DBE6F2"/>
                </a:solidFill>
                <a:latin typeface="Calibri"/>
                <a:cs typeface="Calibri"/>
              </a:rPr>
              <a:t>Fair,</a:t>
            </a:r>
            <a:r>
              <a:rPr dirty="0" sz="1300" spc="-3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−65</a:t>
            </a:r>
            <a:r>
              <a:rPr dirty="0" sz="1300" spc="-3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 spc="-25">
                <a:solidFill>
                  <a:srgbClr val="DBE6F2"/>
                </a:solidFill>
                <a:latin typeface="Calibri"/>
                <a:cs typeface="Calibri"/>
              </a:rPr>
              <a:t>is 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Good,</a:t>
            </a:r>
            <a:r>
              <a:rPr dirty="0" sz="1300" spc="-3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and</a:t>
            </a:r>
            <a:r>
              <a:rPr dirty="0" sz="1300" spc="-4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−55</a:t>
            </a:r>
            <a:r>
              <a:rPr dirty="0" sz="1300" spc="-4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is</a:t>
            </a:r>
            <a:r>
              <a:rPr dirty="0" sz="1300" spc="-4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DBE6F2"/>
                </a:solidFill>
                <a:latin typeface="Calibri"/>
                <a:cs typeface="Calibri"/>
              </a:rPr>
              <a:t>Excellent.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084716" y="3241086"/>
            <a:ext cx="2606675" cy="1106805"/>
            <a:chOff x="6084716" y="3241086"/>
            <a:chExt cx="2606675" cy="1106805"/>
          </a:xfrm>
        </p:grpSpPr>
        <p:sp>
          <p:nvSpPr>
            <p:cNvPr id="28" name="object 28"/>
            <p:cNvSpPr/>
            <p:nvPr/>
          </p:nvSpPr>
          <p:spPr>
            <a:xfrm>
              <a:off x="6089396" y="3245766"/>
              <a:ext cx="2597150" cy="1097280"/>
            </a:xfrm>
            <a:custGeom>
              <a:avLst/>
              <a:gdLst/>
              <a:ahLst/>
              <a:cxnLst/>
              <a:rect l="l" t="t" r="r" b="b"/>
              <a:pathLst>
                <a:path w="2597150" h="1097279">
                  <a:moveTo>
                    <a:pt x="2523604" y="0"/>
                  </a:moveTo>
                  <a:lnTo>
                    <a:pt x="73088" y="0"/>
                  </a:lnTo>
                  <a:lnTo>
                    <a:pt x="63610" y="607"/>
                  </a:lnTo>
                  <a:lnTo>
                    <a:pt x="21431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1024191"/>
                  </a:lnTo>
                  <a:lnTo>
                    <a:pt x="594" y="1033469"/>
                  </a:lnTo>
                  <a:lnTo>
                    <a:pt x="607" y="1033669"/>
                  </a:lnTo>
                  <a:lnTo>
                    <a:pt x="2395" y="1042870"/>
                  </a:lnTo>
                  <a:lnTo>
                    <a:pt x="2430" y="1043047"/>
                  </a:lnTo>
                  <a:lnTo>
                    <a:pt x="5418" y="1051932"/>
                  </a:lnTo>
                  <a:lnTo>
                    <a:pt x="36360" y="1087551"/>
                  </a:lnTo>
                  <a:lnTo>
                    <a:pt x="73088" y="1097280"/>
                  </a:lnTo>
                  <a:lnTo>
                    <a:pt x="2523959" y="1096911"/>
                  </a:lnTo>
                  <a:lnTo>
                    <a:pt x="2568337" y="1081820"/>
                  </a:lnTo>
                  <a:lnTo>
                    <a:pt x="2594558" y="1043047"/>
                  </a:lnTo>
                  <a:lnTo>
                    <a:pt x="2596402" y="1033669"/>
                  </a:lnTo>
                  <a:lnTo>
                    <a:pt x="2596440" y="1033469"/>
                  </a:lnTo>
                  <a:lnTo>
                    <a:pt x="2597025" y="1024191"/>
                  </a:lnTo>
                  <a:lnTo>
                    <a:pt x="2597048" y="1023835"/>
                  </a:lnTo>
                  <a:lnTo>
                    <a:pt x="2596680" y="73075"/>
                  </a:lnTo>
                  <a:lnTo>
                    <a:pt x="2581588" y="28698"/>
                  </a:lnTo>
                  <a:lnTo>
                    <a:pt x="2542638" y="2428"/>
                  </a:lnTo>
                  <a:lnTo>
                    <a:pt x="2533238" y="607"/>
                  </a:lnTo>
                  <a:lnTo>
                    <a:pt x="2523604" y="0"/>
                  </a:lnTo>
                  <a:close/>
                </a:path>
              </a:pathLst>
            </a:custGeom>
            <a:solidFill>
              <a:srgbClr val="1127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6089396" y="3245766"/>
              <a:ext cx="2597150" cy="1097280"/>
            </a:xfrm>
            <a:custGeom>
              <a:avLst/>
              <a:gdLst/>
              <a:ahLst/>
              <a:cxnLst/>
              <a:rect l="l" t="t" r="r" b="b"/>
              <a:pathLst>
                <a:path w="2597150" h="1097279">
                  <a:moveTo>
                    <a:pt x="0" y="73075"/>
                  </a:moveTo>
                  <a:lnTo>
                    <a:pt x="607" y="63442"/>
                  </a:lnTo>
                  <a:lnTo>
                    <a:pt x="2430" y="54041"/>
                  </a:lnTo>
                  <a:lnTo>
                    <a:pt x="28710" y="15091"/>
                  </a:lnTo>
                  <a:lnTo>
                    <a:pt x="73088" y="0"/>
                  </a:lnTo>
                  <a:lnTo>
                    <a:pt x="2523604" y="0"/>
                  </a:lnTo>
                  <a:lnTo>
                    <a:pt x="2568131" y="15096"/>
                  </a:lnTo>
                  <a:lnTo>
                    <a:pt x="2594251" y="54219"/>
                  </a:lnTo>
                  <a:lnTo>
                    <a:pt x="2596680" y="73075"/>
                  </a:lnTo>
                  <a:lnTo>
                    <a:pt x="2597048" y="1023835"/>
                  </a:lnTo>
                  <a:lnTo>
                    <a:pt x="2596440" y="1033469"/>
                  </a:lnTo>
                  <a:lnTo>
                    <a:pt x="2594617" y="1042870"/>
                  </a:lnTo>
                  <a:lnTo>
                    <a:pt x="2568337" y="1081820"/>
                  </a:lnTo>
                  <a:lnTo>
                    <a:pt x="2523959" y="1096911"/>
                  </a:lnTo>
                  <a:lnTo>
                    <a:pt x="73088" y="1097280"/>
                  </a:lnTo>
                  <a:lnTo>
                    <a:pt x="28555" y="1082170"/>
                  </a:lnTo>
                  <a:lnTo>
                    <a:pt x="2430" y="1043047"/>
                  </a:lnTo>
                  <a:lnTo>
                    <a:pt x="0" y="1024191"/>
                  </a:lnTo>
                  <a:lnTo>
                    <a:pt x="0" y="73075"/>
                  </a:lnTo>
                  <a:close/>
                </a:path>
              </a:pathLst>
            </a:custGeom>
            <a:ln w="9359">
              <a:solidFill>
                <a:srgbClr val="2345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6213855" y="3278909"/>
            <a:ext cx="2322830" cy="688975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 sz="1400" spc="-10" b="1">
                <a:solidFill>
                  <a:srgbClr val="2CD3BE"/>
                </a:solidFill>
                <a:latin typeface="Calibri"/>
                <a:cs typeface="Calibri"/>
              </a:rPr>
              <a:t>Wi-</a:t>
            </a:r>
            <a:r>
              <a:rPr dirty="0" sz="1400" b="1">
                <a:solidFill>
                  <a:srgbClr val="2CD3BE"/>
                </a:solidFill>
                <a:latin typeface="Calibri"/>
                <a:cs typeface="Calibri"/>
              </a:rPr>
              <a:t>Fi,</a:t>
            </a:r>
            <a:r>
              <a:rPr dirty="0" sz="1400" spc="-20" b="1">
                <a:solidFill>
                  <a:srgbClr val="2CD3BE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2CD3BE"/>
                </a:solidFill>
                <a:latin typeface="Calibri"/>
                <a:cs typeface="Calibri"/>
              </a:rPr>
              <a:t>not</a:t>
            </a:r>
            <a:r>
              <a:rPr dirty="0" sz="1400" spc="-15" b="1">
                <a:solidFill>
                  <a:srgbClr val="2CD3BE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2CD3BE"/>
                </a:solidFill>
                <a:latin typeface="Calibri"/>
                <a:cs typeface="Calibri"/>
              </a:rPr>
              <a:t>cellular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204"/>
              </a:spcBef>
            </a:pP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These</a:t>
            </a:r>
            <a:r>
              <a:rPr dirty="0" sz="1300" spc="-4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are</a:t>
            </a:r>
            <a:r>
              <a:rPr dirty="0" sz="1300" spc="-4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DBE6F2"/>
                </a:solidFill>
                <a:latin typeface="Calibri"/>
                <a:cs typeface="Calibri"/>
              </a:rPr>
              <a:t>Wi-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Fi</a:t>
            </a:r>
            <a:r>
              <a:rPr dirty="0" sz="1300" spc="-3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RSSI</a:t>
            </a:r>
            <a:r>
              <a:rPr dirty="0" sz="1300" spc="-2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limits</a:t>
            </a:r>
            <a:r>
              <a:rPr dirty="0" sz="1300" spc="-4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in</a:t>
            </a:r>
            <a:r>
              <a:rPr dirty="0" sz="1300" spc="-4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DBE6F2"/>
                </a:solidFill>
                <a:latin typeface="Calibri"/>
                <a:cs typeface="Calibri"/>
              </a:rPr>
              <a:t>dBm, 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not</a:t>
            </a:r>
            <a:r>
              <a:rPr dirty="0" sz="1300" spc="-3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CQI,</a:t>
            </a:r>
            <a:r>
              <a:rPr dirty="0" sz="1300" spc="-3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RSRP</a:t>
            </a:r>
            <a:r>
              <a:rPr dirty="0" sz="1300" spc="-4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or</a:t>
            </a:r>
            <a:r>
              <a:rPr dirty="0" sz="1300" spc="-4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DBE6F2"/>
                </a:solidFill>
                <a:latin typeface="Calibri"/>
                <a:cs typeface="Calibri"/>
              </a:rPr>
              <a:t>RSRQ.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KLH</a:t>
            </a:r>
            <a:r>
              <a:rPr dirty="0" spc="-35"/>
              <a:t> </a:t>
            </a:r>
            <a:r>
              <a:rPr dirty="0"/>
              <a:t>University</a:t>
            </a:r>
            <a:r>
              <a:rPr dirty="0" spc="175"/>
              <a:t> </a:t>
            </a:r>
            <a:r>
              <a:rPr dirty="0"/>
              <a:t>|</a:t>
            </a:r>
            <a:r>
              <a:rPr dirty="0" spc="175"/>
              <a:t> </a:t>
            </a:r>
            <a:r>
              <a:rPr dirty="0"/>
              <a:t>Dept.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ECE</a:t>
            </a:r>
            <a:r>
              <a:rPr dirty="0" spc="170"/>
              <a:t> </a:t>
            </a:r>
            <a:r>
              <a:rPr dirty="0"/>
              <a:t>|</a:t>
            </a:r>
            <a:r>
              <a:rPr dirty="0" spc="175"/>
              <a:t> </a:t>
            </a:r>
            <a:r>
              <a:rPr dirty="0"/>
              <a:t>Machine</a:t>
            </a:r>
            <a:r>
              <a:rPr dirty="0" spc="-25"/>
              <a:t> </a:t>
            </a:r>
            <a:r>
              <a:rPr dirty="0"/>
              <a:t>Learning</a:t>
            </a:r>
            <a:r>
              <a:rPr dirty="0" spc="-25"/>
              <a:t> </a:t>
            </a:r>
            <a:r>
              <a:rPr dirty="0" spc="-10"/>
              <a:t>(25SC2107E)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749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5"/>
              <a:t>Federated</a:t>
            </a:r>
            <a:r>
              <a:rPr dirty="0" spc="-110"/>
              <a:t> </a:t>
            </a:r>
            <a:r>
              <a:rPr dirty="0"/>
              <a:t>Learning</a:t>
            </a:r>
            <a:r>
              <a:rPr dirty="0" spc="-114"/>
              <a:t> </a:t>
            </a:r>
            <a:r>
              <a:rPr dirty="0" spc="-10"/>
              <a:t>Workflow</a:t>
            </a:r>
          </a:p>
        </p:txBody>
      </p:sp>
      <p:sp>
        <p:nvSpPr>
          <p:cNvPr id="3" name="object 3"/>
          <p:cNvSpPr/>
          <p:nvPr/>
        </p:nvSpPr>
        <p:spPr>
          <a:xfrm>
            <a:off x="456844" y="1078562"/>
            <a:ext cx="311150" cy="311150"/>
          </a:xfrm>
          <a:custGeom>
            <a:avLst/>
            <a:gdLst/>
            <a:ahLst/>
            <a:cxnLst/>
            <a:rect l="l" t="t" r="r" b="b"/>
            <a:pathLst>
              <a:path w="311150" h="311150">
                <a:moveTo>
                  <a:pt x="155511" y="0"/>
                </a:moveTo>
                <a:lnTo>
                  <a:pt x="115282" y="5310"/>
                </a:lnTo>
                <a:lnTo>
                  <a:pt x="77749" y="20878"/>
                </a:lnTo>
                <a:lnTo>
                  <a:pt x="45537" y="45539"/>
                </a:lnTo>
                <a:lnTo>
                  <a:pt x="20878" y="77762"/>
                </a:lnTo>
                <a:lnTo>
                  <a:pt x="5310" y="115290"/>
                </a:lnTo>
                <a:lnTo>
                  <a:pt x="0" y="155524"/>
                </a:lnTo>
                <a:lnTo>
                  <a:pt x="1338" y="175873"/>
                </a:lnTo>
                <a:lnTo>
                  <a:pt x="11846" y="214953"/>
                </a:lnTo>
                <a:lnTo>
                  <a:pt x="32195" y="250262"/>
                </a:lnTo>
                <a:lnTo>
                  <a:pt x="60767" y="278840"/>
                </a:lnTo>
                <a:lnTo>
                  <a:pt x="96077" y="299189"/>
                </a:lnTo>
                <a:lnTo>
                  <a:pt x="135161" y="309696"/>
                </a:lnTo>
                <a:lnTo>
                  <a:pt x="155511" y="311035"/>
                </a:lnTo>
                <a:lnTo>
                  <a:pt x="175866" y="309696"/>
                </a:lnTo>
                <a:lnTo>
                  <a:pt x="214947" y="299189"/>
                </a:lnTo>
                <a:lnTo>
                  <a:pt x="250262" y="278840"/>
                </a:lnTo>
                <a:lnTo>
                  <a:pt x="278840" y="250262"/>
                </a:lnTo>
                <a:lnTo>
                  <a:pt x="299189" y="214953"/>
                </a:lnTo>
                <a:lnTo>
                  <a:pt x="309696" y="175873"/>
                </a:lnTo>
                <a:lnTo>
                  <a:pt x="311035" y="155524"/>
                </a:lnTo>
                <a:lnTo>
                  <a:pt x="309696" y="135169"/>
                </a:lnTo>
                <a:lnTo>
                  <a:pt x="299189" y="96088"/>
                </a:lnTo>
                <a:lnTo>
                  <a:pt x="278840" y="60773"/>
                </a:lnTo>
                <a:lnTo>
                  <a:pt x="250262" y="32195"/>
                </a:lnTo>
                <a:lnTo>
                  <a:pt x="214947" y="11846"/>
                </a:lnTo>
                <a:lnTo>
                  <a:pt x="175866" y="1338"/>
                </a:lnTo>
                <a:lnTo>
                  <a:pt x="155511" y="0"/>
                </a:lnTo>
                <a:close/>
              </a:path>
            </a:pathLst>
          </a:custGeom>
          <a:solidFill>
            <a:srgbClr val="F4B84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452081" y="1503643"/>
            <a:ext cx="2204085" cy="1609725"/>
            <a:chOff x="452081" y="1503643"/>
            <a:chExt cx="2204085" cy="1609725"/>
          </a:xfrm>
        </p:grpSpPr>
        <p:sp>
          <p:nvSpPr>
            <p:cNvPr id="5" name="object 5"/>
            <p:cNvSpPr/>
            <p:nvPr/>
          </p:nvSpPr>
          <p:spPr>
            <a:xfrm>
              <a:off x="456844" y="1508406"/>
              <a:ext cx="2194560" cy="731520"/>
            </a:xfrm>
            <a:custGeom>
              <a:avLst/>
              <a:gdLst/>
              <a:ahLst/>
              <a:cxnLst/>
              <a:rect l="l" t="t" r="r" b="b"/>
              <a:pathLst>
                <a:path w="2194560" h="731519">
                  <a:moveTo>
                    <a:pt x="212111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658431"/>
                  </a:lnTo>
                  <a:lnTo>
                    <a:pt x="594" y="667709"/>
                  </a:lnTo>
                  <a:lnTo>
                    <a:pt x="607" y="667909"/>
                  </a:lnTo>
                  <a:lnTo>
                    <a:pt x="2394" y="677110"/>
                  </a:lnTo>
                  <a:lnTo>
                    <a:pt x="2428" y="677287"/>
                  </a:lnTo>
                  <a:lnTo>
                    <a:pt x="5412" y="686172"/>
                  </a:lnTo>
                  <a:lnTo>
                    <a:pt x="5464" y="686327"/>
                  </a:lnTo>
                  <a:lnTo>
                    <a:pt x="9715" y="694791"/>
                  </a:lnTo>
                  <a:lnTo>
                    <a:pt x="44979" y="726049"/>
                  </a:lnTo>
                  <a:lnTo>
                    <a:pt x="73075" y="731520"/>
                  </a:lnTo>
                  <a:lnTo>
                    <a:pt x="2121471" y="731151"/>
                  </a:lnTo>
                  <a:lnTo>
                    <a:pt x="2165849" y="716060"/>
                  </a:lnTo>
                  <a:lnTo>
                    <a:pt x="2189012" y="686327"/>
                  </a:lnTo>
                  <a:lnTo>
                    <a:pt x="2189089" y="686172"/>
                  </a:lnTo>
                  <a:lnTo>
                    <a:pt x="2192069" y="677287"/>
                  </a:lnTo>
                  <a:lnTo>
                    <a:pt x="2192129" y="677110"/>
                  </a:lnTo>
                  <a:lnTo>
                    <a:pt x="2193913" y="667909"/>
                  </a:lnTo>
                  <a:lnTo>
                    <a:pt x="2193952" y="667709"/>
                  </a:lnTo>
                  <a:lnTo>
                    <a:pt x="2194537" y="658431"/>
                  </a:lnTo>
                  <a:lnTo>
                    <a:pt x="2194560" y="658075"/>
                  </a:lnTo>
                  <a:lnTo>
                    <a:pt x="2194191" y="73075"/>
                  </a:lnTo>
                  <a:lnTo>
                    <a:pt x="2179100" y="28698"/>
                  </a:lnTo>
                  <a:lnTo>
                    <a:pt x="2140150" y="2428"/>
                  </a:lnTo>
                  <a:lnTo>
                    <a:pt x="2130749" y="607"/>
                  </a:lnTo>
                  <a:lnTo>
                    <a:pt x="2121115" y="0"/>
                  </a:lnTo>
                  <a:close/>
                </a:path>
              </a:pathLst>
            </a:custGeom>
            <a:solidFill>
              <a:srgbClr val="1127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56844" y="1508406"/>
              <a:ext cx="2194560" cy="731520"/>
            </a:xfrm>
            <a:custGeom>
              <a:avLst/>
              <a:gdLst/>
              <a:ahLst/>
              <a:cxnLst/>
              <a:rect l="l" t="t" r="r" b="b"/>
              <a:pathLst>
                <a:path w="2194560" h="731519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2121115" y="0"/>
                  </a:lnTo>
                  <a:lnTo>
                    <a:pt x="2165643" y="15096"/>
                  </a:lnTo>
                  <a:lnTo>
                    <a:pt x="2191762" y="54219"/>
                  </a:lnTo>
                  <a:lnTo>
                    <a:pt x="2194191" y="73075"/>
                  </a:lnTo>
                  <a:lnTo>
                    <a:pt x="2194560" y="658075"/>
                  </a:lnTo>
                  <a:lnTo>
                    <a:pt x="2193952" y="667709"/>
                  </a:lnTo>
                  <a:lnTo>
                    <a:pt x="2192129" y="677110"/>
                  </a:lnTo>
                  <a:lnTo>
                    <a:pt x="2165849" y="716060"/>
                  </a:lnTo>
                  <a:lnTo>
                    <a:pt x="2121471" y="731151"/>
                  </a:lnTo>
                  <a:lnTo>
                    <a:pt x="73075" y="731520"/>
                  </a:lnTo>
                  <a:lnTo>
                    <a:pt x="28548" y="716410"/>
                  </a:lnTo>
                  <a:lnTo>
                    <a:pt x="2428" y="677287"/>
                  </a:lnTo>
                  <a:lnTo>
                    <a:pt x="0" y="658431"/>
                  </a:lnTo>
                  <a:lnTo>
                    <a:pt x="0" y="73075"/>
                  </a:lnTo>
                  <a:close/>
                </a:path>
              </a:pathLst>
            </a:custGeom>
            <a:ln w="9359">
              <a:solidFill>
                <a:srgbClr val="23457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56844" y="2377086"/>
              <a:ext cx="2194560" cy="731520"/>
            </a:xfrm>
            <a:custGeom>
              <a:avLst/>
              <a:gdLst/>
              <a:ahLst/>
              <a:cxnLst/>
              <a:rect l="l" t="t" r="r" b="b"/>
              <a:pathLst>
                <a:path w="2194560" h="731519">
                  <a:moveTo>
                    <a:pt x="212111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658431"/>
                  </a:lnTo>
                  <a:lnTo>
                    <a:pt x="594" y="667709"/>
                  </a:lnTo>
                  <a:lnTo>
                    <a:pt x="607" y="667909"/>
                  </a:lnTo>
                  <a:lnTo>
                    <a:pt x="2394" y="677110"/>
                  </a:lnTo>
                  <a:lnTo>
                    <a:pt x="2428" y="677287"/>
                  </a:lnTo>
                  <a:lnTo>
                    <a:pt x="5412" y="686172"/>
                  </a:lnTo>
                  <a:lnTo>
                    <a:pt x="5464" y="686327"/>
                  </a:lnTo>
                  <a:lnTo>
                    <a:pt x="9715" y="694791"/>
                  </a:lnTo>
                  <a:lnTo>
                    <a:pt x="44979" y="726049"/>
                  </a:lnTo>
                  <a:lnTo>
                    <a:pt x="73075" y="731520"/>
                  </a:lnTo>
                  <a:lnTo>
                    <a:pt x="2121471" y="731151"/>
                  </a:lnTo>
                  <a:lnTo>
                    <a:pt x="2165849" y="716060"/>
                  </a:lnTo>
                  <a:lnTo>
                    <a:pt x="2189012" y="686327"/>
                  </a:lnTo>
                  <a:lnTo>
                    <a:pt x="2189089" y="686172"/>
                  </a:lnTo>
                  <a:lnTo>
                    <a:pt x="2192069" y="677287"/>
                  </a:lnTo>
                  <a:lnTo>
                    <a:pt x="2192129" y="677110"/>
                  </a:lnTo>
                  <a:lnTo>
                    <a:pt x="2193913" y="667909"/>
                  </a:lnTo>
                  <a:lnTo>
                    <a:pt x="2193952" y="667709"/>
                  </a:lnTo>
                  <a:lnTo>
                    <a:pt x="2194537" y="658431"/>
                  </a:lnTo>
                  <a:lnTo>
                    <a:pt x="2194560" y="658075"/>
                  </a:lnTo>
                  <a:lnTo>
                    <a:pt x="2194191" y="73075"/>
                  </a:lnTo>
                  <a:lnTo>
                    <a:pt x="2179100" y="28698"/>
                  </a:lnTo>
                  <a:lnTo>
                    <a:pt x="2140150" y="2428"/>
                  </a:lnTo>
                  <a:lnTo>
                    <a:pt x="2130749" y="607"/>
                  </a:lnTo>
                  <a:lnTo>
                    <a:pt x="2121115" y="0"/>
                  </a:lnTo>
                  <a:close/>
                </a:path>
              </a:pathLst>
            </a:custGeom>
            <a:solidFill>
              <a:srgbClr val="1127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56844" y="2377086"/>
              <a:ext cx="2194560" cy="731520"/>
            </a:xfrm>
            <a:custGeom>
              <a:avLst/>
              <a:gdLst/>
              <a:ahLst/>
              <a:cxnLst/>
              <a:rect l="l" t="t" r="r" b="b"/>
              <a:pathLst>
                <a:path w="2194560" h="731519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2121115" y="0"/>
                  </a:lnTo>
                  <a:lnTo>
                    <a:pt x="2165643" y="15096"/>
                  </a:lnTo>
                  <a:lnTo>
                    <a:pt x="2191762" y="54219"/>
                  </a:lnTo>
                  <a:lnTo>
                    <a:pt x="2194191" y="73075"/>
                  </a:lnTo>
                  <a:lnTo>
                    <a:pt x="2194560" y="658075"/>
                  </a:lnTo>
                  <a:lnTo>
                    <a:pt x="2193952" y="667709"/>
                  </a:lnTo>
                  <a:lnTo>
                    <a:pt x="2192129" y="677110"/>
                  </a:lnTo>
                  <a:lnTo>
                    <a:pt x="2165849" y="716060"/>
                  </a:lnTo>
                  <a:lnTo>
                    <a:pt x="2121471" y="731151"/>
                  </a:lnTo>
                  <a:lnTo>
                    <a:pt x="73075" y="731520"/>
                  </a:lnTo>
                  <a:lnTo>
                    <a:pt x="28548" y="716410"/>
                  </a:lnTo>
                  <a:lnTo>
                    <a:pt x="2428" y="677287"/>
                  </a:lnTo>
                  <a:lnTo>
                    <a:pt x="0" y="658431"/>
                  </a:lnTo>
                  <a:lnTo>
                    <a:pt x="0" y="73075"/>
                  </a:lnTo>
                  <a:close/>
                </a:path>
              </a:pathLst>
            </a:custGeom>
            <a:ln w="9359">
              <a:solidFill>
                <a:srgbClr val="2345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/>
          <p:nvPr/>
        </p:nvSpPr>
        <p:spPr>
          <a:xfrm>
            <a:off x="2486875" y="1371246"/>
            <a:ext cx="311150" cy="311150"/>
          </a:xfrm>
          <a:custGeom>
            <a:avLst/>
            <a:gdLst/>
            <a:ahLst/>
            <a:cxnLst/>
            <a:rect l="l" t="t" r="r" b="b"/>
            <a:pathLst>
              <a:path w="311150" h="311150">
                <a:moveTo>
                  <a:pt x="155524" y="0"/>
                </a:moveTo>
                <a:lnTo>
                  <a:pt x="115295" y="5310"/>
                </a:lnTo>
                <a:lnTo>
                  <a:pt x="77762" y="20878"/>
                </a:lnTo>
                <a:lnTo>
                  <a:pt x="45543" y="45537"/>
                </a:lnTo>
                <a:lnTo>
                  <a:pt x="20878" y="77749"/>
                </a:lnTo>
                <a:lnTo>
                  <a:pt x="5310" y="115282"/>
                </a:lnTo>
                <a:lnTo>
                  <a:pt x="0" y="155511"/>
                </a:lnTo>
                <a:lnTo>
                  <a:pt x="1338" y="175866"/>
                </a:lnTo>
                <a:lnTo>
                  <a:pt x="11846" y="214947"/>
                </a:lnTo>
                <a:lnTo>
                  <a:pt x="32201" y="250262"/>
                </a:lnTo>
                <a:lnTo>
                  <a:pt x="60774" y="278840"/>
                </a:lnTo>
                <a:lnTo>
                  <a:pt x="96089" y="299189"/>
                </a:lnTo>
                <a:lnTo>
                  <a:pt x="135174" y="309696"/>
                </a:lnTo>
                <a:lnTo>
                  <a:pt x="155524" y="311035"/>
                </a:lnTo>
                <a:lnTo>
                  <a:pt x="175873" y="309696"/>
                </a:lnTo>
                <a:lnTo>
                  <a:pt x="214958" y="299189"/>
                </a:lnTo>
                <a:lnTo>
                  <a:pt x="250273" y="278840"/>
                </a:lnTo>
                <a:lnTo>
                  <a:pt x="278847" y="250262"/>
                </a:lnTo>
                <a:lnTo>
                  <a:pt x="299202" y="214947"/>
                </a:lnTo>
                <a:lnTo>
                  <a:pt x="309709" y="175866"/>
                </a:lnTo>
                <a:lnTo>
                  <a:pt x="311048" y="155511"/>
                </a:lnTo>
                <a:lnTo>
                  <a:pt x="309709" y="135161"/>
                </a:lnTo>
                <a:lnTo>
                  <a:pt x="299202" y="96077"/>
                </a:lnTo>
                <a:lnTo>
                  <a:pt x="278847" y="60767"/>
                </a:lnTo>
                <a:lnTo>
                  <a:pt x="250273" y="32195"/>
                </a:lnTo>
                <a:lnTo>
                  <a:pt x="214958" y="11846"/>
                </a:lnTo>
                <a:lnTo>
                  <a:pt x="175873" y="1338"/>
                </a:lnTo>
                <a:lnTo>
                  <a:pt x="155524" y="0"/>
                </a:lnTo>
                <a:close/>
              </a:path>
            </a:pathLst>
          </a:custGeom>
          <a:solidFill>
            <a:srgbClr val="F4B84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561136" y="1011396"/>
            <a:ext cx="2958465" cy="1082675"/>
          </a:xfrm>
          <a:prstGeom prst="rect">
            <a:avLst/>
          </a:prstGeom>
        </p:spPr>
        <p:txBody>
          <a:bodyPr wrap="square" lIns="0" tIns="12318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69"/>
              </a:spcBef>
              <a:tabLst>
                <a:tab pos="306705" algn="l"/>
              </a:tabLst>
            </a:pPr>
            <a:r>
              <a:rPr dirty="0" baseline="2314" sz="1800" spc="-75" b="1">
                <a:solidFill>
                  <a:srgbClr val="09182F"/>
                </a:solidFill>
                <a:latin typeface="Calibri"/>
                <a:cs typeface="Calibri"/>
              </a:rPr>
              <a:t>1</a:t>
            </a:r>
            <a:r>
              <a:rPr dirty="0" baseline="2314" sz="1800" b="1">
                <a:solidFill>
                  <a:srgbClr val="09182F"/>
                </a:solidFill>
                <a:latin typeface="Calibri"/>
                <a:cs typeface="Calibri"/>
              </a:rPr>
              <a:t>	</a:t>
            </a:r>
            <a:r>
              <a:rPr dirty="0" sz="1300" b="1">
                <a:solidFill>
                  <a:srgbClr val="2CD3BE"/>
                </a:solidFill>
                <a:latin typeface="Calibri"/>
                <a:cs typeface="Calibri"/>
              </a:rPr>
              <a:t>16</a:t>
            </a:r>
            <a:r>
              <a:rPr dirty="0" sz="1300" spc="-20" b="1">
                <a:solidFill>
                  <a:srgbClr val="2CD3BE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2CD3BE"/>
                </a:solidFill>
                <a:latin typeface="Calibri"/>
                <a:cs typeface="Calibri"/>
              </a:rPr>
              <a:t>simulated clients</a:t>
            </a:r>
            <a:r>
              <a:rPr dirty="0" sz="1300" spc="-15" b="1">
                <a:solidFill>
                  <a:srgbClr val="2CD3BE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2CD3BE"/>
                </a:solidFill>
                <a:latin typeface="Calibri"/>
                <a:cs typeface="Calibri"/>
              </a:rPr>
              <a:t>(PHONEID</a:t>
            </a:r>
            <a:r>
              <a:rPr dirty="0" sz="1300" spc="-20" b="1">
                <a:solidFill>
                  <a:srgbClr val="2CD3BE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2CD3BE"/>
                </a:solidFill>
                <a:latin typeface="Calibri"/>
                <a:cs typeface="Calibri"/>
              </a:rPr>
              <a:t>groups)</a:t>
            </a:r>
            <a:endParaRPr sz="1300">
              <a:latin typeface="Calibri"/>
              <a:cs typeface="Calibri"/>
            </a:endParaRPr>
          </a:p>
          <a:p>
            <a:pPr marL="2042160">
              <a:lnSpc>
                <a:spcPct val="100000"/>
              </a:lnSpc>
              <a:spcBef>
                <a:spcPts val="805"/>
              </a:spcBef>
            </a:pPr>
            <a:r>
              <a:rPr dirty="0" sz="1200" spc="-50" b="1">
                <a:solidFill>
                  <a:srgbClr val="09182F"/>
                </a:solidFill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  <a:p>
            <a:pPr marL="32384">
              <a:lnSpc>
                <a:spcPct val="100000"/>
              </a:lnSpc>
              <a:spcBef>
                <a:spcPts val="525"/>
              </a:spcBef>
            </a:pP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Client</a:t>
            </a:r>
            <a:r>
              <a:rPr dirty="0" sz="1400" spc="-50" b="1">
                <a:solidFill>
                  <a:srgbClr val="FFFFFF"/>
                </a:solidFill>
                <a:latin typeface="Calibri"/>
                <a:cs typeface="Calibri"/>
              </a:rPr>
              <a:t> 1</a:t>
            </a:r>
            <a:endParaRPr sz="1400">
              <a:latin typeface="Calibri"/>
              <a:cs typeface="Calibri"/>
            </a:endParaRPr>
          </a:p>
          <a:p>
            <a:pPr marL="32384">
              <a:lnSpc>
                <a:spcPct val="100000"/>
              </a:lnSpc>
            </a:pPr>
            <a:r>
              <a:rPr dirty="0" sz="1200">
                <a:solidFill>
                  <a:srgbClr val="A8B9CF"/>
                </a:solidFill>
                <a:latin typeface="Calibri"/>
                <a:cs typeface="Calibri"/>
              </a:rPr>
              <a:t>own</a:t>
            </a:r>
            <a:r>
              <a:rPr dirty="0" sz="1200" spc="-45">
                <a:solidFill>
                  <a:srgbClr val="A8B9C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A8B9CF"/>
                </a:solidFill>
                <a:latin typeface="Calibri"/>
                <a:cs typeface="Calibri"/>
              </a:rPr>
              <a:t>data,</a:t>
            </a:r>
            <a:r>
              <a:rPr dirty="0" sz="1200" spc="-35">
                <a:solidFill>
                  <a:srgbClr val="A8B9C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A8B9CF"/>
                </a:solidFill>
                <a:latin typeface="Calibri"/>
                <a:cs typeface="Calibri"/>
              </a:rPr>
              <a:t>local</a:t>
            </a:r>
            <a:r>
              <a:rPr dirty="0" sz="1200" spc="-50">
                <a:solidFill>
                  <a:srgbClr val="A8B9C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A8B9CF"/>
                </a:solidFill>
                <a:latin typeface="Calibri"/>
                <a:cs typeface="Calibri"/>
              </a:rPr>
              <a:t>training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1304" y="2540789"/>
            <a:ext cx="5829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Client</a:t>
            </a:r>
            <a:r>
              <a:rPr dirty="0" sz="1400" spc="-50" b="1">
                <a:solidFill>
                  <a:srgbClr val="FFFFFF"/>
                </a:solidFill>
                <a:latin typeface="Calibri"/>
                <a:cs typeface="Calibri"/>
              </a:rPr>
              <a:t> 2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1304" y="2754251"/>
            <a:ext cx="14687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A8B9CF"/>
                </a:solidFill>
                <a:latin typeface="Calibri"/>
                <a:cs typeface="Calibri"/>
              </a:rPr>
              <a:t>own</a:t>
            </a:r>
            <a:r>
              <a:rPr dirty="0" sz="1200" spc="-45">
                <a:solidFill>
                  <a:srgbClr val="A8B9C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A8B9CF"/>
                </a:solidFill>
                <a:latin typeface="Calibri"/>
                <a:cs typeface="Calibri"/>
              </a:rPr>
              <a:t>data,</a:t>
            </a:r>
            <a:r>
              <a:rPr dirty="0" sz="1200" spc="-35">
                <a:solidFill>
                  <a:srgbClr val="A8B9C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A8B9CF"/>
                </a:solidFill>
                <a:latin typeface="Calibri"/>
                <a:cs typeface="Calibri"/>
              </a:rPr>
              <a:t>local</a:t>
            </a:r>
            <a:r>
              <a:rPr dirty="0" sz="1200" spc="-50">
                <a:solidFill>
                  <a:srgbClr val="A8B9C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A8B9CF"/>
                </a:solidFill>
                <a:latin typeface="Calibri"/>
                <a:cs typeface="Calibri"/>
              </a:rPr>
              <a:t>training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52081" y="3241003"/>
            <a:ext cx="2204085" cy="741045"/>
            <a:chOff x="452081" y="3241003"/>
            <a:chExt cx="2204085" cy="741045"/>
          </a:xfrm>
        </p:grpSpPr>
        <p:sp>
          <p:nvSpPr>
            <p:cNvPr id="12" name="object 12"/>
            <p:cNvSpPr/>
            <p:nvPr/>
          </p:nvSpPr>
          <p:spPr>
            <a:xfrm>
              <a:off x="456844" y="3245766"/>
              <a:ext cx="2194560" cy="731520"/>
            </a:xfrm>
            <a:custGeom>
              <a:avLst/>
              <a:gdLst/>
              <a:ahLst/>
              <a:cxnLst/>
              <a:rect l="l" t="t" r="r" b="b"/>
              <a:pathLst>
                <a:path w="2194560" h="731520">
                  <a:moveTo>
                    <a:pt x="212111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658431"/>
                  </a:lnTo>
                  <a:lnTo>
                    <a:pt x="594" y="667709"/>
                  </a:lnTo>
                  <a:lnTo>
                    <a:pt x="607" y="667909"/>
                  </a:lnTo>
                  <a:lnTo>
                    <a:pt x="2394" y="677110"/>
                  </a:lnTo>
                  <a:lnTo>
                    <a:pt x="2428" y="677287"/>
                  </a:lnTo>
                  <a:lnTo>
                    <a:pt x="28548" y="716410"/>
                  </a:lnTo>
                  <a:lnTo>
                    <a:pt x="73075" y="731520"/>
                  </a:lnTo>
                  <a:lnTo>
                    <a:pt x="2121471" y="731151"/>
                  </a:lnTo>
                  <a:lnTo>
                    <a:pt x="2165849" y="716060"/>
                  </a:lnTo>
                  <a:lnTo>
                    <a:pt x="2192069" y="677287"/>
                  </a:lnTo>
                  <a:lnTo>
                    <a:pt x="2192129" y="677110"/>
                  </a:lnTo>
                  <a:lnTo>
                    <a:pt x="2193913" y="667909"/>
                  </a:lnTo>
                  <a:lnTo>
                    <a:pt x="2193952" y="667709"/>
                  </a:lnTo>
                  <a:lnTo>
                    <a:pt x="2194537" y="658431"/>
                  </a:lnTo>
                  <a:lnTo>
                    <a:pt x="2194560" y="658075"/>
                  </a:lnTo>
                  <a:lnTo>
                    <a:pt x="2194191" y="73075"/>
                  </a:lnTo>
                  <a:lnTo>
                    <a:pt x="2179100" y="28698"/>
                  </a:lnTo>
                  <a:lnTo>
                    <a:pt x="2140150" y="2428"/>
                  </a:lnTo>
                  <a:lnTo>
                    <a:pt x="2130749" y="607"/>
                  </a:lnTo>
                  <a:lnTo>
                    <a:pt x="2121115" y="0"/>
                  </a:lnTo>
                  <a:close/>
                </a:path>
              </a:pathLst>
            </a:custGeom>
            <a:solidFill>
              <a:srgbClr val="1127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56844" y="3245766"/>
              <a:ext cx="2194560" cy="731520"/>
            </a:xfrm>
            <a:custGeom>
              <a:avLst/>
              <a:gdLst/>
              <a:ahLst/>
              <a:cxnLst/>
              <a:rect l="l" t="t" r="r" b="b"/>
              <a:pathLst>
                <a:path w="2194560" h="731520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2121115" y="0"/>
                  </a:lnTo>
                  <a:lnTo>
                    <a:pt x="2165643" y="15096"/>
                  </a:lnTo>
                  <a:lnTo>
                    <a:pt x="2191762" y="54219"/>
                  </a:lnTo>
                  <a:lnTo>
                    <a:pt x="2194191" y="73075"/>
                  </a:lnTo>
                  <a:lnTo>
                    <a:pt x="2194560" y="658075"/>
                  </a:lnTo>
                  <a:lnTo>
                    <a:pt x="2193952" y="667709"/>
                  </a:lnTo>
                  <a:lnTo>
                    <a:pt x="2192129" y="677110"/>
                  </a:lnTo>
                  <a:lnTo>
                    <a:pt x="2165849" y="716060"/>
                  </a:lnTo>
                  <a:lnTo>
                    <a:pt x="2121471" y="731151"/>
                  </a:lnTo>
                  <a:lnTo>
                    <a:pt x="73075" y="731520"/>
                  </a:lnTo>
                  <a:lnTo>
                    <a:pt x="28548" y="716410"/>
                  </a:lnTo>
                  <a:lnTo>
                    <a:pt x="2428" y="677287"/>
                  </a:lnTo>
                  <a:lnTo>
                    <a:pt x="0" y="658431"/>
                  </a:lnTo>
                  <a:lnTo>
                    <a:pt x="0" y="73075"/>
                  </a:lnTo>
                  <a:close/>
                </a:path>
              </a:pathLst>
            </a:custGeom>
            <a:ln w="9359">
              <a:solidFill>
                <a:srgbClr val="2345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581304" y="3409469"/>
            <a:ext cx="67246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Client</a:t>
            </a:r>
            <a:r>
              <a:rPr dirty="0" sz="1400" spc="-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25" b="1">
                <a:solidFill>
                  <a:srgbClr val="FFFFFF"/>
                </a:solidFill>
                <a:latin typeface="Calibri"/>
                <a:cs typeface="Calibri"/>
              </a:rPr>
              <a:t>16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638742" y="1861504"/>
            <a:ext cx="3036570" cy="1763395"/>
            <a:chOff x="2638742" y="1861504"/>
            <a:chExt cx="3036570" cy="1763395"/>
          </a:xfrm>
        </p:grpSpPr>
        <p:sp>
          <p:nvSpPr>
            <p:cNvPr id="19" name="object 19"/>
            <p:cNvSpPr/>
            <p:nvPr/>
          </p:nvSpPr>
          <p:spPr>
            <a:xfrm>
              <a:off x="2651759" y="1874522"/>
              <a:ext cx="1035685" cy="604520"/>
            </a:xfrm>
            <a:custGeom>
              <a:avLst/>
              <a:gdLst/>
              <a:ahLst/>
              <a:cxnLst/>
              <a:rect l="l" t="t" r="r" b="b"/>
              <a:pathLst>
                <a:path w="1035685" h="604519">
                  <a:moveTo>
                    <a:pt x="0" y="0"/>
                  </a:moveTo>
                  <a:lnTo>
                    <a:pt x="1035354" y="604075"/>
                  </a:lnTo>
                </a:path>
              </a:pathLst>
            </a:custGeom>
            <a:ln w="25559">
              <a:solidFill>
                <a:srgbClr val="2CD3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3663365" y="2442961"/>
              <a:ext cx="85725" cy="71755"/>
            </a:xfrm>
            <a:custGeom>
              <a:avLst/>
              <a:gdLst/>
              <a:ahLst/>
              <a:cxnLst/>
              <a:rect l="l" t="t" r="r" b="b"/>
              <a:pathLst>
                <a:path w="85725" h="71755">
                  <a:moveTo>
                    <a:pt x="38874" y="0"/>
                  </a:moveTo>
                  <a:lnTo>
                    <a:pt x="0" y="66243"/>
                  </a:lnTo>
                  <a:lnTo>
                    <a:pt x="85674" y="71640"/>
                  </a:lnTo>
                  <a:lnTo>
                    <a:pt x="38874" y="0"/>
                  </a:lnTo>
                  <a:close/>
                </a:path>
              </a:pathLst>
            </a:custGeom>
            <a:solidFill>
              <a:srgbClr val="2CD3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651759" y="2743202"/>
              <a:ext cx="1026160" cy="635"/>
            </a:xfrm>
            <a:custGeom>
              <a:avLst/>
              <a:gdLst/>
              <a:ahLst/>
              <a:cxnLst/>
              <a:rect l="l" t="t" r="r" b="b"/>
              <a:pathLst>
                <a:path w="1026160" h="635">
                  <a:moveTo>
                    <a:pt x="0" y="0"/>
                  </a:moveTo>
                  <a:lnTo>
                    <a:pt x="1025639" y="355"/>
                  </a:lnTo>
                </a:path>
              </a:pathLst>
            </a:custGeom>
            <a:ln w="25559">
              <a:solidFill>
                <a:srgbClr val="2CD3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672357" y="2705038"/>
              <a:ext cx="76835" cy="76835"/>
            </a:xfrm>
            <a:custGeom>
              <a:avLst/>
              <a:gdLst/>
              <a:ahLst/>
              <a:cxnLst/>
              <a:rect l="l" t="t" r="r" b="b"/>
              <a:pathLst>
                <a:path w="76835" h="76835">
                  <a:moveTo>
                    <a:pt x="0" y="0"/>
                  </a:moveTo>
                  <a:lnTo>
                    <a:pt x="0" y="76682"/>
                  </a:lnTo>
                  <a:lnTo>
                    <a:pt x="76682" y="385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D3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651759" y="3007806"/>
              <a:ext cx="1035685" cy="604520"/>
            </a:xfrm>
            <a:custGeom>
              <a:avLst/>
              <a:gdLst/>
              <a:ahLst/>
              <a:cxnLst/>
              <a:rect l="l" t="t" r="r" b="b"/>
              <a:pathLst>
                <a:path w="1035685" h="604520">
                  <a:moveTo>
                    <a:pt x="0" y="604075"/>
                  </a:moveTo>
                  <a:lnTo>
                    <a:pt x="1035354" y="0"/>
                  </a:lnTo>
                </a:path>
              </a:pathLst>
            </a:custGeom>
            <a:ln w="25559">
              <a:solidFill>
                <a:srgbClr val="2CD3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663365" y="2971802"/>
              <a:ext cx="85725" cy="71755"/>
            </a:xfrm>
            <a:custGeom>
              <a:avLst/>
              <a:gdLst/>
              <a:ahLst/>
              <a:cxnLst/>
              <a:rect l="l" t="t" r="r" b="b"/>
              <a:pathLst>
                <a:path w="85725" h="71755">
                  <a:moveTo>
                    <a:pt x="85674" y="0"/>
                  </a:moveTo>
                  <a:lnTo>
                    <a:pt x="0" y="5397"/>
                  </a:lnTo>
                  <a:lnTo>
                    <a:pt x="38874" y="71640"/>
                  </a:lnTo>
                  <a:lnTo>
                    <a:pt x="85674" y="0"/>
                  </a:lnTo>
                  <a:close/>
                </a:path>
              </a:pathLst>
            </a:custGeom>
            <a:solidFill>
              <a:srgbClr val="2CD3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748684" y="2102766"/>
              <a:ext cx="1920239" cy="1280160"/>
            </a:xfrm>
            <a:custGeom>
              <a:avLst/>
              <a:gdLst/>
              <a:ahLst/>
              <a:cxnLst/>
              <a:rect l="l" t="t" r="r" b="b"/>
              <a:pathLst>
                <a:path w="1920239" h="1280160">
                  <a:moveTo>
                    <a:pt x="184679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1207071"/>
                  </a:lnTo>
                  <a:lnTo>
                    <a:pt x="5412" y="1234812"/>
                  </a:lnTo>
                  <a:lnTo>
                    <a:pt x="5464" y="1234967"/>
                  </a:lnTo>
                  <a:lnTo>
                    <a:pt x="36360" y="1270431"/>
                  </a:lnTo>
                  <a:lnTo>
                    <a:pt x="73075" y="1280160"/>
                  </a:lnTo>
                  <a:lnTo>
                    <a:pt x="1847151" y="1279791"/>
                  </a:lnTo>
                  <a:lnTo>
                    <a:pt x="1891529" y="1264700"/>
                  </a:lnTo>
                  <a:lnTo>
                    <a:pt x="1917749" y="1225927"/>
                  </a:lnTo>
                  <a:lnTo>
                    <a:pt x="1919593" y="1216549"/>
                  </a:lnTo>
                  <a:lnTo>
                    <a:pt x="1919632" y="1216349"/>
                  </a:lnTo>
                  <a:lnTo>
                    <a:pt x="1920217" y="1207071"/>
                  </a:lnTo>
                  <a:lnTo>
                    <a:pt x="1920239" y="1206715"/>
                  </a:lnTo>
                  <a:lnTo>
                    <a:pt x="1919871" y="73075"/>
                  </a:lnTo>
                  <a:lnTo>
                    <a:pt x="1904780" y="28698"/>
                  </a:lnTo>
                  <a:lnTo>
                    <a:pt x="1865830" y="2428"/>
                  </a:lnTo>
                  <a:lnTo>
                    <a:pt x="1856429" y="607"/>
                  </a:lnTo>
                  <a:lnTo>
                    <a:pt x="1846795" y="0"/>
                  </a:lnTo>
                  <a:close/>
                </a:path>
              </a:pathLst>
            </a:custGeom>
            <a:solidFill>
              <a:srgbClr val="0E75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3748684" y="2102766"/>
              <a:ext cx="1920239" cy="1280160"/>
            </a:xfrm>
            <a:custGeom>
              <a:avLst/>
              <a:gdLst/>
              <a:ahLst/>
              <a:cxnLst/>
              <a:rect l="l" t="t" r="r" b="b"/>
              <a:pathLst>
                <a:path w="1920239" h="1280160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1846795" y="0"/>
                  </a:lnTo>
                  <a:lnTo>
                    <a:pt x="1891323" y="15096"/>
                  </a:lnTo>
                  <a:lnTo>
                    <a:pt x="1917442" y="54219"/>
                  </a:lnTo>
                  <a:lnTo>
                    <a:pt x="1919871" y="73075"/>
                  </a:lnTo>
                  <a:lnTo>
                    <a:pt x="1920239" y="1206715"/>
                  </a:lnTo>
                  <a:lnTo>
                    <a:pt x="1919632" y="1216349"/>
                  </a:lnTo>
                  <a:lnTo>
                    <a:pt x="1917809" y="1225750"/>
                  </a:lnTo>
                  <a:lnTo>
                    <a:pt x="1891529" y="1264700"/>
                  </a:lnTo>
                  <a:lnTo>
                    <a:pt x="1847151" y="1279791"/>
                  </a:lnTo>
                  <a:lnTo>
                    <a:pt x="73075" y="1280160"/>
                  </a:lnTo>
                  <a:lnTo>
                    <a:pt x="28548" y="1265050"/>
                  </a:lnTo>
                  <a:lnTo>
                    <a:pt x="2428" y="1225927"/>
                  </a:lnTo>
                  <a:lnTo>
                    <a:pt x="0" y="1207071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CD3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3638880" y="1992962"/>
              <a:ext cx="311150" cy="311150"/>
            </a:xfrm>
            <a:custGeom>
              <a:avLst/>
              <a:gdLst/>
              <a:ahLst/>
              <a:cxnLst/>
              <a:rect l="l" t="t" r="r" b="b"/>
              <a:pathLst>
                <a:path w="311150" h="311150">
                  <a:moveTo>
                    <a:pt x="155524" y="0"/>
                  </a:moveTo>
                  <a:lnTo>
                    <a:pt x="115290" y="5310"/>
                  </a:lnTo>
                  <a:lnTo>
                    <a:pt x="77762" y="20878"/>
                  </a:lnTo>
                  <a:lnTo>
                    <a:pt x="45539" y="45539"/>
                  </a:lnTo>
                  <a:lnTo>
                    <a:pt x="20878" y="77762"/>
                  </a:lnTo>
                  <a:lnTo>
                    <a:pt x="5310" y="115290"/>
                  </a:lnTo>
                  <a:lnTo>
                    <a:pt x="0" y="155524"/>
                  </a:lnTo>
                  <a:lnTo>
                    <a:pt x="1338" y="175873"/>
                  </a:lnTo>
                  <a:lnTo>
                    <a:pt x="11846" y="214953"/>
                  </a:lnTo>
                  <a:lnTo>
                    <a:pt x="32195" y="250262"/>
                  </a:lnTo>
                  <a:lnTo>
                    <a:pt x="60773" y="278840"/>
                  </a:lnTo>
                  <a:lnTo>
                    <a:pt x="96088" y="299189"/>
                  </a:lnTo>
                  <a:lnTo>
                    <a:pt x="135169" y="309696"/>
                  </a:lnTo>
                  <a:lnTo>
                    <a:pt x="155524" y="311035"/>
                  </a:lnTo>
                  <a:lnTo>
                    <a:pt x="175873" y="309696"/>
                  </a:lnTo>
                  <a:lnTo>
                    <a:pt x="214953" y="299189"/>
                  </a:lnTo>
                  <a:lnTo>
                    <a:pt x="250262" y="278840"/>
                  </a:lnTo>
                  <a:lnTo>
                    <a:pt x="278840" y="250262"/>
                  </a:lnTo>
                  <a:lnTo>
                    <a:pt x="299189" y="214953"/>
                  </a:lnTo>
                  <a:lnTo>
                    <a:pt x="309696" y="175873"/>
                  </a:lnTo>
                  <a:lnTo>
                    <a:pt x="311035" y="155524"/>
                  </a:lnTo>
                  <a:lnTo>
                    <a:pt x="309696" y="135169"/>
                  </a:lnTo>
                  <a:lnTo>
                    <a:pt x="299189" y="96088"/>
                  </a:lnTo>
                  <a:lnTo>
                    <a:pt x="278840" y="60773"/>
                  </a:lnTo>
                  <a:lnTo>
                    <a:pt x="250262" y="32195"/>
                  </a:lnTo>
                  <a:lnTo>
                    <a:pt x="214953" y="11846"/>
                  </a:lnTo>
                  <a:lnTo>
                    <a:pt x="175873" y="1338"/>
                  </a:lnTo>
                  <a:lnTo>
                    <a:pt x="155524" y="0"/>
                  </a:lnTo>
                  <a:close/>
                </a:path>
              </a:pathLst>
            </a:custGeom>
            <a:solidFill>
              <a:srgbClr val="F4B84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3743185" y="2043978"/>
            <a:ext cx="1028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 b="1">
                <a:solidFill>
                  <a:srgbClr val="09182F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873144" y="2338821"/>
            <a:ext cx="1599565" cy="8178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FFFFFF"/>
                </a:solidFill>
                <a:latin typeface="Calibri"/>
                <a:cs typeface="Calibri"/>
              </a:rPr>
              <a:t>Server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dirty="0" sz="1200" spc="-20">
                <a:solidFill>
                  <a:srgbClr val="DBE6F2"/>
                </a:solidFill>
                <a:latin typeface="Calibri"/>
                <a:cs typeface="Calibri"/>
              </a:rPr>
              <a:t>averages</a:t>
            </a:r>
            <a:r>
              <a:rPr dirty="0" sz="1200" spc="-1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DBE6F2"/>
                </a:solidFill>
                <a:latin typeface="Calibri"/>
                <a:cs typeface="Calibri"/>
              </a:rPr>
              <a:t>model</a:t>
            </a:r>
            <a:r>
              <a:rPr dirty="0" sz="1200" spc="-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DBE6F2"/>
                </a:solidFill>
                <a:latin typeface="Calibri"/>
                <a:cs typeface="Calibri"/>
              </a:rPr>
              <a:t>weights (FedAvg,</a:t>
            </a:r>
            <a:r>
              <a:rPr dirty="0" sz="1200" spc="-3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DBE6F2"/>
                </a:solidFill>
                <a:latin typeface="Calibri"/>
                <a:cs typeface="Calibri"/>
              </a:rPr>
              <a:t>McMahan</a:t>
            </a:r>
            <a:r>
              <a:rPr dirty="0" sz="1200" spc="-2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DBE6F2"/>
                </a:solidFill>
                <a:latin typeface="Calibri"/>
                <a:cs typeface="Calibri"/>
              </a:rPr>
              <a:t>et</a:t>
            </a:r>
            <a:r>
              <a:rPr dirty="0" sz="1200" spc="-2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DBE6F2"/>
                </a:solidFill>
                <a:latin typeface="Calibri"/>
                <a:cs typeface="Calibri"/>
              </a:rPr>
              <a:t>al., </a:t>
            </a:r>
            <a:r>
              <a:rPr dirty="0" sz="1200" spc="-10">
                <a:solidFill>
                  <a:srgbClr val="DBE6F2"/>
                </a:solidFill>
                <a:latin typeface="Calibri"/>
                <a:cs typeface="Calibri"/>
              </a:rPr>
              <a:t>2017)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81304" y="3622931"/>
            <a:ext cx="14687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A8B9CF"/>
                </a:solidFill>
                <a:latin typeface="Calibri"/>
                <a:cs typeface="Calibri"/>
              </a:rPr>
              <a:t>own</a:t>
            </a:r>
            <a:r>
              <a:rPr dirty="0" sz="1200" spc="-45">
                <a:solidFill>
                  <a:srgbClr val="A8B9C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A8B9CF"/>
                </a:solidFill>
                <a:latin typeface="Calibri"/>
                <a:cs typeface="Calibri"/>
              </a:rPr>
              <a:t>data,</a:t>
            </a:r>
            <a:r>
              <a:rPr dirty="0" sz="1200" spc="-35">
                <a:solidFill>
                  <a:srgbClr val="A8B9C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A8B9CF"/>
                </a:solidFill>
                <a:latin typeface="Calibri"/>
                <a:cs typeface="Calibri"/>
              </a:rPr>
              <a:t>local</a:t>
            </a:r>
            <a:r>
              <a:rPr dirty="0" sz="1200" spc="-50">
                <a:solidFill>
                  <a:srgbClr val="A8B9C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A8B9CF"/>
                </a:solidFill>
                <a:latin typeface="Calibri"/>
                <a:cs typeface="Calibri"/>
              </a:rPr>
              <a:t>training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516316" y="1992962"/>
            <a:ext cx="7174865" cy="2181225"/>
            <a:chOff x="1516316" y="1992962"/>
            <a:chExt cx="7174865" cy="2181225"/>
          </a:xfrm>
        </p:grpSpPr>
        <p:sp>
          <p:nvSpPr>
            <p:cNvPr id="32" name="object 32"/>
            <p:cNvSpPr/>
            <p:nvPr/>
          </p:nvSpPr>
          <p:spPr>
            <a:xfrm>
              <a:off x="1554479" y="3383282"/>
              <a:ext cx="3155315" cy="777875"/>
            </a:xfrm>
            <a:custGeom>
              <a:avLst/>
              <a:gdLst/>
              <a:ahLst/>
              <a:cxnLst/>
              <a:rect l="l" t="t" r="r" b="b"/>
              <a:pathLst>
                <a:path w="3155315" h="777875">
                  <a:moveTo>
                    <a:pt x="3154680" y="0"/>
                  </a:moveTo>
                  <a:lnTo>
                    <a:pt x="3155035" y="777240"/>
                  </a:lnTo>
                </a:path>
                <a:path w="3155315" h="777875">
                  <a:moveTo>
                    <a:pt x="3154680" y="777240"/>
                  </a:moveTo>
                  <a:lnTo>
                    <a:pt x="0" y="777595"/>
                  </a:lnTo>
                </a:path>
                <a:path w="3155315" h="777875">
                  <a:moveTo>
                    <a:pt x="0" y="777240"/>
                  </a:moveTo>
                  <a:lnTo>
                    <a:pt x="355" y="683996"/>
                  </a:lnTo>
                </a:path>
              </a:pathLst>
            </a:custGeom>
            <a:ln w="25559">
              <a:solidFill>
                <a:srgbClr val="F4B84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1516316" y="3995637"/>
              <a:ext cx="76835" cy="76835"/>
            </a:xfrm>
            <a:custGeom>
              <a:avLst/>
              <a:gdLst/>
              <a:ahLst/>
              <a:cxnLst/>
              <a:rect l="l" t="t" r="r" b="b"/>
              <a:pathLst>
                <a:path w="76834" h="76835">
                  <a:moveTo>
                    <a:pt x="38519" y="0"/>
                  </a:moveTo>
                  <a:lnTo>
                    <a:pt x="0" y="76682"/>
                  </a:lnTo>
                  <a:lnTo>
                    <a:pt x="76682" y="76682"/>
                  </a:lnTo>
                  <a:lnTo>
                    <a:pt x="38519" y="0"/>
                  </a:lnTo>
                  <a:close/>
                </a:path>
              </a:pathLst>
            </a:custGeom>
            <a:solidFill>
              <a:srgbClr val="F4B8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5669280" y="2743202"/>
              <a:ext cx="568960" cy="635"/>
            </a:xfrm>
            <a:custGeom>
              <a:avLst/>
              <a:gdLst/>
              <a:ahLst/>
              <a:cxnLst/>
              <a:rect l="l" t="t" r="r" b="b"/>
              <a:pathLst>
                <a:path w="568960" h="635">
                  <a:moveTo>
                    <a:pt x="0" y="0"/>
                  </a:moveTo>
                  <a:lnTo>
                    <a:pt x="568439" y="355"/>
                  </a:lnTo>
                </a:path>
              </a:pathLst>
            </a:custGeom>
            <a:ln w="25559">
              <a:solidFill>
                <a:srgbClr val="2CD3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6232677" y="2705038"/>
              <a:ext cx="76835" cy="76835"/>
            </a:xfrm>
            <a:custGeom>
              <a:avLst/>
              <a:gdLst/>
              <a:ahLst/>
              <a:cxnLst/>
              <a:rect l="l" t="t" r="r" b="b"/>
              <a:pathLst>
                <a:path w="76835" h="76835">
                  <a:moveTo>
                    <a:pt x="0" y="0"/>
                  </a:moveTo>
                  <a:lnTo>
                    <a:pt x="0" y="76682"/>
                  </a:lnTo>
                  <a:lnTo>
                    <a:pt x="76682" y="385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D3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6309004" y="2102766"/>
              <a:ext cx="2377440" cy="1280160"/>
            </a:xfrm>
            <a:custGeom>
              <a:avLst/>
              <a:gdLst/>
              <a:ahLst/>
              <a:cxnLst/>
              <a:rect l="l" t="t" r="r" b="b"/>
              <a:pathLst>
                <a:path w="2377440" h="1280160">
                  <a:moveTo>
                    <a:pt x="230399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1207071"/>
                  </a:lnTo>
                  <a:lnTo>
                    <a:pt x="5412" y="1234812"/>
                  </a:lnTo>
                  <a:lnTo>
                    <a:pt x="5464" y="1234967"/>
                  </a:lnTo>
                  <a:lnTo>
                    <a:pt x="36360" y="1270431"/>
                  </a:lnTo>
                  <a:lnTo>
                    <a:pt x="73075" y="1280160"/>
                  </a:lnTo>
                  <a:lnTo>
                    <a:pt x="2304351" y="1279791"/>
                  </a:lnTo>
                  <a:lnTo>
                    <a:pt x="2348729" y="1264700"/>
                  </a:lnTo>
                  <a:lnTo>
                    <a:pt x="2374949" y="1225927"/>
                  </a:lnTo>
                  <a:lnTo>
                    <a:pt x="2376793" y="1216549"/>
                  </a:lnTo>
                  <a:lnTo>
                    <a:pt x="2376832" y="1216349"/>
                  </a:lnTo>
                  <a:lnTo>
                    <a:pt x="2377417" y="1207071"/>
                  </a:lnTo>
                  <a:lnTo>
                    <a:pt x="2377440" y="1206715"/>
                  </a:lnTo>
                  <a:lnTo>
                    <a:pt x="2377071" y="73075"/>
                  </a:lnTo>
                  <a:lnTo>
                    <a:pt x="2361980" y="28698"/>
                  </a:lnTo>
                  <a:lnTo>
                    <a:pt x="2323030" y="2428"/>
                  </a:lnTo>
                  <a:lnTo>
                    <a:pt x="2313629" y="607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1127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6309004" y="2102766"/>
              <a:ext cx="2377440" cy="1280160"/>
            </a:xfrm>
            <a:custGeom>
              <a:avLst/>
              <a:gdLst/>
              <a:ahLst/>
              <a:cxnLst/>
              <a:rect l="l" t="t" r="r" b="b"/>
              <a:pathLst>
                <a:path w="2377440" h="1280160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2303995" y="0"/>
                  </a:lnTo>
                  <a:lnTo>
                    <a:pt x="2348523" y="15096"/>
                  </a:lnTo>
                  <a:lnTo>
                    <a:pt x="2374642" y="54219"/>
                  </a:lnTo>
                  <a:lnTo>
                    <a:pt x="2377071" y="73075"/>
                  </a:lnTo>
                  <a:lnTo>
                    <a:pt x="2377440" y="1206715"/>
                  </a:lnTo>
                  <a:lnTo>
                    <a:pt x="2376832" y="1216349"/>
                  </a:lnTo>
                  <a:lnTo>
                    <a:pt x="2375009" y="1225750"/>
                  </a:lnTo>
                  <a:lnTo>
                    <a:pt x="2348729" y="1264700"/>
                  </a:lnTo>
                  <a:lnTo>
                    <a:pt x="2304351" y="1279791"/>
                  </a:lnTo>
                  <a:lnTo>
                    <a:pt x="73075" y="1280160"/>
                  </a:lnTo>
                  <a:lnTo>
                    <a:pt x="28548" y="1265050"/>
                  </a:lnTo>
                  <a:lnTo>
                    <a:pt x="2428" y="1225927"/>
                  </a:lnTo>
                  <a:lnTo>
                    <a:pt x="0" y="1207071"/>
                  </a:lnTo>
                  <a:lnTo>
                    <a:pt x="0" y="73075"/>
                  </a:lnTo>
                  <a:close/>
                </a:path>
              </a:pathLst>
            </a:custGeom>
            <a:ln w="9359">
              <a:solidFill>
                <a:srgbClr val="23457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6199199" y="1992962"/>
              <a:ext cx="311150" cy="311150"/>
            </a:xfrm>
            <a:custGeom>
              <a:avLst/>
              <a:gdLst/>
              <a:ahLst/>
              <a:cxnLst/>
              <a:rect l="l" t="t" r="r" b="b"/>
              <a:pathLst>
                <a:path w="311150" h="311150">
                  <a:moveTo>
                    <a:pt x="155524" y="0"/>
                  </a:moveTo>
                  <a:lnTo>
                    <a:pt x="115290" y="5310"/>
                  </a:lnTo>
                  <a:lnTo>
                    <a:pt x="77762" y="20878"/>
                  </a:lnTo>
                  <a:lnTo>
                    <a:pt x="45539" y="45539"/>
                  </a:lnTo>
                  <a:lnTo>
                    <a:pt x="20878" y="77762"/>
                  </a:lnTo>
                  <a:lnTo>
                    <a:pt x="5310" y="115290"/>
                  </a:lnTo>
                  <a:lnTo>
                    <a:pt x="0" y="155524"/>
                  </a:lnTo>
                  <a:lnTo>
                    <a:pt x="1338" y="175873"/>
                  </a:lnTo>
                  <a:lnTo>
                    <a:pt x="11846" y="214953"/>
                  </a:lnTo>
                  <a:lnTo>
                    <a:pt x="32195" y="250262"/>
                  </a:lnTo>
                  <a:lnTo>
                    <a:pt x="60773" y="278840"/>
                  </a:lnTo>
                  <a:lnTo>
                    <a:pt x="96088" y="299189"/>
                  </a:lnTo>
                  <a:lnTo>
                    <a:pt x="135169" y="309696"/>
                  </a:lnTo>
                  <a:lnTo>
                    <a:pt x="155524" y="311035"/>
                  </a:lnTo>
                  <a:lnTo>
                    <a:pt x="175873" y="309696"/>
                  </a:lnTo>
                  <a:lnTo>
                    <a:pt x="214953" y="299189"/>
                  </a:lnTo>
                  <a:lnTo>
                    <a:pt x="250262" y="278840"/>
                  </a:lnTo>
                  <a:lnTo>
                    <a:pt x="278840" y="250262"/>
                  </a:lnTo>
                  <a:lnTo>
                    <a:pt x="299189" y="214953"/>
                  </a:lnTo>
                  <a:lnTo>
                    <a:pt x="309696" y="175873"/>
                  </a:lnTo>
                  <a:lnTo>
                    <a:pt x="311035" y="155524"/>
                  </a:lnTo>
                  <a:lnTo>
                    <a:pt x="309696" y="135169"/>
                  </a:lnTo>
                  <a:lnTo>
                    <a:pt x="299189" y="96088"/>
                  </a:lnTo>
                  <a:lnTo>
                    <a:pt x="278840" y="60773"/>
                  </a:lnTo>
                  <a:lnTo>
                    <a:pt x="250262" y="32195"/>
                  </a:lnTo>
                  <a:lnTo>
                    <a:pt x="214953" y="11846"/>
                  </a:lnTo>
                  <a:lnTo>
                    <a:pt x="175873" y="1338"/>
                  </a:lnTo>
                  <a:lnTo>
                    <a:pt x="155524" y="0"/>
                  </a:lnTo>
                  <a:close/>
                </a:path>
              </a:pathLst>
            </a:custGeom>
            <a:solidFill>
              <a:srgbClr val="F4B84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/>
          <p:cNvSpPr txBox="1"/>
          <p:nvPr/>
        </p:nvSpPr>
        <p:spPr>
          <a:xfrm>
            <a:off x="6303505" y="2043978"/>
            <a:ext cx="1028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 b="1">
                <a:solidFill>
                  <a:srgbClr val="09182F"/>
                </a:solidFill>
                <a:latin typeface="Calibri"/>
                <a:cs typeface="Calibri"/>
              </a:rPr>
              <a:t>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433464" y="2430261"/>
            <a:ext cx="2022475" cy="635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FFFFFF"/>
                </a:solidFill>
                <a:latin typeface="Calibri"/>
                <a:cs typeface="Calibri"/>
              </a:rPr>
              <a:t>Evaluation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dirty="0" sz="1200" spc="-20">
                <a:solidFill>
                  <a:srgbClr val="DBE6F2"/>
                </a:solidFill>
                <a:latin typeface="Calibri"/>
                <a:cs typeface="Calibri"/>
              </a:rPr>
              <a:t>accuracy,</a:t>
            </a:r>
            <a:r>
              <a:rPr dirty="0" sz="1200" spc="-4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DBE6F2"/>
                </a:solidFill>
                <a:latin typeface="Calibri"/>
                <a:cs typeface="Calibri"/>
              </a:rPr>
              <a:t>balanced</a:t>
            </a:r>
            <a:r>
              <a:rPr dirty="0" sz="1200" spc="-3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DBE6F2"/>
                </a:solidFill>
                <a:latin typeface="Calibri"/>
                <a:cs typeface="Calibri"/>
              </a:rPr>
              <a:t>accuracy</a:t>
            </a:r>
            <a:r>
              <a:rPr dirty="0" sz="1200" spc="-3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DBE6F2"/>
                </a:solidFill>
                <a:latin typeface="Calibri"/>
                <a:cs typeface="Calibri"/>
              </a:rPr>
              <a:t>and </a:t>
            </a:r>
            <a:r>
              <a:rPr dirty="0" sz="1200" spc="-10">
                <a:solidFill>
                  <a:srgbClr val="DBE6F2"/>
                </a:solidFill>
                <a:latin typeface="Calibri"/>
                <a:cs typeface="Calibri"/>
              </a:rPr>
              <a:t>weighted</a:t>
            </a:r>
            <a:r>
              <a:rPr dirty="0" sz="1200" spc="-2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DBE6F2"/>
                </a:solidFill>
                <a:latin typeface="Calibri"/>
                <a:cs typeface="Calibri"/>
              </a:rPr>
              <a:t>F1</a:t>
            </a:r>
            <a:r>
              <a:rPr dirty="0" sz="1200" spc="-2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DBE6F2"/>
                </a:solidFill>
                <a:latin typeface="Calibri"/>
                <a:cs typeface="Calibri"/>
              </a:rPr>
              <a:t>on</a:t>
            </a:r>
            <a:r>
              <a:rPr dirty="0" sz="1200" spc="-2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DBE6F2"/>
                </a:solidFill>
                <a:latin typeface="Calibri"/>
                <a:cs typeface="Calibri"/>
              </a:rPr>
              <a:t>test</a:t>
            </a:r>
            <a:r>
              <a:rPr dirty="0" sz="1200" spc="-20">
                <a:solidFill>
                  <a:srgbClr val="DBE6F2"/>
                </a:solidFill>
                <a:latin typeface="Calibri"/>
                <a:cs typeface="Calibri"/>
              </a:rPr>
              <a:t> data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296304" y="3553093"/>
            <a:ext cx="20015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A8B9CF"/>
                </a:solidFill>
                <a:latin typeface="Calibri"/>
                <a:cs typeface="Calibri"/>
              </a:rPr>
              <a:t>Simulation:</a:t>
            </a:r>
            <a:r>
              <a:rPr dirty="0" sz="1200" spc="-25">
                <a:solidFill>
                  <a:srgbClr val="A8B9C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A8B9CF"/>
                </a:solidFill>
                <a:latin typeface="Calibri"/>
                <a:cs typeface="Calibri"/>
              </a:rPr>
              <a:t>clients</a:t>
            </a:r>
            <a:r>
              <a:rPr dirty="0" sz="1200" spc="-15">
                <a:solidFill>
                  <a:srgbClr val="A8B9C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A8B9CF"/>
                </a:solidFill>
                <a:latin typeface="Calibri"/>
                <a:cs typeface="Calibri"/>
              </a:rPr>
              <a:t>are</a:t>
            </a:r>
            <a:r>
              <a:rPr dirty="0" sz="1200" spc="-15">
                <a:solidFill>
                  <a:srgbClr val="A8B9C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A8B9CF"/>
                </a:solidFill>
                <a:latin typeface="Calibri"/>
                <a:cs typeface="Calibri"/>
              </a:rPr>
              <a:t>PHONEID groups,</a:t>
            </a:r>
            <a:r>
              <a:rPr dirty="0" sz="1200" spc="-20">
                <a:solidFill>
                  <a:srgbClr val="A8B9C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A8B9CF"/>
                </a:solidFill>
                <a:latin typeface="Calibri"/>
                <a:cs typeface="Calibri"/>
              </a:rPr>
              <a:t>not</a:t>
            </a:r>
            <a:r>
              <a:rPr dirty="0" sz="1200" spc="-20">
                <a:solidFill>
                  <a:srgbClr val="A8B9C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A8B9CF"/>
                </a:solidFill>
                <a:latin typeface="Calibri"/>
                <a:cs typeface="Calibri"/>
              </a:rPr>
              <a:t>live</a:t>
            </a:r>
            <a:r>
              <a:rPr dirty="0" sz="1200" spc="-15">
                <a:solidFill>
                  <a:srgbClr val="A8B9C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A8B9CF"/>
                </a:solidFill>
                <a:latin typeface="Calibri"/>
                <a:cs typeface="Calibri"/>
              </a:rPr>
              <a:t>devices.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554124" y="4278962"/>
            <a:ext cx="311150" cy="311150"/>
          </a:xfrm>
          <a:custGeom>
            <a:avLst/>
            <a:gdLst/>
            <a:ahLst/>
            <a:cxnLst/>
            <a:rect l="l" t="t" r="r" b="b"/>
            <a:pathLst>
              <a:path w="311150" h="311150">
                <a:moveTo>
                  <a:pt x="155511" y="0"/>
                </a:moveTo>
                <a:lnTo>
                  <a:pt x="115282" y="5310"/>
                </a:lnTo>
                <a:lnTo>
                  <a:pt x="77749" y="20878"/>
                </a:lnTo>
                <a:lnTo>
                  <a:pt x="45537" y="45539"/>
                </a:lnTo>
                <a:lnTo>
                  <a:pt x="20878" y="77762"/>
                </a:lnTo>
                <a:lnTo>
                  <a:pt x="5310" y="115290"/>
                </a:lnTo>
                <a:lnTo>
                  <a:pt x="0" y="155524"/>
                </a:lnTo>
                <a:lnTo>
                  <a:pt x="1338" y="175873"/>
                </a:lnTo>
                <a:lnTo>
                  <a:pt x="11846" y="214953"/>
                </a:lnTo>
                <a:lnTo>
                  <a:pt x="32195" y="250262"/>
                </a:lnTo>
                <a:lnTo>
                  <a:pt x="60767" y="278840"/>
                </a:lnTo>
                <a:lnTo>
                  <a:pt x="96077" y="299189"/>
                </a:lnTo>
                <a:lnTo>
                  <a:pt x="135161" y="309696"/>
                </a:lnTo>
                <a:lnTo>
                  <a:pt x="155511" y="311035"/>
                </a:lnTo>
                <a:lnTo>
                  <a:pt x="175866" y="309696"/>
                </a:lnTo>
                <a:lnTo>
                  <a:pt x="214947" y="299189"/>
                </a:lnTo>
                <a:lnTo>
                  <a:pt x="250262" y="278840"/>
                </a:lnTo>
                <a:lnTo>
                  <a:pt x="278840" y="250262"/>
                </a:lnTo>
                <a:lnTo>
                  <a:pt x="299189" y="214953"/>
                </a:lnTo>
                <a:lnTo>
                  <a:pt x="309696" y="175873"/>
                </a:lnTo>
                <a:lnTo>
                  <a:pt x="311035" y="155524"/>
                </a:lnTo>
                <a:lnTo>
                  <a:pt x="309696" y="135169"/>
                </a:lnTo>
                <a:lnTo>
                  <a:pt x="299189" y="96088"/>
                </a:lnTo>
                <a:lnTo>
                  <a:pt x="278840" y="60773"/>
                </a:lnTo>
                <a:lnTo>
                  <a:pt x="250262" y="32195"/>
                </a:lnTo>
                <a:lnTo>
                  <a:pt x="214947" y="11846"/>
                </a:lnTo>
                <a:lnTo>
                  <a:pt x="175866" y="1338"/>
                </a:lnTo>
                <a:lnTo>
                  <a:pt x="155511" y="0"/>
                </a:lnTo>
                <a:close/>
              </a:path>
            </a:pathLst>
          </a:custGeom>
          <a:solidFill>
            <a:srgbClr val="F4B84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1658416" y="4330333"/>
            <a:ext cx="414210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06705" algn="l"/>
              </a:tabLst>
            </a:pPr>
            <a:r>
              <a:rPr dirty="0" sz="1200" spc="-50" b="1">
                <a:solidFill>
                  <a:srgbClr val="09182F"/>
                </a:solidFill>
                <a:latin typeface="Calibri"/>
                <a:cs typeface="Calibri"/>
              </a:rPr>
              <a:t>4</a:t>
            </a:r>
            <a:r>
              <a:rPr dirty="0" sz="1200" b="1">
                <a:solidFill>
                  <a:srgbClr val="09182F"/>
                </a:solidFill>
                <a:latin typeface="Calibri"/>
                <a:cs typeface="Calibri"/>
              </a:rPr>
              <a:t>	</a:t>
            </a:r>
            <a:r>
              <a:rPr dirty="0" sz="1200" spc="-10">
                <a:solidFill>
                  <a:srgbClr val="F4B841"/>
                </a:solidFill>
                <a:latin typeface="Calibri"/>
                <a:cs typeface="Calibri"/>
              </a:rPr>
              <a:t>Updated</a:t>
            </a:r>
            <a:r>
              <a:rPr dirty="0" sz="1200" spc="-40">
                <a:solidFill>
                  <a:srgbClr val="F4B84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4B841"/>
                </a:solidFill>
                <a:latin typeface="Calibri"/>
                <a:cs typeface="Calibri"/>
              </a:rPr>
              <a:t>model</a:t>
            </a:r>
            <a:r>
              <a:rPr dirty="0" sz="1200" spc="-35">
                <a:solidFill>
                  <a:srgbClr val="F4B84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4B841"/>
                </a:solidFill>
                <a:latin typeface="Calibri"/>
                <a:cs typeface="Calibri"/>
              </a:rPr>
              <a:t>goes</a:t>
            </a:r>
            <a:r>
              <a:rPr dirty="0" sz="1200" spc="-30">
                <a:solidFill>
                  <a:srgbClr val="F4B84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4B841"/>
                </a:solidFill>
                <a:latin typeface="Calibri"/>
                <a:cs typeface="Calibri"/>
              </a:rPr>
              <a:t>back</a:t>
            </a:r>
            <a:r>
              <a:rPr dirty="0" sz="1200" spc="-40">
                <a:solidFill>
                  <a:srgbClr val="F4B84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4B841"/>
                </a:solidFill>
                <a:latin typeface="Calibri"/>
                <a:cs typeface="Calibri"/>
              </a:rPr>
              <a:t>to</a:t>
            </a:r>
            <a:r>
              <a:rPr dirty="0" sz="1200" spc="-30">
                <a:solidFill>
                  <a:srgbClr val="F4B84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4B841"/>
                </a:solidFill>
                <a:latin typeface="Calibri"/>
                <a:cs typeface="Calibri"/>
              </a:rPr>
              <a:t>clients;</a:t>
            </a:r>
            <a:r>
              <a:rPr dirty="0" sz="1200" spc="-35">
                <a:solidFill>
                  <a:srgbClr val="F4B84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4B841"/>
                </a:solidFill>
                <a:latin typeface="Calibri"/>
                <a:cs typeface="Calibri"/>
              </a:rPr>
              <a:t>repeat</a:t>
            </a:r>
            <a:r>
              <a:rPr dirty="0" sz="1200" spc="-40">
                <a:solidFill>
                  <a:srgbClr val="F4B84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4B841"/>
                </a:solidFill>
                <a:latin typeface="Calibri"/>
                <a:cs typeface="Calibri"/>
              </a:rPr>
              <a:t>for</a:t>
            </a:r>
            <a:r>
              <a:rPr dirty="0" sz="1200" spc="-30">
                <a:solidFill>
                  <a:srgbClr val="F4B841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4B841"/>
                </a:solidFill>
                <a:latin typeface="Calibri"/>
                <a:cs typeface="Calibri"/>
              </a:rPr>
              <a:t>several</a:t>
            </a:r>
            <a:r>
              <a:rPr dirty="0" sz="1200" spc="-45">
                <a:solidFill>
                  <a:srgbClr val="F4B841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4B841"/>
                </a:solidFill>
                <a:latin typeface="Calibri"/>
                <a:cs typeface="Calibri"/>
              </a:rPr>
              <a:t>rounds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KLH</a:t>
            </a:r>
            <a:r>
              <a:rPr dirty="0" spc="-35"/>
              <a:t> </a:t>
            </a:r>
            <a:r>
              <a:rPr dirty="0"/>
              <a:t>University</a:t>
            </a:r>
            <a:r>
              <a:rPr dirty="0" spc="175"/>
              <a:t> </a:t>
            </a:r>
            <a:r>
              <a:rPr dirty="0"/>
              <a:t>|</a:t>
            </a:r>
            <a:r>
              <a:rPr dirty="0" spc="175"/>
              <a:t> </a:t>
            </a:r>
            <a:r>
              <a:rPr dirty="0"/>
              <a:t>Dept.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ECE</a:t>
            </a:r>
            <a:r>
              <a:rPr dirty="0" spc="170"/>
              <a:t> </a:t>
            </a:r>
            <a:r>
              <a:rPr dirty="0"/>
              <a:t>|</a:t>
            </a:r>
            <a:r>
              <a:rPr dirty="0" spc="175"/>
              <a:t> </a:t>
            </a:r>
            <a:r>
              <a:rPr dirty="0"/>
              <a:t>Machine</a:t>
            </a:r>
            <a:r>
              <a:rPr dirty="0" spc="-25"/>
              <a:t> </a:t>
            </a:r>
            <a:r>
              <a:rPr dirty="0"/>
              <a:t>Learning</a:t>
            </a:r>
            <a:r>
              <a:rPr dirty="0" spc="-25"/>
              <a:t> </a:t>
            </a:r>
            <a:r>
              <a:rPr dirty="0" spc="-10"/>
              <a:t>(25SC2107E)</a:t>
            </a:r>
          </a:p>
        </p:txBody>
      </p:sp>
      <p:sp>
        <p:nvSpPr>
          <p:cNvPr id="43" name="object 4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749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Four</a:t>
            </a:r>
            <a:r>
              <a:rPr dirty="0" spc="-100"/>
              <a:t> </a:t>
            </a:r>
            <a:r>
              <a:rPr dirty="0"/>
              <a:t>Methods</a:t>
            </a:r>
            <a:r>
              <a:rPr dirty="0" spc="-100"/>
              <a:t> </a:t>
            </a:r>
            <a:r>
              <a:rPr dirty="0" spc="-10"/>
              <a:t>Compared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46087" y="1131889"/>
          <a:ext cx="8327390" cy="31718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600"/>
                <a:gridCol w="1714500"/>
                <a:gridCol w="1714500"/>
                <a:gridCol w="1714500"/>
                <a:gridCol w="1714500"/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9182F"/>
                      </a:solidFill>
                      <a:prstDash val="solid"/>
                    </a:lnL>
                    <a:lnR w="28575">
                      <a:solidFill>
                        <a:srgbClr val="09182F"/>
                      </a:solidFill>
                      <a:prstDash val="solid"/>
                    </a:lnR>
                    <a:lnT w="28575">
                      <a:solidFill>
                        <a:srgbClr val="09182F"/>
                      </a:solidFill>
                      <a:prstDash val="solid"/>
                    </a:lnT>
                    <a:lnB w="28575">
                      <a:solidFill>
                        <a:srgbClr val="09182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0350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Centralized</a:t>
                      </a:r>
                      <a:r>
                        <a:rPr dirty="0" sz="14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MLP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11760">
                    <a:lnL w="28575">
                      <a:solidFill>
                        <a:srgbClr val="09182F"/>
                      </a:solidFill>
                      <a:prstDash val="solid"/>
                    </a:lnL>
                    <a:lnR w="28575">
                      <a:solidFill>
                        <a:srgbClr val="09182F"/>
                      </a:solidFill>
                      <a:prstDash val="solid"/>
                    </a:lnR>
                    <a:lnT w="28575">
                      <a:solidFill>
                        <a:srgbClr val="09182F"/>
                      </a:solidFill>
                      <a:prstDash val="solid"/>
                    </a:lnT>
                    <a:lnB w="28575">
                      <a:solidFill>
                        <a:srgbClr val="09182F"/>
                      </a:solidFill>
                      <a:prstDash val="solid"/>
                    </a:lnB>
                    <a:solidFill>
                      <a:srgbClr val="0E756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FedAvg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11760">
                    <a:lnL w="28575">
                      <a:solidFill>
                        <a:srgbClr val="09182F"/>
                      </a:solidFill>
                      <a:prstDash val="solid"/>
                    </a:lnL>
                    <a:lnR w="28575">
                      <a:solidFill>
                        <a:srgbClr val="09182F"/>
                      </a:solidFill>
                      <a:prstDash val="solid"/>
                    </a:lnR>
                    <a:lnT w="28575">
                      <a:solidFill>
                        <a:srgbClr val="09182F"/>
                      </a:solidFill>
                      <a:prstDash val="solid"/>
                    </a:lnT>
                    <a:lnB w="28575">
                      <a:solidFill>
                        <a:srgbClr val="09182F"/>
                      </a:solidFill>
                      <a:prstDash val="solid"/>
                    </a:lnB>
                    <a:solidFill>
                      <a:srgbClr val="0E756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FedPer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11760">
                    <a:lnL w="28575">
                      <a:solidFill>
                        <a:srgbClr val="09182F"/>
                      </a:solidFill>
                      <a:prstDash val="solid"/>
                    </a:lnL>
                    <a:lnR w="28575">
                      <a:solidFill>
                        <a:srgbClr val="09182F"/>
                      </a:solidFill>
                      <a:prstDash val="solid"/>
                    </a:lnR>
                    <a:lnT w="28575">
                      <a:solidFill>
                        <a:srgbClr val="09182F"/>
                      </a:solidFill>
                      <a:prstDash val="solid"/>
                    </a:lnT>
                    <a:lnB w="28575">
                      <a:solidFill>
                        <a:srgbClr val="09182F"/>
                      </a:solidFill>
                      <a:prstDash val="solid"/>
                    </a:lnB>
                    <a:solidFill>
                      <a:srgbClr val="0E756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Hybrid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11760">
                    <a:lnL w="28575">
                      <a:solidFill>
                        <a:srgbClr val="09182F"/>
                      </a:solidFill>
                      <a:prstDash val="solid"/>
                    </a:lnL>
                    <a:lnR w="28575">
                      <a:solidFill>
                        <a:srgbClr val="09182F"/>
                      </a:solidFill>
                      <a:prstDash val="solid"/>
                    </a:lnR>
                    <a:lnT w="28575">
                      <a:solidFill>
                        <a:srgbClr val="09182F"/>
                      </a:solidFill>
                      <a:prstDash val="solid"/>
                    </a:lnT>
                    <a:lnB w="28575">
                      <a:solidFill>
                        <a:srgbClr val="09182F"/>
                      </a:solidFill>
                      <a:prstDash val="solid"/>
                    </a:lnB>
                    <a:solidFill>
                      <a:srgbClr val="0E756D"/>
                    </a:solidFill>
                  </a:tcPr>
                </a:tc>
              </a:tr>
              <a:tr h="5664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dirty="0" sz="1400" spc="-20" b="1">
                          <a:solidFill>
                            <a:srgbClr val="2CD3BE"/>
                          </a:solidFill>
                          <a:latin typeface="Calibri"/>
                          <a:cs typeface="Calibri"/>
                        </a:rPr>
                        <a:t>Training</a:t>
                      </a:r>
                      <a:r>
                        <a:rPr dirty="0" sz="1400" spc="10" b="1">
                          <a:solidFill>
                            <a:srgbClr val="2CD3BE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0" b="1">
                          <a:solidFill>
                            <a:srgbClr val="2CD3BE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66370">
                    <a:lnL w="28575">
                      <a:solidFill>
                        <a:srgbClr val="09182F"/>
                      </a:solidFill>
                      <a:prstDash val="solid"/>
                    </a:lnL>
                    <a:lnR w="28575">
                      <a:solidFill>
                        <a:srgbClr val="09182F"/>
                      </a:solidFill>
                      <a:prstDash val="solid"/>
                    </a:lnR>
                    <a:lnT w="28575">
                      <a:solidFill>
                        <a:srgbClr val="09182F"/>
                      </a:solidFill>
                      <a:prstDash val="solid"/>
                    </a:lnT>
                    <a:lnB w="28575">
                      <a:solidFill>
                        <a:srgbClr val="09182F"/>
                      </a:solidFill>
                      <a:prstDash val="solid"/>
                    </a:lnB>
                    <a:solidFill>
                      <a:srgbClr val="050F1E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dirty="0" sz="14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Pooled</a:t>
                      </a:r>
                      <a:r>
                        <a:rPr dirty="0" sz="1400" spc="-3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1400" spc="-3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one</a:t>
                      </a:r>
                      <a:r>
                        <a:rPr dirty="0" sz="1400" spc="-3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place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66370">
                    <a:lnL w="28575">
                      <a:solidFill>
                        <a:srgbClr val="09182F"/>
                      </a:solidFill>
                      <a:prstDash val="solid"/>
                    </a:lnL>
                    <a:lnR w="28575">
                      <a:solidFill>
                        <a:srgbClr val="09182F"/>
                      </a:solidFill>
                      <a:prstDash val="solid"/>
                    </a:lnR>
                    <a:lnT w="28575">
                      <a:solidFill>
                        <a:srgbClr val="09182F"/>
                      </a:solidFill>
                      <a:prstDash val="solid"/>
                    </a:lnT>
                    <a:lnB w="28575">
                      <a:solidFill>
                        <a:srgbClr val="09182F"/>
                      </a:solidFill>
                      <a:prstDash val="solid"/>
                    </a:lnB>
                    <a:solidFill>
                      <a:srgbClr val="11274A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dirty="0" sz="14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Stays</a:t>
                      </a:r>
                      <a:r>
                        <a:rPr dirty="0" sz="1400" spc="-3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on</a:t>
                      </a:r>
                      <a:r>
                        <a:rPr dirty="0" sz="14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each</a:t>
                      </a:r>
                      <a:r>
                        <a:rPr dirty="0" sz="14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client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66370">
                    <a:lnL w="28575">
                      <a:solidFill>
                        <a:srgbClr val="09182F"/>
                      </a:solidFill>
                      <a:prstDash val="solid"/>
                    </a:lnL>
                    <a:lnR w="28575">
                      <a:solidFill>
                        <a:srgbClr val="09182F"/>
                      </a:solidFill>
                      <a:prstDash val="solid"/>
                    </a:lnR>
                    <a:lnT w="28575">
                      <a:solidFill>
                        <a:srgbClr val="09182F"/>
                      </a:solidFill>
                      <a:prstDash val="solid"/>
                    </a:lnT>
                    <a:lnB w="28575">
                      <a:solidFill>
                        <a:srgbClr val="09182F"/>
                      </a:solidFill>
                      <a:prstDash val="solid"/>
                    </a:lnB>
                    <a:solidFill>
                      <a:srgbClr val="11274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dirty="0" sz="14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Stays</a:t>
                      </a:r>
                      <a:r>
                        <a:rPr dirty="0" sz="1400" spc="-3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on</a:t>
                      </a:r>
                      <a:r>
                        <a:rPr dirty="0" sz="14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each</a:t>
                      </a:r>
                      <a:r>
                        <a:rPr dirty="0" sz="14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client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66370">
                    <a:lnL w="28575">
                      <a:solidFill>
                        <a:srgbClr val="09182F"/>
                      </a:solidFill>
                      <a:prstDash val="solid"/>
                    </a:lnL>
                    <a:lnR w="28575">
                      <a:solidFill>
                        <a:srgbClr val="09182F"/>
                      </a:solidFill>
                      <a:prstDash val="solid"/>
                    </a:lnR>
                    <a:lnT w="28575">
                      <a:solidFill>
                        <a:srgbClr val="09182F"/>
                      </a:solidFill>
                      <a:prstDash val="solid"/>
                    </a:lnT>
                    <a:lnB w="28575">
                      <a:solidFill>
                        <a:srgbClr val="09182F"/>
                      </a:solidFill>
                      <a:prstDash val="solid"/>
                    </a:lnB>
                    <a:solidFill>
                      <a:srgbClr val="11274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dirty="0" sz="14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Same</a:t>
                      </a:r>
                      <a:r>
                        <a:rPr dirty="0" sz="14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as</a:t>
                      </a:r>
                      <a:r>
                        <a:rPr dirty="0" sz="14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FedPer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66370">
                    <a:lnL w="28575">
                      <a:solidFill>
                        <a:srgbClr val="09182F"/>
                      </a:solidFill>
                      <a:prstDash val="solid"/>
                    </a:lnL>
                    <a:lnR w="28575">
                      <a:solidFill>
                        <a:srgbClr val="09182F"/>
                      </a:solidFill>
                      <a:prstDash val="solid"/>
                    </a:lnR>
                    <a:lnT w="28575">
                      <a:solidFill>
                        <a:srgbClr val="09182F"/>
                      </a:solidFill>
                      <a:prstDash val="solid"/>
                    </a:lnT>
                    <a:lnB w="28575">
                      <a:solidFill>
                        <a:srgbClr val="09182F"/>
                      </a:solidFill>
                      <a:prstDash val="solid"/>
                    </a:lnB>
                    <a:solidFill>
                      <a:srgbClr val="11274A"/>
                    </a:solidFill>
                  </a:tcPr>
                </a:tc>
              </a:tr>
              <a:tr h="7131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dirty="0" sz="1400" spc="-10" b="1">
                          <a:solidFill>
                            <a:srgbClr val="2CD3BE"/>
                          </a:solidFill>
                          <a:latin typeface="Calibri"/>
                          <a:cs typeface="Calibri"/>
                        </a:rPr>
                        <a:t>Model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L w="28575">
                      <a:solidFill>
                        <a:srgbClr val="09182F"/>
                      </a:solidFill>
                      <a:prstDash val="solid"/>
                    </a:lnL>
                    <a:lnR w="28575">
                      <a:solidFill>
                        <a:srgbClr val="09182F"/>
                      </a:solidFill>
                      <a:prstDash val="solid"/>
                    </a:lnR>
                    <a:lnT w="28575">
                      <a:solidFill>
                        <a:srgbClr val="09182F"/>
                      </a:solidFill>
                      <a:prstDash val="solid"/>
                    </a:lnT>
                    <a:lnB w="28575">
                      <a:solidFill>
                        <a:srgbClr val="09182F"/>
                      </a:solidFill>
                      <a:prstDash val="solid"/>
                    </a:lnB>
                    <a:solidFill>
                      <a:srgbClr val="050F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dirty="0" sz="14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One</a:t>
                      </a:r>
                      <a:r>
                        <a:rPr dirty="0" sz="14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MLP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L w="28575">
                      <a:solidFill>
                        <a:srgbClr val="09182F"/>
                      </a:solidFill>
                      <a:prstDash val="solid"/>
                    </a:lnL>
                    <a:lnR w="28575">
                      <a:solidFill>
                        <a:srgbClr val="09182F"/>
                      </a:solidFill>
                      <a:prstDash val="solid"/>
                    </a:lnR>
                    <a:lnT w="28575">
                      <a:solidFill>
                        <a:srgbClr val="09182F"/>
                      </a:solidFill>
                      <a:prstDash val="solid"/>
                    </a:lnT>
                    <a:lnB w="28575">
                      <a:solidFill>
                        <a:srgbClr val="09182F"/>
                      </a:solidFill>
                      <a:prstDash val="solid"/>
                    </a:lnB>
                    <a:solidFill>
                      <a:srgbClr val="11274A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306705">
                        <a:lnSpc>
                          <a:spcPct val="101400"/>
                        </a:lnSpc>
                        <a:spcBef>
                          <a:spcPts val="1010"/>
                        </a:spcBef>
                      </a:pPr>
                      <a:r>
                        <a:rPr dirty="0" sz="14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One</a:t>
                      </a:r>
                      <a:r>
                        <a:rPr dirty="0" sz="1400" spc="-4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shared</a:t>
                      </a:r>
                      <a:r>
                        <a:rPr dirty="0" sz="1400" spc="-4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global model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8270">
                    <a:lnL w="28575">
                      <a:solidFill>
                        <a:srgbClr val="09182F"/>
                      </a:solidFill>
                      <a:prstDash val="solid"/>
                    </a:lnL>
                    <a:lnR w="28575">
                      <a:solidFill>
                        <a:srgbClr val="09182F"/>
                      </a:solidFill>
                      <a:prstDash val="solid"/>
                    </a:lnR>
                    <a:lnT w="28575">
                      <a:solidFill>
                        <a:srgbClr val="09182F"/>
                      </a:solidFill>
                      <a:prstDash val="solid"/>
                    </a:lnT>
                    <a:lnB w="28575">
                      <a:solidFill>
                        <a:srgbClr val="09182F"/>
                      </a:solidFill>
                      <a:prstDash val="solid"/>
                    </a:lnB>
                    <a:solidFill>
                      <a:srgbClr val="11274A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68275">
                        <a:lnSpc>
                          <a:spcPct val="101400"/>
                        </a:lnSpc>
                        <a:spcBef>
                          <a:spcPts val="1010"/>
                        </a:spcBef>
                      </a:pPr>
                      <a:r>
                        <a:rPr dirty="0" sz="14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Shared</a:t>
                      </a:r>
                      <a:r>
                        <a:rPr dirty="0" sz="1400" spc="-4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base</a:t>
                      </a:r>
                      <a:r>
                        <a:rPr dirty="0" sz="1400" spc="-3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+</a:t>
                      </a:r>
                      <a:r>
                        <a:rPr dirty="0" sz="1400" spc="-3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client layers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8270">
                    <a:lnL w="28575">
                      <a:solidFill>
                        <a:srgbClr val="09182F"/>
                      </a:solidFill>
                      <a:prstDash val="solid"/>
                    </a:lnL>
                    <a:lnR w="28575">
                      <a:solidFill>
                        <a:srgbClr val="09182F"/>
                      </a:solidFill>
                      <a:prstDash val="solid"/>
                    </a:lnR>
                    <a:lnT w="28575">
                      <a:solidFill>
                        <a:srgbClr val="09182F"/>
                      </a:solidFill>
                      <a:prstDash val="solid"/>
                    </a:lnT>
                    <a:lnB w="28575">
                      <a:solidFill>
                        <a:srgbClr val="09182F"/>
                      </a:solidFill>
                      <a:prstDash val="solid"/>
                    </a:lnB>
                    <a:solidFill>
                      <a:srgbClr val="11274A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421640">
                        <a:lnSpc>
                          <a:spcPct val="101400"/>
                        </a:lnSpc>
                        <a:spcBef>
                          <a:spcPts val="1010"/>
                        </a:spcBef>
                      </a:pPr>
                      <a:r>
                        <a:rPr dirty="0" sz="14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RSSI</a:t>
                      </a:r>
                      <a:r>
                        <a:rPr dirty="0" sz="14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rule</a:t>
                      </a:r>
                      <a:r>
                        <a:rPr dirty="0" sz="14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+</a:t>
                      </a:r>
                      <a:r>
                        <a:rPr dirty="0" sz="1400" spc="-3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client models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8270">
                    <a:lnL w="28575">
                      <a:solidFill>
                        <a:srgbClr val="09182F"/>
                      </a:solidFill>
                      <a:prstDash val="solid"/>
                    </a:lnL>
                    <a:lnR w="28575">
                      <a:solidFill>
                        <a:srgbClr val="09182F"/>
                      </a:solidFill>
                      <a:prstDash val="solid"/>
                    </a:lnR>
                    <a:lnT w="28575">
                      <a:solidFill>
                        <a:srgbClr val="09182F"/>
                      </a:solidFill>
                      <a:prstDash val="solid"/>
                    </a:lnT>
                    <a:lnB w="28575">
                      <a:solidFill>
                        <a:srgbClr val="09182F"/>
                      </a:solidFill>
                      <a:prstDash val="solid"/>
                    </a:lnB>
                    <a:solidFill>
                      <a:srgbClr val="11274A"/>
                    </a:solidFill>
                  </a:tcPr>
                </a:tc>
              </a:tr>
              <a:tr h="5664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dirty="0" sz="1400" spc="-10" b="1">
                          <a:solidFill>
                            <a:srgbClr val="2CD3BE"/>
                          </a:solidFill>
                          <a:latin typeface="Calibri"/>
                          <a:cs typeface="Calibri"/>
                        </a:rPr>
                        <a:t>Personalised?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66370">
                    <a:lnL w="28575">
                      <a:solidFill>
                        <a:srgbClr val="09182F"/>
                      </a:solidFill>
                      <a:prstDash val="solid"/>
                    </a:lnL>
                    <a:lnR w="28575">
                      <a:solidFill>
                        <a:srgbClr val="09182F"/>
                      </a:solidFill>
                      <a:prstDash val="solid"/>
                    </a:lnR>
                    <a:lnT w="28575">
                      <a:solidFill>
                        <a:srgbClr val="09182F"/>
                      </a:solidFill>
                      <a:prstDash val="solid"/>
                    </a:lnT>
                    <a:lnB w="28575">
                      <a:solidFill>
                        <a:srgbClr val="09182F"/>
                      </a:solidFill>
                      <a:prstDash val="solid"/>
                    </a:lnB>
                    <a:solidFill>
                      <a:srgbClr val="050F1E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dirty="0" sz="14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66370">
                    <a:lnL w="28575">
                      <a:solidFill>
                        <a:srgbClr val="09182F"/>
                      </a:solidFill>
                      <a:prstDash val="solid"/>
                    </a:lnL>
                    <a:lnR w="28575">
                      <a:solidFill>
                        <a:srgbClr val="09182F"/>
                      </a:solidFill>
                      <a:prstDash val="solid"/>
                    </a:lnR>
                    <a:lnT w="28575">
                      <a:solidFill>
                        <a:srgbClr val="09182F"/>
                      </a:solidFill>
                      <a:prstDash val="solid"/>
                    </a:lnT>
                    <a:lnB w="28575">
                      <a:solidFill>
                        <a:srgbClr val="09182F"/>
                      </a:solidFill>
                      <a:prstDash val="solid"/>
                    </a:lnB>
                    <a:solidFill>
                      <a:srgbClr val="11274A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dirty="0" sz="14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66370">
                    <a:lnL w="28575">
                      <a:solidFill>
                        <a:srgbClr val="09182F"/>
                      </a:solidFill>
                      <a:prstDash val="solid"/>
                    </a:lnL>
                    <a:lnR w="28575">
                      <a:solidFill>
                        <a:srgbClr val="09182F"/>
                      </a:solidFill>
                      <a:prstDash val="solid"/>
                    </a:lnR>
                    <a:lnT w="28575">
                      <a:solidFill>
                        <a:srgbClr val="09182F"/>
                      </a:solidFill>
                      <a:prstDash val="solid"/>
                    </a:lnT>
                    <a:lnB w="28575">
                      <a:solidFill>
                        <a:srgbClr val="09182F"/>
                      </a:solidFill>
                      <a:prstDash val="solid"/>
                    </a:lnB>
                    <a:solidFill>
                      <a:srgbClr val="11274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dirty="0" sz="14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Yes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66370">
                    <a:lnL w="28575">
                      <a:solidFill>
                        <a:srgbClr val="09182F"/>
                      </a:solidFill>
                      <a:prstDash val="solid"/>
                    </a:lnL>
                    <a:lnR w="28575">
                      <a:solidFill>
                        <a:srgbClr val="09182F"/>
                      </a:solidFill>
                      <a:prstDash val="solid"/>
                    </a:lnR>
                    <a:lnT w="28575">
                      <a:solidFill>
                        <a:srgbClr val="09182F"/>
                      </a:solidFill>
                      <a:prstDash val="solid"/>
                    </a:lnT>
                    <a:lnB w="28575">
                      <a:solidFill>
                        <a:srgbClr val="09182F"/>
                      </a:solidFill>
                      <a:prstDash val="solid"/>
                    </a:lnB>
                    <a:solidFill>
                      <a:srgbClr val="11274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dirty="0" sz="14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Yes,</a:t>
                      </a:r>
                      <a:r>
                        <a:rPr dirty="0" sz="1400" spc="-4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near</a:t>
                      </a:r>
                      <a:r>
                        <a:rPr dirty="0" sz="1400" spc="-4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thresholds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66370">
                    <a:lnL w="28575">
                      <a:solidFill>
                        <a:srgbClr val="09182F"/>
                      </a:solidFill>
                      <a:prstDash val="solid"/>
                    </a:lnL>
                    <a:lnR w="28575">
                      <a:solidFill>
                        <a:srgbClr val="09182F"/>
                      </a:solidFill>
                      <a:prstDash val="solid"/>
                    </a:lnR>
                    <a:lnT w="28575">
                      <a:solidFill>
                        <a:srgbClr val="09182F"/>
                      </a:solidFill>
                      <a:prstDash val="solid"/>
                    </a:lnT>
                    <a:lnB w="28575">
                      <a:solidFill>
                        <a:srgbClr val="09182F"/>
                      </a:solidFill>
                      <a:prstDash val="solid"/>
                    </a:lnB>
                    <a:solidFill>
                      <a:srgbClr val="11274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dirty="0" sz="1400" b="1">
                          <a:solidFill>
                            <a:srgbClr val="2CD3BE"/>
                          </a:solidFill>
                          <a:latin typeface="Calibri"/>
                          <a:cs typeface="Calibri"/>
                        </a:rPr>
                        <a:t>Main</a:t>
                      </a:r>
                      <a:r>
                        <a:rPr dirty="0" sz="1400" spc="-25" b="1">
                          <a:solidFill>
                            <a:srgbClr val="2CD3BE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0" b="1">
                          <a:solidFill>
                            <a:srgbClr val="2CD3BE"/>
                          </a:solidFill>
                          <a:latin typeface="Calibri"/>
                          <a:cs typeface="Calibri"/>
                        </a:rPr>
                        <a:t>idea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13030">
                    <a:lnL w="28575">
                      <a:solidFill>
                        <a:srgbClr val="09182F"/>
                      </a:solidFill>
                      <a:prstDash val="solid"/>
                    </a:lnL>
                    <a:lnR w="28575">
                      <a:solidFill>
                        <a:srgbClr val="09182F"/>
                      </a:solidFill>
                      <a:prstDash val="solid"/>
                    </a:lnR>
                    <a:lnT w="28575">
                      <a:solidFill>
                        <a:srgbClr val="09182F"/>
                      </a:solidFill>
                      <a:prstDash val="solid"/>
                    </a:lnT>
                    <a:lnB w="28575">
                      <a:solidFill>
                        <a:srgbClr val="09182F"/>
                      </a:solidFill>
                      <a:prstDash val="solid"/>
                    </a:lnB>
                    <a:solidFill>
                      <a:srgbClr val="050F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0805" marR="321310">
                        <a:lnSpc>
                          <a:spcPct val="101400"/>
                        </a:lnSpc>
                      </a:pPr>
                      <a:r>
                        <a:rPr dirty="0" sz="14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Reference</a:t>
                      </a:r>
                      <a:r>
                        <a:rPr dirty="0" sz="14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with</a:t>
                      </a:r>
                      <a:r>
                        <a:rPr dirty="0" sz="1400" spc="-4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all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r>
                        <a:rPr dirty="0" sz="1400" spc="-7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together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28575">
                      <a:solidFill>
                        <a:srgbClr val="09182F"/>
                      </a:solidFill>
                      <a:prstDash val="solid"/>
                    </a:lnL>
                    <a:lnR w="28575">
                      <a:solidFill>
                        <a:srgbClr val="09182F"/>
                      </a:solidFill>
                      <a:prstDash val="solid"/>
                    </a:lnR>
                    <a:lnT w="28575">
                      <a:solidFill>
                        <a:srgbClr val="09182F"/>
                      </a:solidFill>
                      <a:prstDash val="solid"/>
                    </a:lnT>
                    <a:lnB w="28575">
                      <a:solidFill>
                        <a:srgbClr val="09182F"/>
                      </a:solidFill>
                      <a:prstDash val="solid"/>
                    </a:lnB>
                    <a:solidFill>
                      <a:srgbClr val="1127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0805" marR="212090">
                        <a:lnSpc>
                          <a:spcPct val="101400"/>
                        </a:lnSpc>
                      </a:pPr>
                      <a:r>
                        <a:rPr dirty="0" sz="14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Average</a:t>
                      </a:r>
                      <a:r>
                        <a:rPr dirty="0" sz="14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everyone's weights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28575">
                      <a:solidFill>
                        <a:srgbClr val="09182F"/>
                      </a:solidFill>
                      <a:prstDash val="solid"/>
                    </a:lnL>
                    <a:lnR w="28575">
                      <a:solidFill>
                        <a:srgbClr val="09182F"/>
                      </a:solidFill>
                      <a:prstDash val="solid"/>
                    </a:lnR>
                    <a:lnT w="28575">
                      <a:solidFill>
                        <a:srgbClr val="09182F"/>
                      </a:solidFill>
                      <a:prstDash val="solid"/>
                    </a:lnT>
                    <a:lnB w="28575">
                      <a:solidFill>
                        <a:srgbClr val="09182F"/>
                      </a:solidFill>
                      <a:prstDash val="solid"/>
                    </a:lnB>
                    <a:solidFill>
                      <a:srgbClr val="1127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1440" marR="116205">
                        <a:lnSpc>
                          <a:spcPct val="101400"/>
                        </a:lnSpc>
                      </a:pPr>
                      <a:r>
                        <a:rPr dirty="0" sz="14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Share</a:t>
                      </a:r>
                      <a:r>
                        <a:rPr dirty="0" sz="1400" spc="-4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400" spc="-3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base,</a:t>
                      </a:r>
                      <a:r>
                        <a:rPr dirty="0" sz="1400" spc="-4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keep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4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personal</a:t>
                      </a:r>
                      <a:r>
                        <a:rPr dirty="0" sz="1400" spc="-3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head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28575">
                      <a:solidFill>
                        <a:srgbClr val="09182F"/>
                      </a:solidFill>
                      <a:prstDash val="solid"/>
                    </a:lnL>
                    <a:lnR w="28575">
                      <a:solidFill>
                        <a:srgbClr val="09182F"/>
                      </a:solidFill>
                      <a:prstDash val="solid"/>
                    </a:lnR>
                    <a:lnT w="28575">
                      <a:solidFill>
                        <a:srgbClr val="09182F"/>
                      </a:solidFill>
                      <a:prstDash val="solid"/>
                    </a:lnT>
                    <a:lnB w="28575">
                      <a:solidFill>
                        <a:srgbClr val="09182F"/>
                      </a:solidFill>
                      <a:prstDash val="solid"/>
                    </a:lnB>
                    <a:solidFill>
                      <a:srgbClr val="1127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1440" marR="149860">
                        <a:lnSpc>
                          <a:spcPct val="101400"/>
                        </a:lnSpc>
                      </a:pPr>
                      <a:r>
                        <a:rPr dirty="0" sz="14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Rule</a:t>
                      </a:r>
                      <a:r>
                        <a:rPr dirty="0" sz="1400" spc="-3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sz="1400" spc="-3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clear</a:t>
                      </a:r>
                      <a:r>
                        <a:rPr dirty="0" sz="1400" spc="-4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cases,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model</a:t>
                      </a:r>
                      <a:r>
                        <a:rPr dirty="0" sz="14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sz="1400" spc="-3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close</a:t>
                      </a:r>
                      <a:r>
                        <a:rPr dirty="0" sz="1400" spc="-3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calls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28575">
                      <a:solidFill>
                        <a:srgbClr val="09182F"/>
                      </a:solidFill>
                      <a:prstDash val="solid"/>
                    </a:lnL>
                    <a:lnR w="28575">
                      <a:solidFill>
                        <a:srgbClr val="09182F"/>
                      </a:solidFill>
                      <a:prstDash val="solid"/>
                    </a:lnR>
                    <a:lnT w="28575">
                      <a:solidFill>
                        <a:srgbClr val="09182F"/>
                      </a:solidFill>
                      <a:prstDash val="solid"/>
                    </a:lnT>
                    <a:lnB w="28575">
                      <a:solidFill>
                        <a:srgbClr val="09182F"/>
                      </a:solidFill>
                      <a:prstDash val="solid"/>
                    </a:lnB>
                    <a:solidFill>
                      <a:srgbClr val="11274A"/>
                    </a:solidFill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444144" y="4487305"/>
            <a:ext cx="301879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8EA2BE"/>
                </a:solidFill>
                <a:latin typeface="Calibri"/>
                <a:cs typeface="Calibri"/>
              </a:rPr>
              <a:t>Sources:</a:t>
            </a:r>
            <a:r>
              <a:rPr dirty="0" sz="1000" spc="-15">
                <a:solidFill>
                  <a:srgbClr val="8EA2BE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8EA2BE"/>
                </a:solidFill>
                <a:latin typeface="Calibri"/>
                <a:cs typeface="Calibri"/>
              </a:rPr>
              <a:t>McMahan</a:t>
            </a:r>
            <a:r>
              <a:rPr dirty="0" sz="1000" spc="-15">
                <a:solidFill>
                  <a:srgbClr val="8EA2BE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8EA2BE"/>
                </a:solidFill>
                <a:latin typeface="Calibri"/>
                <a:cs typeface="Calibri"/>
              </a:rPr>
              <a:t>et</a:t>
            </a:r>
            <a:r>
              <a:rPr dirty="0" sz="1000" spc="-20">
                <a:solidFill>
                  <a:srgbClr val="8EA2BE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8EA2BE"/>
                </a:solidFill>
                <a:latin typeface="Calibri"/>
                <a:cs typeface="Calibri"/>
              </a:rPr>
              <a:t>al.</a:t>
            </a:r>
            <a:r>
              <a:rPr dirty="0" sz="1000" spc="-5">
                <a:solidFill>
                  <a:srgbClr val="8EA2BE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8EA2BE"/>
                </a:solidFill>
                <a:latin typeface="Calibri"/>
                <a:cs typeface="Calibri"/>
              </a:rPr>
              <a:t>(2017); Arivazhagan</a:t>
            </a:r>
            <a:r>
              <a:rPr dirty="0" sz="1000" spc="-15">
                <a:solidFill>
                  <a:srgbClr val="8EA2BE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8EA2BE"/>
                </a:solidFill>
                <a:latin typeface="Calibri"/>
                <a:cs typeface="Calibri"/>
              </a:rPr>
              <a:t>et</a:t>
            </a:r>
            <a:r>
              <a:rPr dirty="0" sz="1000" spc="-5">
                <a:solidFill>
                  <a:srgbClr val="8EA2BE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8EA2BE"/>
                </a:solidFill>
                <a:latin typeface="Calibri"/>
                <a:cs typeface="Calibri"/>
              </a:rPr>
              <a:t>al.</a:t>
            </a:r>
            <a:r>
              <a:rPr dirty="0" sz="1000" spc="-20">
                <a:solidFill>
                  <a:srgbClr val="8EA2BE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8EA2BE"/>
                </a:solidFill>
                <a:latin typeface="Calibri"/>
                <a:cs typeface="Calibri"/>
              </a:rPr>
              <a:t>(2019).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KLH</a:t>
            </a:r>
            <a:r>
              <a:rPr dirty="0" spc="-35"/>
              <a:t> </a:t>
            </a:r>
            <a:r>
              <a:rPr dirty="0"/>
              <a:t>University</a:t>
            </a:r>
            <a:r>
              <a:rPr dirty="0" spc="175"/>
              <a:t> </a:t>
            </a:r>
            <a:r>
              <a:rPr dirty="0"/>
              <a:t>|</a:t>
            </a:r>
            <a:r>
              <a:rPr dirty="0" spc="175"/>
              <a:t> </a:t>
            </a:r>
            <a:r>
              <a:rPr dirty="0"/>
              <a:t>Dept.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ECE</a:t>
            </a:r>
            <a:r>
              <a:rPr dirty="0" spc="170"/>
              <a:t> </a:t>
            </a:r>
            <a:r>
              <a:rPr dirty="0"/>
              <a:t>|</a:t>
            </a:r>
            <a:r>
              <a:rPr dirty="0" spc="175"/>
              <a:t> </a:t>
            </a:r>
            <a:r>
              <a:rPr dirty="0"/>
              <a:t>Machine</a:t>
            </a:r>
            <a:r>
              <a:rPr dirty="0" spc="-25"/>
              <a:t> </a:t>
            </a:r>
            <a:r>
              <a:rPr dirty="0"/>
              <a:t>Learning</a:t>
            </a:r>
            <a:r>
              <a:rPr dirty="0" spc="-25"/>
              <a:t> </a:t>
            </a:r>
            <a:r>
              <a:rPr dirty="0" spc="-10"/>
              <a:t>(25SC2107E)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749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FedPer</a:t>
            </a:r>
            <a:r>
              <a:rPr dirty="0" spc="-100"/>
              <a:t> </a:t>
            </a:r>
            <a:r>
              <a:rPr dirty="0"/>
              <a:t>Explained</a:t>
            </a:r>
            <a:r>
              <a:rPr dirty="0" spc="-95"/>
              <a:t> </a:t>
            </a:r>
            <a:r>
              <a:rPr dirty="0" spc="-10"/>
              <a:t>Simply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2081" y="1183603"/>
            <a:ext cx="1381125" cy="2295525"/>
            <a:chOff x="452081" y="1183603"/>
            <a:chExt cx="1381125" cy="2295525"/>
          </a:xfrm>
        </p:grpSpPr>
        <p:sp>
          <p:nvSpPr>
            <p:cNvPr id="4" name="object 4"/>
            <p:cNvSpPr/>
            <p:nvPr/>
          </p:nvSpPr>
          <p:spPr>
            <a:xfrm>
              <a:off x="456844" y="1188366"/>
              <a:ext cx="1371600" cy="2286000"/>
            </a:xfrm>
            <a:custGeom>
              <a:avLst/>
              <a:gdLst/>
              <a:ahLst/>
              <a:cxnLst/>
              <a:rect l="l" t="t" r="r" b="b"/>
              <a:pathLst>
                <a:path w="1371600" h="2286000">
                  <a:moveTo>
                    <a:pt x="129815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2212911"/>
                  </a:lnTo>
                  <a:lnTo>
                    <a:pt x="594" y="2222189"/>
                  </a:lnTo>
                  <a:lnTo>
                    <a:pt x="607" y="2222389"/>
                  </a:lnTo>
                  <a:lnTo>
                    <a:pt x="2394" y="2231590"/>
                  </a:lnTo>
                  <a:lnTo>
                    <a:pt x="2428" y="2231767"/>
                  </a:lnTo>
                  <a:lnTo>
                    <a:pt x="5412" y="2240652"/>
                  </a:lnTo>
                  <a:lnTo>
                    <a:pt x="5464" y="2240807"/>
                  </a:lnTo>
                  <a:lnTo>
                    <a:pt x="9715" y="2249271"/>
                  </a:lnTo>
                  <a:lnTo>
                    <a:pt x="44979" y="2280529"/>
                  </a:lnTo>
                  <a:lnTo>
                    <a:pt x="73075" y="2286000"/>
                  </a:lnTo>
                  <a:lnTo>
                    <a:pt x="1298511" y="2285631"/>
                  </a:lnTo>
                  <a:lnTo>
                    <a:pt x="1342889" y="2270540"/>
                  </a:lnTo>
                  <a:lnTo>
                    <a:pt x="1366052" y="2240807"/>
                  </a:lnTo>
                  <a:lnTo>
                    <a:pt x="1366129" y="2240652"/>
                  </a:lnTo>
                  <a:lnTo>
                    <a:pt x="1369109" y="2231767"/>
                  </a:lnTo>
                  <a:lnTo>
                    <a:pt x="1369169" y="2231590"/>
                  </a:lnTo>
                  <a:lnTo>
                    <a:pt x="1370953" y="2222389"/>
                  </a:lnTo>
                  <a:lnTo>
                    <a:pt x="1370992" y="2222189"/>
                  </a:lnTo>
                  <a:lnTo>
                    <a:pt x="1371577" y="2212911"/>
                  </a:lnTo>
                  <a:lnTo>
                    <a:pt x="1371600" y="2212555"/>
                  </a:lnTo>
                  <a:lnTo>
                    <a:pt x="1371231" y="73075"/>
                  </a:lnTo>
                  <a:lnTo>
                    <a:pt x="1356140" y="28698"/>
                  </a:lnTo>
                  <a:lnTo>
                    <a:pt x="1317190" y="2428"/>
                  </a:lnTo>
                  <a:lnTo>
                    <a:pt x="1307789" y="607"/>
                  </a:lnTo>
                  <a:lnTo>
                    <a:pt x="1298155" y="0"/>
                  </a:lnTo>
                  <a:close/>
                </a:path>
              </a:pathLst>
            </a:custGeom>
            <a:solidFill>
              <a:srgbClr val="1127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456844" y="1188366"/>
              <a:ext cx="1371600" cy="2286000"/>
            </a:xfrm>
            <a:custGeom>
              <a:avLst/>
              <a:gdLst/>
              <a:ahLst/>
              <a:cxnLst/>
              <a:rect l="l" t="t" r="r" b="b"/>
              <a:pathLst>
                <a:path w="1371600" h="2286000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1298155" y="0"/>
                  </a:lnTo>
                  <a:lnTo>
                    <a:pt x="1342683" y="15096"/>
                  </a:lnTo>
                  <a:lnTo>
                    <a:pt x="1368802" y="54219"/>
                  </a:lnTo>
                  <a:lnTo>
                    <a:pt x="1371231" y="73075"/>
                  </a:lnTo>
                  <a:lnTo>
                    <a:pt x="1371600" y="2212555"/>
                  </a:lnTo>
                  <a:lnTo>
                    <a:pt x="1370992" y="2222189"/>
                  </a:lnTo>
                  <a:lnTo>
                    <a:pt x="1369169" y="2231590"/>
                  </a:lnTo>
                  <a:lnTo>
                    <a:pt x="1342889" y="2270540"/>
                  </a:lnTo>
                  <a:lnTo>
                    <a:pt x="1298511" y="2285631"/>
                  </a:lnTo>
                  <a:lnTo>
                    <a:pt x="73075" y="2286000"/>
                  </a:lnTo>
                  <a:lnTo>
                    <a:pt x="28548" y="2270890"/>
                  </a:lnTo>
                  <a:lnTo>
                    <a:pt x="2428" y="2231767"/>
                  </a:lnTo>
                  <a:lnTo>
                    <a:pt x="0" y="2212911"/>
                  </a:lnTo>
                  <a:lnTo>
                    <a:pt x="0" y="73075"/>
                  </a:lnTo>
                  <a:close/>
                </a:path>
              </a:pathLst>
            </a:custGeom>
            <a:ln w="9359">
              <a:solidFill>
                <a:srgbClr val="2345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711974" y="2097622"/>
            <a:ext cx="861694" cy="4679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FFFFFF"/>
                </a:solidFill>
                <a:latin typeface="Calibri"/>
                <a:cs typeface="Calibri"/>
              </a:rPr>
              <a:t>Input</a:t>
            </a:r>
            <a:endParaRPr sz="1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472</a:t>
            </a:r>
            <a:r>
              <a:rPr dirty="0" sz="1300" spc="-4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DBE6F2"/>
                </a:solidFill>
                <a:latin typeface="Calibri"/>
                <a:cs typeface="Calibri"/>
              </a:rPr>
              <a:t>features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815782" y="1188366"/>
            <a:ext cx="2847340" cy="2286000"/>
            <a:chOff x="1815782" y="1188366"/>
            <a:chExt cx="2847340" cy="2286000"/>
          </a:xfrm>
        </p:grpSpPr>
        <p:sp>
          <p:nvSpPr>
            <p:cNvPr id="8" name="object 8"/>
            <p:cNvSpPr/>
            <p:nvPr/>
          </p:nvSpPr>
          <p:spPr>
            <a:xfrm>
              <a:off x="1828800" y="2331722"/>
              <a:ext cx="386080" cy="635"/>
            </a:xfrm>
            <a:custGeom>
              <a:avLst/>
              <a:gdLst/>
              <a:ahLst/>
              <a:cxnLst/>
              <a:rect l="l" t="t" r="r" b="b"/>
              <a:pathLst>
                <a:path w="386080" h="635">
                  <a:moveTo>
                    <a:pt x="0" y="0"/>
                  </a:moveTo>
                  <a:lnTo>
                    <a:pt x="385559" y="355"/>
                  </a:lnTo>
                </a:path>
              </a:pathLst>
            </a:custGeom>
            <a:ln w="25559">
              <a:solidFill>
                <a:srgbClr val="2CD3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209317" y="2293558"/>
              <a:ext cx="76835" cy="76835"/>
            </a:xfrm>
            <a:custGeom>
              <a:avLst/>
              <a:gdLst/>
              <a:ahLst/>
              <a:cxnLst/>
              <a:rect l="l" t="t" r="r" b="b"/>
              <a:pathLst>
                <a:path w="76835" h="76835">
                  <a:moveTo>
                    <a:pt x="0" y="0"/>
                  </a:moveTo>
                  <a:lnTo>
                    <a:pt x="0" y="76682"/>
                  </a:lnTo>
                  <a:lnTo>
                    <a:pt x="76682" y="385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D3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285644" y="1188366"/>
              <a:ext cx="2377440" cy="2286000"/>
            </a:xfrm>
            <a:custGeom>
              <a:avLst/>
              <a:gdLst/>
              <a:ahLst/>
              <a:cxnLst/>
              <a:rect l="l" t="t" r="r" b="b"/>
              <a:pathLst>
                <a:path w="2377440" h="2286000">
                  <a:moveTo>
                    <a:pt x="230399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2212911"/>
                  </a:lnTo>
                  <a:lnTo>
                    <a:pt x="594" y="2222189"/>
                  </a:lnTo>
                  <a:lnTo>
                    <a:pt x="607" y="2222389"/>
                  </a:lnTo>
                  <a:lnTo>
                    <a:pt x="2394" y="2231590"/>
                  </a:lnTo>
                  <a:lnTo>
                    <a:pt x="2428" y="2231767"/>
                  </a:lnTo>
                  <a:lnTo>
                    <a:pt x="5412" y="2240652"/>
                  </a:lnTo>
                  <a:lnTo>
                    <a:pt x="36360" y="2276271"/>
                  </a:lnTo>
                  <a:lnTo>
                    <a:pt x="73075" y="2286000"/>
                  </a:lnTo>
                  <a:lnTo>
                    <a:pt x="2304351" y="2285631"/>
                  </a:lnTo>
                  <a:lnTo>
                    <a:pt x="2348729" y="2270540"/>
                  </a:lnTo>
                  <a:lnTo>
                    <a:pt x="2374949" y="2231767"/>
                  </a:lnTo>
                  <a:lnTo>
                    <a:pt x="2376793" y="2222389"/>
                  </a:lnTo>
                  <a:lnTo>
                    <a:pt x="2376832" y="2222189"/>
                  </a:lnTo>
                  <a:lnTo>
                    <a:pt x="2377417" y="2212911"/>
                  </a:lnTo>
                  <a:lnTo>
                    <a:pt x="2377440" y="2212555"/>
                  </a:lnTo>
                  <a:lnTo>
                    <a:pt x="2377071" y="73075"/>
                  </a:lnTo>
                  <a:lnTo>
                    <a:pt x="2361980" y="28698"/>
                  </a:lnTo>
                  <a:lnTo>
                    <a:pt x="2323030" y="2428"/>
                  </a:lnTo>
                  <a:lnTo>
                    <a:pt x="2313629" y="607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13B7A5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/>
          <p:cNvGrpSpPr/>
          <p:nvPr/>
        </p:nvGrpSpPr>
        <p:grpSpPr>
          <a:xfrm>
            <a:off x="4650422" y="1188722"/>
            <a:ext cx="2573020" cy="1181735"/>
            <a:chOff x="4650422" y="1188722"/>
            <a:chExt cx="2573020" cy="1181735"/>
          </a:xfrm>
        </p:grpSpPr>
        <p:sp>
          <p:nvSpPr>
            <p:cNvPr id="13" name="object 13"/>
            <p:cNvSpPr/>
            <p:nvPr/>
          </p:nvSpPr>
          <p:spPr>
            <a:xfrm>
              <a:off x="4663439" y="2331722"/>
              <a:ext cx="386080" cy="635"/>
            </a:xfrm>
            <a:custGeom>
              <a:avLst/>
              <a:gdLst/>
              <a:ahLst/>
              <a:cxnLst/>
              <a:rect l="l" t="t" r="r" b="b"/>
              <a:pathLst>
                <a:path w="386079" h="635">
                  <a:moveTo>
                    <a:pt x="0" y="0"/>
                  </a:moveTo>
                  <a:lnTo>
                    <a:pt x="385559" y="355"/>
                  </a:lnTo>
                </a:path>
              </a:pathLst>
            </a:custGeom>
            <a:ln w="25559">
              <a:solidFill>
                <a:srgbClr val="2CD3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043957" y="2293558"/>
              <a:ext cx="76835" cy="76835"/>
            </a:xfrm>
            <a:custGeom>
              <a:avLst/>
              <a:gdLst/>
              <a:ahLst/>
              <a:cxnLst/>
              <a:rect l="l" t="t" r="r" b="b"/>
              <a:pathLst>
                <a:path w="76835" h="76835">
                  <a:moveTo>
                    <a:pt x="0" y="0"/>
                  </a:moveTo>
                  <a:lnTo>
                    <a:pt x="0" y="76682"/>
                  </a:lnTo>
                  <a:lnTo>
                    <a:pt x="76682" y="385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D3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5120284" y="1188722"/>
              <a:ext cx="2103120" cy="685800"/>
            </a:xfrm>
            <a:custGeom>
              <a:avLst/>
              <a:gdLst/>
              <a:ahLst/>
              <a:cxnLst/>
              <a:rect l="l" t="t" r="r" b="b"/>
              <a:pathLst>
                <a:path w="2103120" h="685800">
                  <a:moveTo>
                    <a:pt x="202967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612724"/>
                  </a:lnTo>
                  <a:lnTo>
                    <a:pt x="15091" y="657094"/>
                  </a:lnTo>
                  <a:lnTo>
                    <a:pt x="54041" y="683371"/>
                  </a:lnTo>
                  <a:lnTo>
                    <a:pt x="73075" y="685800"/>
                  </a:lnTo>
                  <a:lnTo>
                    <a:pt x="2030031" y="685444"/>
                  </a:lnTo>
                  <a:lnTo>
                    <a:pt x="2074409" y="670340"/>
                  </a:lnTo>
                  <a:lnTo>
                    <a:pt x="2097572" y="640615"/>
                  </a:lnTo>
                  <a:lnTo>
                    <a:pt x="2097649" y="640459"/>
                  </a:lnTo>
                  <a:lnTo>
                    <a:pt x="2103096" y="612724"/>
                  </a:lnTo>
                  <a:lnTo>
                    <a:pt x="2103120" y="612355"/>
                  </a:lnTo>
                  <a:lnTo>
                    <a:pt x="2102751" y="73075"/>
                  </a:lnTo>
                  <a:lnTo>
                    <a:pt x="2087660" y="28705"/>
                  </a:lnTo>
                  <a:lnTo>
                    <a:pt x="2048710" y="2428"/>
                  </a:lnTo>
                  <a:lnTo>
                    <a:pt x="2039309" y="607"/>
                  </a:lnTo>
                  <a:lnTo>
                    <a:pt x="2029675" y="0"/>
                  </a:lnTo>
                  <a:close/>
                </a:path>
              </a:pathLst>
            </a:custGeom>
            <a:solidFill>
              <a:srgbClr val="F4B84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5643626" y="1411823"/>
            <a:ext cx="105537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09182F"/>
                </a:solidFill>
                <a:latin typeface="Calibri"/>
                <a:cs typeface="Calibri"/>
              </a:rPr>
              <a:t>Client</a:t>
            </a:r>
            <a:r>
              <a:rPr dirty="0" sz="1400" spc="-25" b="1">
                <a:solidFill>
                  <a:srgbClr val="09182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9182F"/>
                </a:solidFill>
                <a:latin typeface="Calibri"/>
                <a:cs typeface="Calibri"/>
              </a:rPr>
              <a:t>1</a:t>
            </a:r>
            <a:r>
              <a:rPr dirty="0" sz="1400" spc="-45" b="1">
                <a:solidFill>
                  <a:srgbClr val="09182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9182F"/>
                </a:solidFill>
                <a:latin typeface="Calibri"/>
                <a:cs typeface="Calibri"/>
              </a:rPr>
              <a:t>layers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80817" y="1998270"/>
            <a:ext cx="1584325" cy="6661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065" marR="508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09182F"/>
                </a:solidFill>
                <a:latin typeface="Calibri"/>
                <a:cs typeface="Calibri"/>
              </a:rPr>
              <a:t>Shared</a:t>
            </a:r>
            <a:r>
              <a:rPr dirty="0" sz="1600" spc="-55" b="1">
                <a:solidFill>
                  <a:srgbClr val="09182F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09182F"/>
                </a:solidFill>
                <a:latin typeface="Calibri"/>
                <a:cs typeface="Calibri"/>
              </a:rPr>
              <a:t>base</a:t>
            </a:r>
            <a:r>
              <a:rPr dirty="0" sz="1600" spc="-60" b="1">
                <a:solidFill>
                  <a:srgbClr val="09182F"/>
                </a:solidFill>
                <a:latin typeface="Calibri"/>
                <a:cs typeface="Calibri"/>
              </a:rPr>
              <a:t> </a:t>
            </a:r>
            <a:r>
              <a:rPr dirty="0" sz="1600" spc="-20" b="1">
                <a:solidFill>
                  <a:srgbClr val="09182F"/>
                </a:solidFill>
                <a:latin typeface="Calibri"/>
                <a:cs typeface="Calibri"/>
              </a:rPr>
              <a:t>layers </a:t>
            </a:r>
            <a:r>
              <a:rPr dirty="0" sz="1300">
                <a:solidFill>
                  <a:srgbClr val="09182F"/>
                </a:solidFill>
                <a:latin typeface="Calibri"/>
                <a:cs typeface="Calibri"/>
              </a:rPr>
              <a:t>same</a:t>
            </a:r>
            <a:r>
              <a:rPr dirty="0" sz="1300" spc="-55">
                <a:solidFill>
                  <a:srgbClr val="09182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9182F"/>
                </a:solidFill>
                <a:latin typeface="Calibri"/>
                <a:cs typeface="Calibri"/>
              </a:rPr>
              <a:t>for</a:t>
            </a:r>
            <a:r>
              <a:rPr dirty="0" sz="1300" spc="-50">
                <a:solidFill>
                  <a:srgbClr val="09182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9182F"/>
                </a:solidFill>
                <a:latin typeface="Calibri"/>
                <a:cs typeface="Calibri"/>
              </a:rPr>
              <a:t>every</a:t>
            </a:r>
            <a:r>
              <a:rPr dirty="0" sz="1300" spc="-40">
                <a:solidFill>
                  <a:srgbClr val="09182F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09182F"/>
                </a:solidFill>
                <a:latin typeface="Calibri"/>
                <a:cs typeface="Calibri"/>
              </a:rPr>
              <a:t>client </a:t>
            </a:r>
            <a:r>
              <a:rPr dirty="0" sz="1300">
                <a:solidFill>
                  <a:srgbClr val="09182F"/>
                </a:solidFill>
                <a:latin typeface="Calibri"/>
                <a:cs typeface="Calibri"/>
              </a:rPr>
              <a:t>server</a:t>
            </a:r>
            <a:r>
              <a:rPr dirty="0" sz="1300" spc="-20">
                <a:solidFill>
                  <a:srgbClr val="09182F"/>
                </a:solidFill>
                <a:latin typeface="Calibri"/>
                <a:cs typeface="Calibri"/>
              </a:rPr>
              <a:t> averages</a:t>
            </a:r>
            <a:r>
              <a:rPr dirty="0" sz="1300" spc="-15">
                <a:solidFill>
                  <a:srgbClr val="09182F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09182F"/>
                </a:solidFill>
                <a:latin typeface="Calibri"/>
                <a:cs typeface="Calibri"/>
              </a:rPr>
              <a:t>them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120284" y="1988999"/>
            <a:ext cx="2103120" cy="685800"/>
          </a:xfrm>
          <a:custGeom>
            <a:avLst/>
            <a:gdLst/>
            <a:ahLst/>
            <a:cxnLst/>
            <a:rect l="l" t="t" r="r" b="b"/>
            <a:pathLst>
              <a:path w="2103120" h="685800">
                <a:moveTo>
                  <a:pt x="2029675" y="0"/>
                </a:moveTo>
                <a:lnTo>
                  <a:pt x="73075" y="0"/>
                </a:lnTo>
                <a:lnTo>
                  <a:pt x="63597" y="607"/>
                </a:lnTo>
                <a:lnTo>
                  <a:pt x="21417" y="21470"/>
                </a:lnTo>
                <a:lnTo>
                  <a:pt x="607" y="63449"/>
                </a:lnTo>
                <a:lnTo>
                  <a:pt x="0" y="73088"/>
                </a:lnTo>
                <a:lnTo>
                  <a:pt x="0" y="612724"/>
                </a:lnTo>
                <a:lnTo>
                  <a:pt x="15091" y="657101"/>
                </a:lnTo>
                <a:lnTo>
                  <a:pt x="54041" y="683371"/>
                </a:lnTo>
                <a:lnTo>
                  <a:pt x="73075" y="685800"/>
                </a:lnTo>
                <a:lnTo>
                  <a:pt x="2030031" y="685444"/>
                </a:lnTo>
                <a:lnTo>
                  <a:pt x="2074409" y="670340"/>
                </a:lnTo>
                <a:lnTo>
                  <a:pt x="2097572" y="640615"/>
                </a:lnTo>
                <a:lnTo>
                  <a:pt x="2097649" y="640459"/>
                </a:lnTo>
                <a:lnTo>
                  <a:pt x="2103096" y="612724"/>
                </a:lnTo>
                <a:lnTo>
                  <a:pt x="2103120" y="612355"/>
                </a:lnTo>
                <a:lnTo>
                  <a:pt x="2102751" y="73088"/>
                </a:lnTo>
                <a:lnTo>
                  <a:pt x="2087660" y="28710"/>
                </a:lnTo>
                <a:lnTo>
                  <a:pt x="2048710" y="2430"/>
                </a:lnTo>
                <a:lnTo>
                  <a:pt x="2039309" y="607"/>
                </a:lnTo>
                <a:lnTo>
                  <a:pt x="2029675" y="0"/>
                </a:lnTo>
                <a:close/>
              </a:path>
            </a:pathLst>
          </a:custGeom>
          <a:solidFill>
            <a:srgbClr val="F4B84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5643626" y="2212100"/>
            <a:ext cx="105537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09182F"/>
                </a:solidFill>
                <a:latin typeface="Calibri"/>
                <a:cs typeface="Calibri"/>
              </a:rPr>
              <a:t>Client</a:t>
            </a:r>
            <a:r>
              <a:rPr dirty="0" sz="1400" spc="-25" b="1">
                <a:solidFill>
                  <a:srgbClr val="09182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9182F"/>
                </a:solidFill>
                <a:latin typeface="Calibri"/>
                <a:cs typeface="Calibri"/>
              </a:rPr>
              <a:t>2</a:t>
            </a:r>
            <a:r>
              <a:rPr dirty="0" sz="1400" spc="-45" b="1">
                <a:solidFill>
                  <a:srgbClr val="09182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9182F"/>
                </a:solidFill>
                <a:latin typeface="Calibri"/>
                <a:cs typeface="Calibri"/>
              </a:rPr>
              <a:t>layers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120284" y="2788922"/>
            <a:ext cx="2103120" cy="685800"/>
          </a:xfrm>
          <a:custGeom>
            <a:avLst/>
            <a:gdLst/>
            <a:ahLst/>
            <a:cxnLst/>
            <a:rect l="l" t="t" r="r" b="b"/>
            <a:pathLst>
              <a:path w="2103120" h="685800">
                <a:moveTo>
                  <a:pt x="2029675" y="0"/>
                </a:moveTo>
                <a:lnTo>
                  <a:pt x="73075" y="0"/>
                </a:lnTo>
                <a:lnTo>
                  <a:pt x="63597" y="607"/>
                </a:lnTo>
                <a:lnTo>
                  <a:pt x="21418" y="21467"/>
                </a:lnTo>
                <a:lnTo>
                  <a:pt x="607" y="63443"/>
                </a:lnTo>
                <a:lnTo>
                  <a:pt x="0" y="73075"/>
                </a:lnTo>
                <a:lnTo>
                  <a:pt x="0" y="612724"/>
                </a:lnTo>
                <a:lnTo>
                  <a:pt x="5412" y="640459"/>
                </a:lnTo>
                <a:lnTo>
                  <a:pt x="5464" y="640615"/>
                </a:lnTo>
                <a:lnTo>
                  <a:pt x="36360" y="676084"/>
                </a:lnTo>
                <a:lnTo>
                  <a:pt x="73075" y="685800"/>
                </a:lnTo>
                <a:lnTo>
                  <a:pt x="2030031" y="685444"/>
                </a:lnTo>
                <a:lnTo>
                  <a:pt x="2074409" y="670340"/>
                </a:lnTo>
                <a:lnTo>
                  <a:pt x="2097572" y="640615"/>
                </a:lnTo>
                <a:lnTo>
                  <a:pt x="2097649" y="640459"/>
                </a:lnTo>
                <a:lnTo>
                  <a:pt x="2103096" y="612724"/>
                </a:lnTo>
                <a:lnTo>
                  <a:pt x="2103120" y="612355"/>
                </a:lnTo>
                <a:lnTo>
                  <a:pt x="2102751" y="73075"/>
                </a:lnTo>
                <a:lnTo>
                  <a:pt x="2087660" y="28705"/>
                </a:lnTo>
                <a:lnTo>
                  <a:pt x="2048710" y="2428"/>
                </a:lnTo>
                <a:lnTo>
                  <a:pt x="2039309" y="607"/>
                </a:lnTo>
                <a:lnTo>
                  <a:pt x="2029675" y="0"/>
                </a:lnTo>
                <a:close/>
              </a:path>
            </a:pathLst>
          </a:custGeom>
          <a:solidFill>
            <a:srgbClr val="F4B84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5597905" y="3012022"/>
            <a:ext cx="114554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09182F"/>
                </a:solidFill>
                <a:latin typeface="Calibri"/>
                <a:cs typeface="Calibri"/>
              </a:rPr>
              <a:t>Client</a:t>
            </a:r>
            <a:r>
              <a:rPr dirty="0" sz="1400" spc="-30" b="1">
                <a:solidFill>
                  <a:srgbClr val="09182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9182F"/>
                </a:solidFill>
                <a:latin typeface="Calibri"/>
                <a:cs typeface="Calibri"/>
              </a:rPr>
              <a:t>16</a:t>
            </a:r>
            <a:r>
              <a:rPr dirty="0" sz="1400" spc="-40" b="1">
                <a:solidFill>
                  <a:srgbClr val="09182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9182F"/>
                </a:solidFill>
                <a:latin typeface="Calibri"/>
                <a:cs typeface="Calibri"/>
              </a:rPr>
              <a:t>layers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7210980" y="1183686"/>
            <a:ext cx="1480185" cy="2295525"/>
            <a:chOff x="7210980" y="1183686"/>
            <a:chExt cx="1480185" cy="2295525"/>
          </a:xfrm>
        </p:grpSpPr>
        <p:sp>
          <p:nvSpPr>
            <p:cNvPr id="22" name="object 22"/>
            <p:cNvSpPr/>
            <p:nvPr/>
          </p:nvSpPr>
          <p:spPr>
            <a:xfrm>
              <a:off x="7223759" y="2331722"/>
              <a:ext cx="203200" cy="635"/>
            </a:xfrm>
            <a:custGeom>
              <a:avLst/>
              <a:gdLst/>
              <a:ahLst/>
              <a:cxnLst/>
              <a:rect l="l" t="t" r="r" b="b"/>
              <a:pathLst>
                <a:path w="203200" h="635">
                  <a:moveTo>
                    <a:pt x="0" y="0"/>
                  </a:moveTo>
                  <a:lnTo>
                    <a:pt x="202679" y="355"/>
                  </a:lnTo>
                </a:path>
              </a:pathLst>
            </a:custGeom>
            <a:ln w="25559">
              <a:solidFill>
                <a:srgbClr val="2CD3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7421397" y="2293558"/>
              <a:ext cx="76835" cy="76835"/>
            </a:xfrm>
            <a:custGeom>
              <a:avLst/>
              <a:gdLst/>
              <a:ahLst/>
              <a:cxnLst/>
              <a:rect l="l" t="t" r="r" b="b"/>
              <a:pathLst>
                <a:path w="76834" h="76835">
                  <a:moveTo>
                    <a:pt x="0" y="0"/>
                  </a:moveTo>
                  <a:lnTo>
                    <a:pt x="0" y="76682"/>
                  </a:lnTo>
                  <a:lnTo>
                    <a:pt x="76682" y="385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D3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7497724" y="1188366"/>
              <a:ext cx="1188720" cy="2286000"/>
            </a:xfrm>
            <a:custGeom>
              <a:avLst/>
              <a:gdLst/>
              <a:ahLst/>
              <a:cxnLst/>
              <a:rect l="l" t="t" r="r" b="b"/>
              <a:pathLst>
                <a:path w="1188720" h="2286000">
                  <a:moveTo>
                    <a:pt x="111527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2212911"/>
                  </a:lnTo>
                  <a:lnTo>
                    <a:pt x="594" y="2222189"/>
                  </a:lnTo>
                  <a:lnTo>
                    <a:pt x="607" y="2222389"/>
                  </a:lnTo>
                  <a:lnTo>
                    <a:pt x="2394" y="2231590"/>
                  </a:lnTo>
                  <a:lnTo>
                    <a:pt x="2428" y="2231767"/>
                  </a:lnTo>
                  <a:lnTo>
                    <a:pt x="5412" y="2240652"/>
                  </a:lnTo>
                  <a:lnTo>
                    <a:pt x="5464" y="2240807"/>
                  </a:lnTo>
                  <a:lnTo>
                    <a:pt x="36360" y="2276271"/>
                  </a:lnTo>
                  <a:lnTo>
                    <a:pt x="73075" y="2286000"/>
                  </a:lnTo>
                  <a:lnTo>
                    <a:pt x="1115631" y="2285631"/>
                  </a:lnTo>
                  <a:lnTo>
                    <a:pt x="1160009" y="2270540"/>
                  </a:lnTo>
                  <a:lnTo>
                    <a:pt x="1186229" y="2231767"/>
                  </a:lnTo>
                  <a:lnTo>
                    <a:pt x="1188073" y="2222389"/>
                  </a:lnTo>
                  <a:lnTo>
                    <a:pt x="1188112" y="2222189"/>
                  </a:lnTo>
                  <a:lnTo>
                    <a:pt x="1188697" y="2212911"/>
                  </a:lnTo>
                  <a:lnTo>
                    <a:pt x="1188720" y="2212555"/>
                  </a:lnTo>
                  <a:lnTo>
                    <a:pt x="1188351" y="73075"/>
                  </a:lnTo>
                  <a:lnTo>
                    <a:pt x="1173260" y="28698"/>
                  </a:lnTo>
                  <a:lnTo>
                    <a:pt x="1134310" y="2428"/>
                  </a:lnTo>
                  <a:lnTo>
                    <a:pt x="1124909" y="607"/>
                  </a:lnTo>
                  <a:lnTo>
                    <a:pt x="1115275" y="0"/>
                  </a:lnTo>
                  <a:close/>
                </a:path>
              </a:pathLst>
            </a:custGeom>
            <a:solidFill>
              <a:srgbClr val="1127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7497724" y="1188366"/>
              <a:ext cx="1188720" cy="2286000"/>
            </a:xfrm>
            <a:custGeom>
              <a:avLst/>
              <a:gdLst/>
              <a:ahLst/>
              <a:cxnLst/>
              <a:rect l="l" t="t" r="r" b="b"/>
              <a:pathLst>
                <a:path w="1188720" h="2286000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1115275" y="0"/>
                  </a:lnTo>
                  <a:lnTo>
                    <a:pt x="1159803" y="15096"/>
                  </a:lnTo>
                  <a:lnTo>
                    <a:pt x="1185922" y="54219"/>
                  </a:lnTo>
                  <a:lnTo>
                    <a:pt x="1188351" y="73075"/>
                  </a:lnTo>
                  <a:lnTo>
                    <a:pt x="1188720" y="2212555"/>
                  </a:lnTo>
                  <a:lnTo>
                    <a:pt x="1188112" y="2222189"/>
                  </a:lnTo>
                  <a:lnTo>
                    <a:pt x="1186289" y="2231590"/>
                  </a:lnTo>
                  <a:lnTo>
                    <a:pt x="1160009" y="2270540"/>
                  </a:lnTo>
                  <a:lnTo>
                    <a:pt x="1115631" y="2285631"/>
                  </a:lnTo>
                  <a:lnTo>
                    <a:pt x="73075" y="2286000"/>
                  </a:lnTo>
                  <a:lnTo>
                    <a:pt x="28548" y="2270890"/>
                  </a:lnTo>
                  <a:lnTo>
                    <a:pt x="2428" y="2231767"/>
                  </a:lnTo>
                  <a:lnTo>
                    <a:pt x="0" y="2212911"/>
                  </a:lnTo>
                  <a:lnTo>
                    <a:pt x="0" y="73075"/>
                  </a:lnTo>
                  <a:close/>
                </a:path>
              </a:pathLst>
            </a:custGeom>
            <a:ln w="9359">
              <a:solidFill>
                <a:srgbClr val="2345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7777340" y="1799909"/>
            <a:ext cx="628650" cy="10629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32715" marR="5080" indent="-12065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FFFFFF"/>
                </a:solidFill>
                <a:latin typeface="Calibri"/>
                <a:cs typeface="Calibri"/>
              </a:rPr>
              <a:t>Output </a:t>
            </a:r>
            <a:r>
              <a:rPr dirty="0" sz="1300" spc="-20">
                <a:solidFill>
                  <a:srgbClr val="F77070"/>
                </a:solidFill>
                <a:latin typeface="Calibri"/>
                <a:cs typeface="Calibri"/>
              </a:rPr>
              <a:t>Poor </a:t>
            </a:r>
            <a:r>
              <a:rPr dirty="0" sz="1300" spc="-20">
                <a:solidFill>
                  <a:srgbClr val="F4B841"/>
                </a:solidFill>
                <a:latin typeface="Calibri"/>
                <a:cs typeface="Calibri"/>
              </a:rPr>
              <a:t>Fair </a:t>
            </a:r>
            <a:r>
              <a:rPr dirty="0" sz="1300" spc="-20">
                <a:solidFill>
                  <a:srgbClr val="37BCF7"/>
                </a:solidFill>
                <a:latin typeface="Calibri"/>
                <a:cs typeface="Calibri"/>
              </a:rPr>
              <a:t>Good</a:t>
            </a:r>
            <a:endParaRPr sz="1300">
              <a:latin typeface="Calibri"/>
              <a:cs typeface="Calibri"/>
            </a:endParaRPr>
          </a:p>
          <a:p>
            <a:pPr marL="16510">
              <a:lnSpc>
                <a:spcPct val="100000"/>
              </a:lnSpc>
              <a:spcBef>
                <a:spcPts val="10"/>
              </a:spcBef>
            </a:pPr>
            <a:r>
              <a:rPr dirty="0" sz="1300" spc="-10">
                <a:solidFill>
                  <a:srgbClr val="2CD3BE"/>
                </a:solidFill>
                <a:latin typeface="Calibri"/>
                <a:cs typeface="Calibri"/>
              </a:rPr>
              <a:t>Excellent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52164" y="3652921"/>
            <a:ext cx="2606675" cy="722630"/>
            <a:chOff x="452164" y="3652921"/>
            <a:chExt cx="2606675" cy="722630"/>
          </a:xfrm>
        </p:grpSpPr>
        <p:sp>
          <p:nvSpPr>
            <p:cNvPr id="28" name="object 28"/>
            <p:cNvSpPr/>
            <p:nvPr/>
          </p:nvSpPr>
          <p:spPr>
            <a:xfrm>
              <a:off x="456844" y="3657601"/>
              <a:ext cx="2597150" cy="713740"/>
            </a:xfrm>
            <a:custGeom>
              <a:avLst/>
              <a:gdLst/>
              <a:ahLst/>
              <a:cxnLst/>
              <a:rect l="l" t="t" r="r" b="b"/>
              <a:pathLst>
                <a:path w="2597150" h="713739">
                  <a:moveTo>
                    <a:pt x="2523591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640080"/>
                  </a:lnTo>
                  <a:lnTo>
                    <a:pt x="15091" y="684457"/>
                  </a:lnTo>
                  <a:lnTo>
                    <a:pt x="54041" y="710726"/>
                  </a:lnTo>
                  <a:lnTo>
                    <a:pt x="73075" y="713155"/>
                  </a:lnTo>
                  <a:lnTo>
                    <a:pt x="2523959" y="712800"/>
                  </a:lnTo>
                  <a:lnTo>
                    <a:pt x="2568330" y="697701"/>
                  </a:lnTo>
                  <a:lnTo>
                    <a:pt x="2591491" y="667976"/>
                  </a:lnTo>
                  <a:lnTo>
                    <a:pt x="2591570" y="667815"/>
                  </a:lnTo>
                  <a:lnTo>
                    <a:pt x="2594545" y="658936"/>
                  </a:lnTo>
                  <a:lnTo>
                    <a:pt x="2594606" y="658753"/>
                  </a:lnTo>
                  <a:lnTo>
                    <a:pt x="2596389" y="649558"/>
                  </a:lnTo>
                  <a:lnTo>
                    <a:pt x="2596428" y="649356"/>
                  </a:lnTo>
                  <a:lnTo>
                    <a:pt x="2597013" y="640080"/>
                  </a:lnTo>
                  <a:lnTo>
                    <a:pt x="2597035" y="639724"/>
                  </a:lnTo>
                  <a:lnTo>
                    <a:pt x="2596680" y="73075"/>
                  </a:lnTo>
                  <a:lnTo>
                    <a:pt x="2581576" y="28705"/>
                  </a:lnTo>
                  <a:lnTo>
                    <a:pt x="2542632" y="2428"/>
                  </a:lnTo>
                  <a:lnTo>
                    <a:pt x="2533230" y="607"/>
                  </a:lnTo>
                  <a:lnTo>
                    <a:pt x="2523591" y="0"/>
                  </a:lnTo>
                  <a:close/>
                </a:path>
              </a:pathLst>
            </a:custGeom>
            <a:solidFill>
              <a:srgbClr val="1127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456844" y="3657601"/>
              <a:ext cx="2597150" cy="713740"/>
            </a:xfrm>
            <a:custGeom>
              <a:avLst/>
              <a:gdLst/>
              <a:ahLst/>
              <a:cxnLst/>
              <a:rect l="l" t="t" r="r" b="b"/>
              <a:pathLst>
                <a:path w="2597150" h="713739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2523591" y="0"/>
                  </a:lnTo>
                  <a:lnTo>
                    <a:pt x="2568124" y="15104"/>
                  </a:lnTo>
                  <a:lnTo>
                    <a:pt x="2594249" y="54224"/>
                  </a:lnTo>
                  <a:lnTo>
                    <a:pt x="2596680" y="73075"/>
                  </a:lnTo>
                  <a:lnTo>
                    <a:pt x="2597035" y="639724"/>
                  </a:lnTo>
                  <a:lnTo>
                    <a:pt x="2596428" y="649356"/>
                  </a:lnTo>
                  <a:lnTo>
                    <a:pt x="2594606" y="658753"/>
                  </a:lnTo>
                  <a:lnTo>
                    <a:pt x="2568330" y="697701"/>
                  </a:lnTo>
                  <a:lnTo>
                    <a:pt x="2523959" y="712800"/>
                  </a:lnTo>
                  <a:lnTo>
                    <a:pt x="73075" y="713155"/>
                  </a:lnTo>
                  <a:lnTo>
                    <a:pt x="28548" y="698058"/>
                  </a:lnTo>
                  <a:lnTo>
                    <a:pt x="2428" y="658936"/>
                  </a:lnTo>
                  <a:lnTo>
                    <a:pt x="0" y="640080"/>
                  </a:lnTo>
                  <a:lnTo>
                    <a:pt x="0" y="73075"/>
                  </a:lnTo>
                  <a:close/>
                </a:path>
              </a:pathLst>
            </a:custGeom>
            <a:ln w="9359">
              <a:solidFill>
                <a:srgbClr val="2345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581304" y="3696019"/>
            <a:ext cx="2001520" cy="635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2CD3BE"/>
                </a:solidFill>
                <a:latin typeface="Calibri"/>
                <a:cs typeface="Calibri"/>
              </a:rPr>
              <a:t>Shared</a:t>
            </a:r>
            <a:r>
              <a:rPr dirty="0" sz="1400" spc="-40" b="1">
                <a:solidFill>
                  <a:srgbClr val="2CD3BE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solidFill>
                  <a:srgbClr val="2CD3BE"/>
                </a:solidFill>
                <a:latin typeface="Calibri"/>
                <a:cs typeface="Calibri"/>
              </a:rPr>
              <a:t>base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dirty="0" sz="1300" spc="-20">
                <a:solidFill>
                  <a:srgbClr val="DBE6F2"/>
                </a:solidFill>
                <a:latin typeface="Calibri"/>
                <a:cs typeface="Calibri"/>
              </a:rPr>
              <a:t>averaged</a:t>
            </a:r>
            <a:r>
              <a:rPr dirty="0" sz="1300" spc="-2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by</a:t>
            </a:r>
            <a:r>
              <a:rPr dirty="0" sz="1300" spc="-2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the</a:t>
            </a:r>
            <a:r>
              <a:rPr dirty="0" sz="1300" spc="-2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server</a:t>
            </a:r>
            <a:r>
              <a:rPr dirty="0" sz="1300" spc="-2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DBE6F2"/>
                </a:solidFill>
                <a:latin typeface="Calibri"/>
                <a:cs typeface="Calibri"/>
              </a:rPr>
              <a:t>across clients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268440" y="3652921"/>
            <a:ext cx="2606675" cy="722630"/>
            <a:chOff x="3268440" y="3652921"/>
            <a:chExt cx="2606675" cy="722630"/>
          </a:xfrm>
        </p:grpSpPr>
        <p:sp>
          <p:nvSpPr>
            <p:cNvPr id="32" name="object 32"/>
            <p:cNvSpPr/>
            <p:nvPr/>
          </p:nvSpPr>
          <p:spPr>
            <a:xfrm>
              <a:off x="3273120" y="3657601"/>
              <a:ext cx="2597150" cy="713740"/>
            </a:xfrm>
            <a:custGeom>
              <a:avLst/>
              <a:gdLst/>
              <a:ahLst/>
              <a:cxnLst/>
              <a:rect l="l" t="t" r="r" b="b"/>
              <a:pathLst>
                <a:path w="2597150" h="713739">
                  <a:moveTo>
                    <a:pt x="2523604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640080"/>
                  </a:lnTo>
                  <a:lnTo>
                    <a:pt x="594" y="649356"/>
                  </a:lnTo>
                  <a:lnTo>
                    <a:pt x="607" y="649558"/>
                  </a:lnTo>
                  <a:lnTo>
                    <a:pt x="2393" y="658753"/>
                  </a:lnTo>
                  <a:lnTo>
                    <a:pt x="2428" y="658936"/>
                  </a:lnTo>
                  <a:lnTo>
                    <a:pt x="5410" y="667815"/>
                  </a:lnTo>
                  <a:lnTo>
                    <a:pt x="36360" y="703440"/>
                  </a:lnTo>
                  <a:lnTo>
                    <a:pt x="73075" y="713155"/>
                  </a:lnTo>
                  <a:lnTo>
                    <a:pt x="2523959" y="712800"/>
                  </a:lnTo>
                  <a:lnTo>
                    <a:pt x="2568337" y="697701"/>
                  </a:lnTo>
                  <a:lnTo>
                    <a:pt x="2594545" y="658936"/>
                  </a:lnTo>
                  <a:lnTo>
                    <a:pt x="2594606" y="658753"/>
                  </a:lnTo>
                  <a:lnTo>
                    <a:pt x="2596389" y="649558"/>
                  </a:lnTo>
                  <a:lnTo>
                    <a:pt x="2596428" y="649356"/>
                  </a:lnTo>
                  <a:lnTo>
                    <a:pt x="2597013" y="640080"/>
                  </a:lnTo>
                  <a:lnTo>
                    <a:pt x="2597035" y="639724"/>
                  </a:lnTo>
                  <a:lnTo>
                    <a:pt x="2596680" y="73075"/>
                  </a:lnTo>
                  <a:lnTo>
                    <a:pt x="2581581" y="28705"/>
                  </a:lnTo>
                  <a:lnTo>
                    <a:pt x="2542633" y="2428"/>
                  </a:lnTo>
                  <a:lnTo>
                    <a:pt x="2533236" y="607"/>
                  </a:lnTo>
                  <a:lnTo>
                    <a:pt x="2523604" y="0"/>
                  </a:lnTo>
                  <a:close/>
                </a:path>
              </a:pathLst>
            </a:custGeom>
            <a:solidFill>
              <a:srgbClr val="1127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3273120" y="3657601"/>
              <a:ext cx="2597150" cy="713740"/>
            </a:xfrm>
            <a:custGeom>
              <a:avLst/>
              <a:gdLst/>
              <a:ahLst/>
              <a:cxnLst/>
              <a:rect l="l" t="t" r="r" b="b"/>
              <a:pathLst>
                <a:path w="2597150" h="713739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705" y="15098"/>
                  </a:lnTo>
                  <a:lnTo>
                    <a:pt x="73075" y="0"/>
                  </a:lnTo>
                  <a:lnTo>
                    <a:pt x="2523604" y="0"/>
                  </a:lnTo>
                  <a:lnTo>
                    <a:pt x="2568124" y="15104"/>
                  </a:lnTo>
                  <a:lnTo>
                    <a:pt x="2594251" y="54224"/>
                  </a:lnTo>
                  <a:lnTo>
                    <a:pt x="2596680" y="73075"/>
                  </a:lnTo>
                  <a:lnTo>
                    <a:pt x="2597035" y="639724"/>
                  </a:lnTo>
                  <a:lnTo>
                    <a:pt x="2596428" y="649356"/>
                  </a:lnTo>
                  <a:lnTo>
                    <a:pt x="2594606" y="658753"/>
                  </a:lnTo>
                  <a:lnTo>
                    <a:pt x="2568337" y="697701"/>
                  </a:lnTo>
                  <a:lnTo>
                    <a:pt x="2523959" y="712800"/>
                  </a:lnTo>
                  <a:lnTo>
                    <a:pt x="73075" y="713155"/>
                  </a:lnTo>
                  <a:lnTo>
                    <a:pt x="28555" y="698058"/>
                  </a:lnTo>
                  <a:lnTo>
                    <a:pt x="2428" y="658936"/>
                  </a:lnTo>
                  <a:lnTo>
                    <a:pt x="0" y="640080"/>
                  </a:lnTo>
                  <a:lnTo>
                    <a:pt x="0" y="73075"/>
                  </a:lnTo>
                  <a:close/>
                </a:path>
              </a:pathLst>
            </a:custGeom>
            <a:ln w="9359">
              <a:solidFill>
                <a:srgbClr val="2345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3397580" y="3795384"/>
            <a:ext cx="2345690" cy="437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F4B841"/>
                </a:solidFill>
                <a:latin typeface="Calibri"/>
                <a:cs typeface="Calibri"/>
              </a:rPr>
              <a:t>Personal</a:t>
            </a:r>
            <a:r>
              <a:rPr dirty="0" sz="1400" spc="-15" b="1">
                <a:solidFill>
                  <a:srgbClr val="F4B841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4B841"/>
                </a:solidFill>
                <a:latin typeface="Calibri"/>
                <a:cs typeface="Calibri"/>
              </a:rPr>
              <a:t>layers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300" spc="-10">
                <a:solidFill>
                  <a:srgbClr val="DBE6F2"/>
                </a:solidFill>
                <a:latin typeface="Calibri"/>
                <a:cs typeface="Calibri"/>
              </a:rPr>
              <a:t>stay</a:t>
            </a:r>
            <a:r>
              <a:rPr dirty="0" sz="1300" spc="-4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on</a:t>
            </a:r>
            <a:r>
              <a:rPr dirty="0" sz="1300" spc="-3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the</a:t>
            </a:r>
            <a:r>
              <a:rPr dirty="0" sz="1300" spc="-3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DBE6F2"/>
                </a:solidFill>
                <a:latin typeface="Calibri"/>
                <a:cs typeface="Calibri"/>
              </a:rPr>
              <a:t>client,</a:t>
            </a:r>
            <a:r>
              <a:rPr dirty="0" sz="1300" spc="-3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tuned</a:t>
            </a:r>
            <a:r>
              <a:rPr dirty="0" sz="1300" spc="-4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to</a:t>
            </a:r>
            <a:r>
              <a:rPr dirty="0" sz="1300" spc="-4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its</a:t>
            </a:r>
            <a:r>
              <a:rPr dirty="0" sz="1300" spc="-3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DBE6F2"/>
                </a:solidFill>
                <a:latin typeface="Calibri"/>
                <a:cs typeface="Calibri"/>
              </a:rPr>
              <a:t>data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084716" y="3652921"/>
            <a:ext cx="2606675" cy="722630"/>
            <a:chOff x="6084716" y="3652921"/>
            <a:chExt cx="2606675" cy="722630"/>
          </a:xfrm>
        </p:grpSpPr>
        <p:sp>
          <p:nvSpPr>
            <p:cNvPr id="36" name="object 36"/>
            <p:cNvSpPr/>
            <p:nvPr/>
          </p:nvSpPr>
          <p:spPr>
            <a:xfrm>
              <a:off x="6089396" y="3657601"/>
              <a:ext cx="2597150" cy="713740"/>
            </a:xfrm>
            <a:custGeom>
              <a:avLst/>
              <a:gdLst/>
              <a:ahLst/>
              <a:cxnLst/>
              <a:rect l="l" t="t" r="r" b="b"/>
              <a:pathLst>
                <a:path w="2597150" h="713739">
                  <a:moveTo>
                    <a:pt x="2523604" y="0"/>
                  </a:moveTo>
                  <a:lnTo>
                    <a:pt x="73088" y="0"/>
                  </a:lnTo>
                  <a:lnTo>
                    <a:pt x="63610" y="607"/>
                  </a:lnTo>
                  <a:lnTo>
                    <a:pt x="21431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640080"/>
                  </a:lnTo>
                  <a:lnTo>
                    <a:pt x="594" y="649356"/>
                  </a:lnTo>
                  <a:lnTo>
                    <a:pt x="607" y="649558"/>
                  </a:lnTo>
                  <a:lnTo>
                    <a:pt x="2394" y="658753"/>
                  </a:lnTo>
                  <a:lnTo>
                    <a:pt x="2430" y="658936"/>
                  </a:lnTo>
                  <a:lnTo>
                    <a:pt x="5416" y="667815"/>
                  </a:lnTo>
                  <a:lnTo>
                    <a:pt x="36360" y="703440"/>
                  </a:lnTo>
                  <a:lnTo>
                    <a:pt x="73088" y="713155"/>
                  </a:lnTo>
                  <a:lnTo>
                    <a:pt x="2523959" y="712800"/>
                  </a:lnTo>
                  <a:lnTo>
                    <a:pt x="2568337" y="697701"/>
                  </a:lnTo>
                  <a:lnTo>
                    <a:pt x="2591498" y="667976"/>
                  </a:lnTo>
                  <a:lnTo>
                    <a:pt x="2591578" y="667815"/>
                  </a:lnTo>
                  <a:lnTo>
                    <a:pt x="2594556" y="658936"/>
                  </a:lnTo>
                  <a:lnTo>
                    <a:pt x="2594617" y="658753"/>
                  </a:lnTo>
                  <a:lnTo>
                    <a:pt x="2596401" y="649558"/>
                  </a:lnTo>
                  <a:lnTo>
                    <a:pt x="2596440" y="649356"/>
                  </a:lnTo>
                  <a:lnTo>
                    <a:pt x="2597025" y="640080"/>
                  </a:lnTo>
                  <a:lnTo>
                    <a:pt x="2597048" y="639724"/>
                  </a:lnTo>
                  <a:lnTo>
                    <a:pt x="2596680" y="73075"/>
                  </a:lnTo>
                  <a:lnTo>
                    <a:pt x="2581588" y="28705"/>
                  </a:lnTo>
                  <a:lnTo>
                    <a:pt x="2542638" y="2428"/>
                  </a:lnTo>
                  <a:lnTo>
                    <a:pt x="2533238" y="607"/>
                  </a:lnTo>
                  <a:lnTo>
                    <a:pt x="2523604" y="0"/>
                  </a:lnTo>
                  <a:close/>
                </a:path>
              </a:pathLst>
            </a:custGeom>
            <a:solidFill>
              <a:srgbClr val="1127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6089396" y="3657601"/>
              <a:ext cx="2597150" cy="713740"/>
            </a:xfrm>
            <a:custGeom>
              <a:avLst/>
              <a:gdLst/>
              <a:ahLst/>
              <a:cxnLst/>
              <a:rect l="l" t="t" r="r" b="b"/>
              <a:pathLst>
                <a:path w="2597150" h="713739">
                  <a:moveTo>
                    <a:pt x="0" y="73075"/>
                  </a:moveTo>
                  <a:lnTo>
                    <a:pt x="607" y="63443"/>
                  </a:lnTo>
                  <a:lnTo>
                    <a:pt x="2430" y="54046"/>
                  </a:lnTo>
                  <a:lnTo>
                    <a:pt x="28710" y="15098"/>
                  </a:lnTo>
                  <a:lnTo>
                    <a:pt x="73088" y="0"/>
                  </a:lnTo>
                  <a:lnTo>
                    <a:pt x="2523604" y="0"/>
                  </a:lnTo>
                  <a:lnTo>
                    <a:pt x="2568131" y="15104"/>
                  </a:lnTo>
                  <a:lnTo>
                    <a:pt x="2594251" y="54224"/>
                  </a:lnTo>
                  <a:lnTo>
                    <a:pt x="2596680" y="73075"/>
                  </a:lnTo>
                  <a:lnTo>
                    <a:pt x="2597048" y="639724"/>
                  </a:lnTo>
                  <a:lnTo>
                    <a:pt x="2596440" y="649356"/>
                  </a:lnTo>
                  <a:lnTo>
                    <a:pt x="2594617" y="658753"/>
                  </a:lnTo>
                  <a:lnTo>
                    <a:pt x="2568337" y="697701"/>
                  </a:lnTo>
                  <a:lnTo>
                    <a:pt x="2523959" y="712800"/>
                  </a:lnTo>
                  <a:lnTo>
                    <a:pt x="73088" y="713155"/>
                  </a:lnTo>
                  <a:lnTo>
                    <a:pt x="28555" y="698058"/>
                  </a:lnTo>
                  <a:lnTo>
                    <a:pt x="2430" y="658936"/>
                  </a:lnTo>
                  <a:lnTo>
                    <a:pt x="0" y="640080"/>
                  </a:lnTo>
                  <a:lnTo>
                    <a:pt x="0" y="73075"/>
                  </a:lnTo>
                  <a:close/>
                </a:path>
              </a:pathLst>
            </a:custGeom>
            <a:ln w="9359">
              <a:solidFill>
                <a:srgbClr val="2345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6213855" y="3795384"/>
            <a:ext cx="1748789" cy="437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37BCF7"/>
                </a:solidFill>
                <a:latin typeface="Calibri"/>
                <a:cs typeface="Calibri"/>
              </a:rPr>
              <a:t>Why</a:t>
            </a:r>
            <a:r>
              <a:rPr dirty="0" sz="1400" spc="-35" b="1">
                <a:solidFill>
                  <a:srgbClr val="37BCF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37BCF7"/>
                </a:solidFill>
                <a:latin typeface="Calibri"/>
                <a:cs typeface="Calibri"/>
              </a:rPr>
              <a:t>it</a:t>
            </a:r>
            <a:r>
              <a:rPr dirty="0" sz="1400" spc="-30" b="1">
                <a:solidFill>
                  <a:srgbClr val="37BCF7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solidFill>
                  <a:srgbClr val="37BCF7"/>
                </a:solidFill>
                <a:latin typeface="Calibri"/>
                <a:cs typeface="Calibri"/>
              </a:rPr>
              <a:t>helps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client</a:t>
            </a:r>
            <a:r>
              <a:rPr dirty="0" sz="1300" spc="-3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DBE6F2"/>
                </a:solidFill>
                <a:latin typeface="Calibri"/>
                <a:cs typeface="Calibri"/>
              </a:rPr>
              <a:t>data</a:t>
            </a:r>
            <a:r>
              <a:rPr dirty="0" sz="1300" spc="-4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DBE6F2"/>
                </a:solidFill>
                <a:latin typeface="Calibri"/>
                <a:cs typeface="Calibri"/>
              </a:rPr>
              <a:t>differ</a:t>
            </a:r>
            <a:r>
              <a:rPr dirty="0" sz="1300" spc="-4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DBE6F2"/>
                </a:solidFill>
                <a:latin typeface="Calibri"/>
                <a:cs typeface="Calibri"/>
              </a:rPr>
              <a:t>(non-IID)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44144" y="4487305"/>
            <a:ext cx="425259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8EA2BE"/>
                </a:solidFill>
                <a:latin typeface="Calibri"/>
                <a:cs typeface="Calibri"/>
              </a:rPr>
              <a:t>Sources:</a:t>
            </a:r>
            <a:r>
              <a:rPr dirty="0" sz="1000" spc="-5">
                <a:solidFill>
                  <a:srgbClr val="8EA2BE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8EA2BE"/>
                </a:solidFill>
                <a:latin typeface="Calibri"/>
                <a:cs typeface="Calibri"/>
              </a:rPr>
              <a:t>Arivazhagan </a:t>
            </a:r>
            <a:r>
              <a:rPr dirty="0" sz="1000">
                <a:solidFill>
                  <a:srgbClr val="8EA2BE"/>
                </a:solidFill>
                <a:latin typeface="Calibri"/>
                <a:cs typeface="Calibri"/>
              </a:rPr>
              <a:t>et al.</a:t>
            </a:r>
            <a:r>
              <a:rPr dirty="0" sz="1000" spc="-10">
                <a:solidFill>
                  <a:srgbClr val="8EA2BE"/>
                </a:solidFill>
                <a:latin typeface="Calibri"/>
                <a:cs typeface="Calibri"/>
              </a:rPr>
              <a:t> (2019), Federated</a:t>
            </a:r>
            <a:r>
              <a:rPr dirty="0" sz="1000" spc="-5">
                <a:solidFill>
                  <a:srgbClr val="8EA2BE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8EA2BE"/>
                </a:solidFill>
                <a:latin typeface="Calibri"/>
                <a:cs typeface="Calibri"/>
              </a:rPr>
              <a:t>Learning</a:t>
            </a:r>
            <a:r>
              <a:rPr dirty="0" sz="1000" spc="-5">
                <a:solidFill>
                  <a:srgbClr val="8EA2BE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8EA2BE"/>
                </a:solidFill>
                <a:latin typeface="Calibri"/>
                <a:cs typeface="Calibri"/>
              </a:rPr>
              <a:t>with</a:t>
            </a:r>
            <a:r>
              <a:rPr dirty="0" sz="1000" spc="-5">
                <a:solidFill>
                  <a:srgbClr val="8EA2BE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8EA2BE"/>
                </a:solidFill>
                <a:latin typeface="Calibri"/>
                <a:cs typeface="Calibri"/>
              </a:rPr>
              <a:t>Personalization</a:t>
            </a:r>
            <a:r>
              <a:rPr dirty="0" sz="1000" spc="-15">
                <a:solidFill>
                  <a:srgbClr val="8EA2BE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8EA2BE"/>
                </a:solidFill>
                <a:latin typeface="Calibri"/>
                <a:cs typeface="Calibri"/>
              </a:rPr>
              <a:t>Layers.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KLH</a:t>
            </a:r>
            <a:r>
              <a:rPr dirty="0" spc="-35"/>
              <a:t> </a:t>
            </a:r>
            <a:r>
              <a:rPr dirty="0"/>
              <a:t>University</a:t>
            </a:r>
            <a:r>
              <a:rPr dirty="0" spc="175"/>
              <a:t> </a:t>
            </a:r>
            <a:r>
              <a:rPr dirty="0"/>
              <a:t>|</a:t>
            </a:r>
            <a:r>
              <a:rPr dirty="0" spc="175"/>
              <a:t> </a:t>
            </a:r>
            <a:r>
              <a:rPr dirty="0"/>
              <a:t>Dept.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ECE</a:t>
            </a:r>
            <a:r>
              <a:rPr dirty="0" spc="170"/>
              <a:t> </a:t>
            </a:r>
            <a:r>
              <a:rPr dirty="0"/>
              <a:t>|</a:t>
            </a:r>
            <a:r>
              <a:rPr dirty="0" spc="175"/>
              <a:t> </a:t>
            </a:r>
            <a:r>
              <a:rPr dirty="0"/>
              <a:t>Machine</a:t>
            </a:r>
            <a:r>
              <a:rPr dirty="0" spc="-25"/>
              <a:t> </a:t>
            </a:r>
            <a:r>
              <a:rPr dirty="0"/>
              <a:t>Learning</a:t>
            </a:r>
            <a:r>
              <a:rPr dirty="0" spc="-25"/>
              <a:t> </a:t>
            </a:r>
            <a:r>
              <a:rPr dirty="0" spc="-10"/>
              <a:t>(25SC2107E)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8455939" y="4793271"/>
            <a:ext cx="154305" cy="18097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000" spc="-25">
                <a:solidFill>
                  <a:srgbClr val="8EA2BE"/>
                </a:solidFill>
                <a:latin typeface="Calibri"/>
                <a:cs typeface="Calibri"/>
              </a:rPr>
              <a:t>11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749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Results</a:t>
            </a:r>
            <a:r>
              <a:rPr dirty="0" spc="-105"/>
              <a:t> </a:t>
            </a:r>
            <a:r>
              <a:rPr dirty="0" spc="-10"/>
              <a:t>Comparison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2081" y="1092519"/>
            <a:ext cx="8239125" cy="3072765"/>
            <a:chOff x="452081" y="1092519"/>
            <a:chExt cx="8239125" cy="3072765"/>
          </a:xfrm>
        </p:grpSpPr>
        <p:sp>
          <p:nvSpPr>
            <p:cNvPr id="4" name="object 4"/>
            <p:cNvSpPr/>
            <p:nvPr/>
          </p:nvSpPr>
          <p:spPr>
            <a:xfrm>
              <a:off x="456844" y="1097282"/>
              <a:ext cx="8229600" cy="3063240"/>
            </a:xfrm>
            <a:custGeom>
              <a:avLst/>
              <a:gdLst/>
              <a:ahLst/>
              <a:cxnLst/>
              <a:rect l="l" t="t" r="r" b="b"/>
              <a:pathLst>
                <a:path w="8229600" h="3063240">
                  <a:moveTo>
                    <a:pt x="815615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2990164"/>
                  </a:lnTo>
                  <a:lnTo>
                    <a:pt x="594" y="2999435"/>
                  </a:lnTo>
                  <a:lnTo>
                    <a:pt x="607" y="2999640"/>
                  </a:lnTo>
                  <a:lnTo>
                    <a:pt x="2394" y="3008836"/>
                  </a:lnTo>
                  <a:lnTo>
                    <a:pt x="2428" y="3009015"/>
                  </a:lnTo>
                  <a:lnTo>
                    <a:pt x="5412" y="3017899"/>
                  </a:lnTo>
                  <a:lnTo>
                    <a:pt x="5464" y="3018055"/>
                  </a:lnTo>
                  <a:lnTo>
                    <a:pt x="36360" y="3053524"/>
                  </a:lnTo>
                  <a:lnTo>
                    <a:pt x="73075" y="3063240"/>
                  </a:lnTo>
                  <a:lnTo>
                    <a:pt x="8156511" y="3062884"/>
                  </a:lnTo>
                  <a:lnTo>
                    <a:pt x="8200889" y="3047780"/>
                  </a:lnTo>
                  <a:lnTo>
                    <a:pt x="8224052" y="3018055"/>
                  </a:lnTo>
                  <a:lnTo>
                    <a:pt x="8224129" y="3017899"/>
                  </a:lnTo>
                  <a:lnTo>
                    <a:pt x="8229576" y="2990164"/>
                  </a:lnTo>
                  <a:lnTo>
                    <a:pt x="8229600" y="2989795"/>
                  </a:lnTo>
                  <a:lnTo>
                    <a:pt x="8229231" y="73075"/>
                  </a:lnTo>
                  <a:lnTo>
                    <a:pt x="8214140" y="28705"/>
                  </a:lnTo>
                  <a:lnTo>
                    <a:pt x="8175190" y="2428"/>
                  </a:lnTo>
                  <a:lnTo>
                    <a:pt x="8165789" y="607"/>
                  </a:lnTo>
                  <a:lnTo>
                    <a:pt x="8156155" y="0"/>
                  </a:lnTo>
                  <a:close/>
                </a:path>
              </a:pathLst>
            </a:custGeom>
            <a:solidFill>
              <a:srgbClr val="1127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456844" y="1097282"/>
              <a:ext cx="8229600" cy="3063240"/>
            </a:xfrm>
            <a:custGeom>
              <a:avLst/>
              <a:gdLst/>
              <a:ahLst/>
              <a:cxnLst/>
              <a:rect l="l" t="t" r="r" b="b"/>
              <a:pathLst>
                <a:path w="8229600" h="306324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8156155" y="0"/>
                  </a:lnTo>
                  <a:lnTo>
                    <a:pt x="8200683" y="15104"/>
                  </a:lnTo>
                  <a:lnTo>
                    <a:pt x="8226802" y="54224"/>
                  </a:lnTo>
                  <a:lnTo>
                    <a:pt x="8229231" y="73075"/>
                  </a:lnTo>
                  <a:lnTo>
                    <a:pt x="8229600" y="2989795"/>
                  </a:lnTo>
                  <a:lnTo>
                    <a:pt x="8228992" y="2999435"/>
                  </a:lnTo>
                  <a:lnTo>
                    <a:pt x="8227169" y="3008836"/>
                  </a:lnTo>
                  <a:lnTo>
                    <a:pt x="8200889" y="3047780"/>
                  </a:lnTo>
                  <a:lnTo>
                    <a:pt x="8156511" y="3062884"/>
                  </a:lnTo>
                  <a:lnTo>
                    <a:pt x="73075" y="3063240"/>
                  </a:lnTo>
                  <a:lnTo>
                    <a:pt x="28548" y="3048135"/>
                  </a:lnTo>
                  <a:lnTo>
                    <a:pt x="2428" y="3009015"/>
                  </a:lnTo>
                  <a:lnTo>
                    <a:pt x="0" y="2990164"/>
                  </a:lnTo>
                  <a:lnTo>
                    <a:pt x="0" y="73075"/>
                  </a:lnTo>
                  <a:close/>
                </a:path>
              </a:pathLst>
            </a:custGeom>
            <a:ln w="9359">
              <a:solidFill>
                <a:srgbClr val="23457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398244" y="3463558"/>
              <a:ext cx="7036434" cy="0"/>
            </a:xfrm>
            <a:custGeom>
              <a:avLst/>
              <a:gdLst/>
              <a:ahLst/>
              <a:cxnLst/>
              <a:rect l="l" t="t" r="r" b="b"/>
              <a:pathLst>
                <a:path w="7036434" h="0">
                  <a:moveTo>
                    <a:pt x="7035838" y="0"/>
                  </a:moveTo>
                  <a:lnTo>
                    <a:pt x="0" y="0"/>
                  </a:lnTo>
                </a:path>
              </a:pathLst>
            </a:custGeom>
            <a:ln w="6479">
              <a:solidFill>
                <a:srgbClr val="29436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398244" y="2134440"/>
              <a:ext cx="7036434" cy="996950"/>
            </a:xfrm>
            <a:custGeom>
              <a:avLst/>
              <a:gdLst/>
              <a:ahLst/>
              <a:cxnLst/>
              <a:rect l="l" t="t" r="r" b="b"/>
              <a:pathLst>
                <a:path w="7036434" h="996950">
                  <a:moveTo>
                    <a:pt x="0" y="996480"/>
                  </a:moveTo>
                  <a:lnTo>
                    <a:pt x="146519" y="996480"/>
                  </a:lnTo>
                </a:path>
                <a:path w="7036434" h="996950">
                  <a:moveTo>
                    <a:pt x="1612430" y="996480"/>
                  </a:moveTo>
                  <a:lnTo>
                    <a:pt x="1905469" y="996480"/>
                  </a:lnTo>
                </a:path>
                <a:path w="7036434" h="996950">
                  <a:moveTo>
                    <a:pt x="3371037" y="996480"/>
                  </a:moveTo>
                  <a:lnTo>
                    <a:pt x="3664077" y="996480"/>
                  </a:lnTo>
                </a:path>
                <a:path w="7036434" h="996950">
                  <a:moveTo>
                    <a:pt x="5129999" y="996480"/>
                  </a:moveTo>
                  <a:lnTo>
                    <a:pt x="5423039" y="996480"/>
                  </a:lnTo>
                </a:path>
                <a:path w="7036434" h="996950">
                  <a:moveTo>
                    <a:pt x="6888949" y="996480"/>
                  </a:moveTo>
                  <a:lnTo>
                    <a:pt x="7035838" y="996480"/>
                  </a:lnTo>
                </a:path>
                <a:path w="7036434" h="996950">
                  <a:moveTo>
                    <a:pt x="0" y="664197"/>
                  </a:moveTo>
                  <a:lnTo>
                    <a:pt x="146519" y="664197"/>
                  </a:lnTo>
                </a:path>
                <a:path w="7036434" h="996950">
                  <a:moveTo>
                    <a:pt x="1612430" y="664197"/>
                  </a:moveTo>
                  <a:lnTo>
                    <a:pt x="1905469" y="664197"/>
                  </a:lnTo>
                </a:path>
                <a:path w="7036434" h="996950">
                  <a:moveTo>
                    <a:pt x="3371037" y="664197"/>
                  </a:moveTo>
                  <a:lnTo>
                    <a:pt x="3664077" y="664197"/>
                  </a:lnTo>
                </a:path>
                <a:path w="7036434" h="996950">
                  <a:moveTo>
                    <a:pt x="5129999" y="664197"/>
                  </a:moveTo>
                  <a:lnTo>
                    <a:pt x="5423039" y="664197"/>
                  </a:lnTo>
                </a:path>
                <a:path w="7036434" h="996950">
                  <a:moveTo>
                    <a:pt x="6888949" y="664197"/>
                  </a:moveTo>
                  <a:lnTo>
                    <a:pt x="7035838" y="664197"/>
                  </a:lnTo>
                </a:path>
                <a:path w="7036434" h="996950">
                  <a:moveTo>
                    <a:pt x="0" y="332282"/>
                  </a:moveTo>
                  <a:lnTo>
                    <a:pt x="146519" y="332282"/>
                  </a:lnTo>
                </a:path>
                <a:path w="7036434" h="996950">
                  <a:moveTo>
                    <a:pt x="1612430" y="332282"/>
                  </a:moveTo>
                  <a:lnTo>
                    <a:pt x="1905469" y="332282"/>
                  </a:lnTo>
                </a:path>
                <a:path w="7036434" h="996950">
                  <a:moveTo>
                    <a:pt x="3371037" y="332282"/>
                  </a:moveTo>
                  <a:lnTo>
                    <a:pt x="3664077" y="332282"/>
                  </a:lnTo>
                </a:path>
                <a:path w="7036434" h="996950">
                  <a:moveTo>
                    <a:pt x="5129999" y="332282"/>
                  </a:moveTo>
                  <a:lnTo>
                    <a:pt x="5423039" y="332282"/>
                  </a:lnTo>
                </a:path>
                <a:path w="7036434" h="996950">
                  <a:moveTo>
                    <a:pt x="6888949" y="332282"/>
                  </a:moveTo>
                  <a:lnTo>
                    <a:pt x="7035838" y="332282"/>
                  </a:lnTo>
                </a:path>
                <a:path w="7036434" h="996950">
                  <a:moveTo>
                    <a:pt x="0" y="0"/>
                  </a:moveTo>
                  <a:lnTo>
                    <a:pt x="146519" y="0"/>
                  </a:lnTo>
                </a:path>
                <a:path w="7036434" h="996950">
                  <a:moveTo>
                    <a:pt x="1612430" y="0"/>
                  </a:moveTo>
                  <a:lnTo>
                    <a:pt x="1905469" y="0"/>
                  </a:lnTo>
                </a:path>
                <a:path w="7036434" h="996950">
                  <a:moveTo>
                    <a:pt x="3371037" y="0"/>
                  </a:moveTo>
                  <a:lnTo>
                    <a:pt x="3664077" y="0"/>
                  </a:lnTo>
                </a:path>
                <a:path w="7036434" h="996950">
                  <a:moveTo>
                    <a:pt x="5129999" y="0"/>
                  </a:moveTo>
                  <a:lnTo>
                    <a:pt x="5423039" y="0"/>
                  </a:lnTo>
                </a:path>
                <a:path w="7036434" h="996950">
                  <a:moveTo>
                    <a:pt x="6888949" y="0"/>
                  </a:moveTo>
                  <a:lnTo>
                    <a:pt x="7035838" y="0"/>
                  </a:lnTo>
                </a:path>
              </a:pathLst>
            </a:custGeom>
            <a:ln w="6479">
              <a:solidFill>
                <a:srgbClr val="29436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398244" y="1802157"/>
              <a:ext cx="7036434" cy="0"/>
            </a:xfrm>
            <a:custGeom>
              <a:avLst/>
              <a:gdLst/>
              <a:ahLst/>
              <a:cxnLst/>
              <a:rect l="l" t="t" r="r" b="b"/>
              <a:pathLst>
                <a:path w="7036434" h="0">
                  <a:moveTo>
                    <a:pt x="7035838" y="0"/>
                  </a:moveTo>
                  <a:lnTo>
                    <a:pt x="0" y="0"/>
                  </a:lnTo>
                </a:path>
              </a:pathLst>
            </a:custGeom>
            <a:ln w="6479">
              <a:solidFill>
                <a:srgbClr val="29436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344244" y="1636206"/>
              <a:ext cx="7090409" cy="1881505"/>
            </a:xfrm>
            <a:custGeom>
              <a:avLst/>
              <a:gdLst/>
              <a:ahLst/>
              <a:cxnLst/>
              <a:rect l="l" t="t" r="r" b="b"/>
              <a:pathLst>
                <a:path w="7090409" h="1881504">
                  <a:moveTo>
                    <a:pt x="54000" y="1881352"/>
                  </a:moveTo>
                  <a:lnTo>
                    <a:pt x="54000" y="1827352"/>
                  </a:lnTo>
                </a:path>
                <a:path w="7090409" h="1881504">
                  <a:moveTo>
                    <a:pt x="1812950" y="1881352"/>
                  </a:moveTo>
                  <a:lnTo>
                    <a:pt x="1812950" y="1827352"/>
                  </a:lnTo>
                </a:path>
                <a:path w="7090409" h="1881504">
                  <a:moveTo>
                    <a:pt x="3571557" y="1881352"/>
                  </a:moveTo>
                  <a:lnTo>
                    <a:pt x="3571557" y="1827352"/>
                  </a:lnTo>
                </a:path>
                <a:path w="7090409" h="1881504">
                  <a:moveTo>
                    <a:pt x="5330520" y="1881352"/>
                  </a:moveTo>
                  <a:lnTo>
                    <a:pt x="5330520" y="1827352"/>
                  </a:lnTo>
                </a:path>
                <a:path w="7090409" h="1881504">
                  <a:moveTo>
                    <a:pt x="7089838" y="1881352"/>
                  </a:moveTo>
                  <a:lnTo>
                    <a:pt x="7089838" y="1827352"/>
                  </a:lnTo>
                </a:path>
                <a:path w="7090409" h="1881504">
                  <a:moveTo>
                    <a:pt x="54000" y="1827352"/>
                  </a:moveTo>
                  <a:lnTo>
                    <a:pt x="7089838" y="1827352"/>
                  </a:lnTo>
                </a:path>
                <a:path w="7090409" h="1881504">
                  <a:moveTo>
                    <a:pt x="0" y="1827352"/>
                  </a:moveTo>
                  <a:lnTo>
                    <a:pt x="54000" y="1827352"/>
                  </a:lnTo>
                </a:path>
                <a:path w="7090409" h="1881504">
                  <a:moveTo>
                    <a:pt x="0" y="1494713"/>
                  </a:moveTo>
                  <a:lnTo>
                    <a:pt x="54000" y="1494713"/>
                  </a:lnTo>
                </a:path>
                <a:path w="7090409" h="1881504">
                  <a:moveTo>
                    <a:pt x="0" y="1162430"/>
                  </a:moveTo>
                  <a:lnTo>
                    <a:pt x="54000" y="1162430"/>
                  </a:lnTo>
                </a:path>
                <a:path w="7090409" h="1881504">
                  <a:moveTo>
                    <a:pt x="0" y="830516"/>
                  </a:moveTo>
                  <a:lnTo>
                    <a:pt x="54000" y="830516"/>
                  </a:lnTo>
                </a:path>
                <a:path w="7090409" h="1881504">
                  <a:moveTo>
                    <a:pt x="0" y="498233"/>
                  </a:moveTo>
                  <a:lnTo>
                    <a:pt x="54000" y="498233"/>
                  </a:lnTo>
                </a:path>
                <a:path w="7090409" h="1881504">
                  <a:moveTo>
                    <a:pt x="0" y="165950"/>
                  </a:moveTo>
                  <a:lnTo>
                    <a:pt x="54000" y="165950"/>
                  </a:lnTo>
                </a:path>
                <a:path w="7090409" h="1881504">
                  <a:moveTo>
                    <a:pt x="54000" y="1827352"/>
                  </a:moveTo>
                  <a:lnTo>
                    <a:pt x="54000" y="0"/>
                  </a:lnTo>
                </a:path>
              </a:pathLst>
            </a:custGeom>
            <a:ln w="12599">
              <a:solidFill>
                <a:srgbClr val="87878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544764" y="1836726"/>
              <a:ext cx="5765800" cy="1626870"/>
            </a:xfrm>
            <a:custGeom>
              <a:avLst/>
              <a:gdLst/>
              <a:ahLst/>
              <a:cxnLst/>
              <a:rect l="l" t="t" r="r" b="b"/>
              <a:pathLst>
                <a:path w="5765800" h="1626870">
                  <a:moveTo>
                    <a:pt x="488518" y="79552"/>
                  </a:moveTo>
                  <a:lnTo>
                    <a:pt x="0" y="79552"/>
                  </a:lnTo>
                  <a:lnTo>
                    <a:pt x="0" y="1626831"/>
                  </a:lnTo>
                  <a:lnTo>
                    <a:pt x="488518" y="1626831"/>
                  </a:lnTo>
                  <a:lnTo>
                    <a:pt x="488518" y="79552"/>
                  </a:lnTo>
                  <a:close/>
                </a:path>
                <a:path w="5765800" h="1626870">
                  <a:moveTo>
                    <a:pt x="2247481" y="249834"/>
                  </a:moveTo>
                  <a:lnTo>
                    <a:pt x="1758950" y="249834"/>
                  </a:lnTo>
                  <a:lnTo>
                    <a:pt x="1758950" y="1626831"/>
                  </a:lnTo>
                  <a:lnTo>
                    <a:pt x="2247481" y="1626831"/>
                  </a:lnTo>
                  <a:lnTo>
                    <a:pt x="2247481" y="249834"/>
                  </a:lnTo>
                  <a:close/>
                </a:path>
                <a:path w="5765800" h="1626870">
                  <a:moveTo>
                    <a:pt x="4006075" y="147231"/>
                  </a:moveTo>
                  <a:lnTo>
                    <a:pt x="3517557" y="147231"/>
                  </a:lnTo>
                  <a:lnTo>
                    <a:pt x="3517557" y="1626831"/>
                  </a:lnTo>
                  <a:lnTo>
                    <a:pt x="4006075" y="1626831"/>
                  </a:lnTo>
                  <a:lnTo>
                    <a:pt x="4006075" y="147231"/>
                  </a:lnTo>
                  <a:close/>
                </a:path>
                <a:path w="5765800" h="1626870">
                  <a:moveTo>
                    <a:pt x="5765393" y="0"/>
                  </a:moveTo>
                  <a:lnTo>
                    <a:pt x="5276520" y="0"/>
                  </a:lnTo>
                  <a:lnTo>
                    <a:pt x="5276520" y="1626831"/>
                  </a:lnTo>
                  <a:lnTo>
                    <a:pt x="5765393" y="1626831"/>
                  </a:lnTo>
                  <a:lnTo>
                    <a:pt x="5765393" y="0"/>
                  </a:lnTo>
                  <a:close/>
                </a:path>
              </a:pathLst>
            </a:custGeom>
            <a:solidFill>
              <a:srgbClr val="2CD3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033282" y="1828458"/>
              <a:ext cx="5765800" cy="1635125"/>
            </a:xfrm>
            <a:custGeom>
              <a:avLst/>
              <a:gdLst/>
              <a:ahLst/>
              <a:cxnLst/>
              <a:rect l="l" t="t" r="r" b="b"/>
              <a:pathLst>
                <a:path w="5765800" h="1635125">
                  <a:moveTo>
                    <a:pt x="488518" y="91427"/>
                  </a:moveTo>
                  <a:lnTo>
                    <a:pt x="0" y="91427"/>
                  </a:lnTo>
                  <a:lnTo>
                    <a:pt x="0" y="1635099"/>
                  </a:lnTo>
                  <a:lnTo>
                    <a:pt x="488518" y="1635099"/>
                  </a:lnTo>
                  <a:lnTo>
                    <a:pt x="488518" y="91427"/>
                  </a:lnTo>
                  <a:close/>
                </a:path>
                <a:path w="5765800" h="1635125">
                  <a:moveTo>
                    <a:pt x="2247836" y="260616"/>
                  </a:moveTo>
                  <a:lnTo>
                    <a:pt x="1758962" y="260616"/>
                  </a:lnTo>
                  <a:lnTo>
                    <a:pt x="1758962" y="1635099"/>
                  </a:lnTo>
                  <a:lnTo>
                    <a:pt x="2247836" y="1635099"/>
                  </a:lnTo>
                  <a:lnTo>
                    <a:pt x="2247836" y="260616"/>
                  </a:lnTo>
                  <a:close/>
                </a:path>
                <a:path w="5765800" h="1635125">
                  <a:moveTo>
                    <a:pt x="4006443" y="150456"/>
                  </a:moveTo>
                  <a:lnTo>
                    <a:pt x="3517557" y="150456"/>
                  </a:lnTo>
                  <a:lnTo>
                    <a:pt x="3517557" y="1635099"/>
                  </a:lnTo>
                  <a:lnTo>
                    <a:pt x="4006443" y="1635099"/>
                  </a:lnTo>
                  <a:lnTo>
                    <a:pt x="4006443" y="150456"/>
                  </a:lnTo>
                  <a:close/>
                </a:path>
                <a:path w="5765800" h="1635125">
                  <a:moveTo>
                    <a:pt x="5765393" y="0"/>
                  </a:moveTo>
                  <a:lnTo>
                    <a:pt x="5276875" y="0"/>
                  </a:lnTo>
                  <a:lnTo>
                    <a:pt x="5276875" y="1635099"/>
                  </a:lnTo>
                  <a:lnTo>
                    <a:pt x="5765393" y="1635099"/>
                  </a:lnTo>
                  <a:lnTo>
                    <a:pt x="5765393" y="0"/>
                  </a:lnTo>
                  <a:close/>
                </a:path>
              </a:pathLst>
            </a:custGeom>
            <a:solidFill>
              <a:srgbClr val="37BC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521801" y="1836371"/>
              <a:ext cx="5765800" cy="1627505"/>
            </a:xfrm>
            <a:custGeom>
              <a:avLst/>
              <a:gdLst/>
              <a:ahLst/>
              <a:cxnLst/>
              <a:rect l="l" t="t" r="r" b="b"/>
              <a:pathLst>
                <a:path w="5765800" h="1627504">
                  <a:moveTo>
                    <a:pt x="488873" y="79908"/>
                  </a:moveTo>
                  <a:lnTo>
                    <a:pt x="0" y="79908"/>
                  </a:lnTo>
                  <a:lnTo>
                    <a:pt x="0" y="1627187"/>
                  </a:lnTo>
                  <a:lnTo>
                    <a:pt x="488873" y="1627187"/>
                  </a:lnTo>
                  <a:lnTo>
                    <a:pt x="488873" y="79908"/>
                  </a:lnTo>
                  <a:close/>
                </a:path>
                <a:path w="5765800" h="1627504">
                  <a:moveTo>
                    <a:pt x="2247481" y="254152"/>
                  </a:moveTo>
                  <a:lnTo>
                    <a:pt x="1759318" y="254152"/>
                  </a:lnTo>
                  <a:lnTo>
                    <a:pt x="1759318" y="1627187"/>
                  </a:lnTo>
                  <a:lnTo>
                    <a:pt x="2247481" y="1627187"/>
                  </a:lnTo>
                  <a:lnTo>
                    <a:pt x="2247481" y="254152"/>
                  </a:lnTo>
                  <a:close/>
                </a:path>
                <a:path w="5765800" h="1627504">
                  <a:moveTo>
                    <a:pt x="4006431" y="148310"/>
                  </a:moveTo>
                  <a:lnTo>
                    <a:pt x="3517925" y="148310"/>
                  </a:lnTo>
                  <a:lnTo>
                    <a:pt x="3517925" y="1627187"/>
                  </a:lnTo>
                  <a:lnTo>
                    <a:pt x="4006431" y="1627187"/>
                  </a:lnTo>
                  <a:lnTo>
                    <a:pt x="4006431" y="148310"/>
                  </a:lnTo>
                  <a:close/>
                </a:path>
                <a:path w="5765800" h="1627504">
                  <a:moveTo>
                    <a:pt x="5765393" y="0"/>
                  </a:moveTo>
                  <a:lnTo>
                    <a:pt x="5276875" y="0"/>
                  </a:lnTo>
                  <a:lnTo>
                    <a:pt x="5276875" y="1627187"/>
                  </a:lnTo>
                  <a:lnTo>
                    <a:pt x="5765393" y="1627187"/>
                  </a:lnTo>
                  <a:lnTo>
                    <a:pt x="5765393" y="0"/>
                  </a:lnTo>
                  <a:close/>
                </a:path>
              </a:pathLst>
            </a:custGeom>
            <a:solidFill>
              <a:srgbClr val="F4B84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3363595" y="1285305"/>
            <a:ext cx="24098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Reported metrics</a:t>
            </a:r>
            <a:r>
              <a:rPr dirty="0" sz="1400" spc="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dirty="0" sz="1400" spc="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method</a:t>
            </a:r>
            <a:r>
              <a:rPr dirty="0" sz="140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(%)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914832" y="1632663"/>
            <a:ext cx="30924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FFFFFF"/>
                </a:solidFill>
                <a:latin typeface="Calibri"/>
                <a:cs typeface="Calibri"/>
              </a:rPr>
              <a:t>97.93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403325" y="1624382"/>
            <a:ext cx="30924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FFFFFF"/>
                </a:solidFill>
                <a:latin typeface="Calibri"/>
                <a:cs typeface="Calibri"/>
              </a:rPr>
              <a:t>98.42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892186" y="1632307"/>
            <a:ext cx="30924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FFFFFF"/>
                </a:solidFill>
                <a:latin typeface="Calibri"/>
                <a:cs typeface="Calibri"/>
              </a:rPr>
              <a:t>97.94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14412" y="1705370"/>
            <a:ext cx="21399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solidFill>
                  <a:srgbClr val="A8B9CF"/>
                </a:solidFill>
                <a:latin typeface="Calibri"/>
                <a:cs typeface="Calibri"/>
              </a:rPr>
              <a:t>100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37830" y="1712216"/>
            <a:ext cx="30924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FFFFFF"/>
                </a:solidFill>
                <a:latin typeface="Calibri"/>
                <a:cs typeface="Calibri"/>
              </a:rPr>
              <a:t>93.13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126678" y="1715809"/>
            <a:ext cx="79756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1015" algn="l"/>
              </a:tabLst>
            </a:pPr>
            <a:r>
              <a:rPr dirty="0" sz="1000" spc="-10">
                <a:solidFill>
                  <a:srgbClr val="FFFFFF"/>
                </a:solidFill>
                <a:latin typeface="Calibri"/>
                <a:cs typeface="Calibri"/>
              </a:rPr>
              <a:t>92.91</a:t>
            </a:r>
            <a:r>
              <a:rPr dirty="0" sz="10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baseline="2777" sz="1500" spc="-15">
                <a:solidFill>
                  <a:srgbClr val="FFFFFF"/>
                </a:solidFill>
                <a:latin typeface="Calibri"/>
                <a:cs typeface="Calibri"/>
              </a:rPr>
              <a:t>93.13</a:t>
            </a:r>
            <a:endParaRPr baseline="2777" sz="15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155946" y="1779881"/>
            <a:ext cx="30924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FFFFFF"/>
                </a:solidFill>
                <a:latin typeface="Calibri"/>
                <a:cs typeface="Calibri"/>
              </a:rPr>
              <a:t>89.06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644451" y="1774852"/>
            <a:ext cx="30924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FFFFFF"/>
                </a:solidFill>
                <a:latin typeface="Calibri"/>
                <a:cs typeface="Calibri"/>
              </a:rPr>
              <a:t>89.37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132944" y="1780605"/>
            <a:ext cx="30924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FFFFFF"/>
                </a:solidFill>
                <a:latin typeface="Calibri"/>
                <a:cs typeface="Calibri"/>
              </a:rPr>
              <a:t>89.02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397072" y="1886434"/>
            <a:ext cx="128587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1015" algn="l"/>
                <a:tab pos="989330" algn="l"/>
              </a:tabLst>
            </a:pPr>
            <a:r>
              <a:rPr dirty="0" baseline="2777" sz="1500" spc="-15">
                <a:solidFill>
                  <a:srgbClr val="FFFFFF"/>
                </a:solidFill>
                <a:latin typeface="Calibri"/>
                <a:cs typeface="Calibri"/>
              </a:rPr>
              <a:t>82.89</a:t>
            </a:r>
            <a:r>
              <a:rPr dirty="0" baseline="2777" sz="15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000" spc="-10">
                <a:solidFill>
                  <a:srgbClr val="FFFFFF"/>
                </a:solidFill>
                <a:latin typeface="Calibri"/>
                <a:cs typeface="Calibri"/>
              </a:rPr>
              <a:t>82.73</a:t>
            </a:r>
            <a:r>
              <a:rPr dirty="0" sz="10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000" spc="-20">
                <a:solidFill>
                  <a:srgbClr val="FFFFFF"/>
                </a:solidFill>
                <a:latin typeface="Calibri"/>
                <a:cs typeface="Calibri"/>
              </a:rPr>
              <a:t>82.65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40247" y="2344424"/>
            <a:ext cx="196215" cy="687070"/>
          </a:xfrm>
          <a:prstGeom prst="rect">
            <a:avLst/>
          </a:prstGeom>
        </p:spPr>
        <p:txBody>
          <a:bodyPr wrap="square" lIns="0" tIns="571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1100">
                <a:solidFill>
                  <a:srgbClr val="A8B9CF"/>
                </a:solidFill>
                <a:latin typeface="Calibri"/>
                <a:cs typeface="Calibri"/>
              </a:rPr>
              <a:t>Percent</a:t>
            </a:r>
            <a:r>
              <a:rPr dirty="0" sz="1100" spc="20">
                <a:solidFill>
                  <a:srgbClr val="A8B9CF"/>
                </a:solidFill>
                <a:latin typeface="Calibri"/>
                <a:cs typeface="Calibri"/>
              </a:rPr>
              <a:t> </a:t>
            </a:r>
            <a:r>
              <a:rPr dirty="0" sz="1100" spc="-25">
                <a:solidFill>
                  <a:srgbClr val="A8B9CF"/>
                </a:solidFill>
                <a:latin typeface="Calibri"/>
                <a:cs typeface="Calibri"/>
              </a:rPr>
              <a:t>(%)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71651" y="2037615"/>
            <a:ext cx="156845" cy="15074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solidFill>
                  <a:srgbClr val="A8B9CF"/>
                </a:solidFill>
                <a:latin typeface="Calibri"/>
                <a:cs typeface="Calibri"/>
              </a:rPr>
              <a:t>80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000" spc="-25">
                <a:solidFill>
                  <a:srgbClr val="A8B9CF"/>
                </a:solidFill>
                <a:latin typeface="Calibri"/>
                <a:cs typeface="Calibri"/>
              </a:rPr>
              <a:t>60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000" spc="-25">
                <a:solidFill>
                  <a:srgbClr val="A8B9CF"/>
                </a:solidFill>
                <a:latin typeface="Calibri"/>
                <a:cs typeface="Calibri"/>
              </a:rPr>
              <a:t>40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000" spc="-25">
                <a:solidFill>
                  <a:srgbClr val="A8B9CF"/>
                </a:solidFill>
                <a:latin typeface="Calibri"/>
                <a:cs typeface="Calibri"/>
              </a:rPr>
              <a:t>20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000">
              <a:latin typeface="Calibri"/>
              <a:cs typeface="Calibri"/>
            </a:endParaRPr>
          </a:p>
          <a:p>
            <a:pPr marL="78740">
              <a:lnSpc>
                <a:spcPct val="100000"/>
              </a:lnSpc>
              <a:spcBef>
                <a:spcPts val="5"/>
              </a:spcBef>
            </a:pPr>
            <a:r>
              <a:rPr dirty="0" sz="1000" spc="-50">
                <a:solidFill>
                  <a:srgbClr val="A8B9CF"/>
                </a:solidFill>
                <a:latin typeface="Calibri"/>
                <a:cs typeface="Calibri"/>
              </a:rPr>
              <a:t>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64906" y="3531440"/>
            <a:ext cx="1026160" cy="2082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Centralized</a:t>
            </a:r>
            <a:r>
              <a:rPr dirty="0" sz="12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FFFFFF"/>
                </a:solidFill>
                <a:latin typeface="Calibri"/>
                <a:cs typeface="Calibri"/>
              </a:rPr>
              <a:t>MLP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99890" y="3531440"/>
            <a:ext cx="477520" cy="2082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FedAvg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568124" y="3531440"/>
            <a:ext cx="449580" cy="2082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FedPer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336726" y="3531440"/>
            <a:ext cx="429259" cy="2082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Hybrid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2688475" y="3941637"/>
            <a:ext cx="2710815" cy="91440"/>
            <a:chOff x="2688475" y="3941637"/>
            <a:chExt cx="2710815" cy="91440"/>
          </a:xfrm>
        </p:grpSpPr>
        <p:sp>
          <p:nvSpPr>
            <p:cNvPr id="30" name="object 30"/>
            <p:cNvSpPr/>
            <p:nvPr/>
          </p:nvSpPr>
          <p:spPr>
            <a:xfrm>
              <a:off x="2688475" y="3941637"/>
              <a:ext cx="91440" cy="91440"/>
            </a:xfrm>
            <a:custGeom>
              <a:avLst/>
              <a:gdLst/>
              <a:ahLst/>
              <a:cxnLst/>
              <a:rect l="l" t="t" r="r" b="b"/>
              <a:pathLst>
                <a:path w="91439" h="91439">
                  <a:moveTo>
                    <a:pt x="91439" y="0"/>
                  </a:moveTo>
                  <a:lnTo>
                    <a:pt x="0" y="0"/>
                  </a:lnTo>
                  <a:lnTo>
                    <a:pt x="0" y="91440"/>
                  </a:lnTo>
                  <a:lnTo>
                    <a:pt x="45719" y="91440"/>
                  </a:lnTo>
                  <a:lnTo>
                    <a:pt x="91439" y="91440"/>
                  </a:lnTo>
                  <a:lnTo>
                    <a:pt x="91439" y="0"/>
                  </a:lnTo>
                  <a:close/>
                </a:path>
              </a:pathLst>
            </a:custGeom>
            <a:solidFill>
              <a:srgbClr val="2CD3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3707637" y="3941637"/>
              <a:ext cx="91440" cy="91440"/>
            </a:xfrm>
            <a:custGeom>
              <a:avLst/>
              <a:gdLst/>
              <a:ahLst/>
              <a:cxnLst/>
              <a:rect l="l" t="t" r="r" b="b"/>
              <a:pathLst>
                <a:path w="91439" h="91439">
                  <a:moveTo>
                    <a:pt x="91439" y="0"/>
                  </a:moveTo>
                  <a:lnTo>
                    <a:pt x="0" y="0"/>
                  </a:lnTo>
                  <a:lnTo>
                    <a:pt x="0" y="91440"/>
                  </a:lnTo>
                  <a:lnTo>
                    <a:pt x="45720" y="91440"/>
                  </a:lnTo>
                  <a:lnTo>
                    <a:pt x="91439" y="91440"/>
                  </a:lnTo>
                  <a:lnTo>
                    <a:pt x="91439" y="0"/>
                  </a:lnTo>
                  <a:close/>
                </a:path>
              </a:pathLst>
            </a:custGeom>
            <a:solidFill>
              <a:srgbClr val="37BC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5307482" y="3941637"/>
              <a:ext cx="91440" cy="91440"/>
            </a:xfrm>
            <a:custGeom>
              <a:avLst/>
              <a:gdLst/>
              <a:ahLst/>
              <a:cxnLst/>
              <a:rect l="l" t="t" r="r" b="b"/>
              <a:pathLst>
                <a:path w="91439" h="91439">
                  <a:moveTo>
                    <a:pt x="91440" y="0"/>
                  </a:moveTo>
                  <a:lnTo>
                    <a:pt x="0" y="0"/>
                  </a:lnTo>
                  <a:lnTo>
                    <a:pt x="0" y="91440"/>
                  </a:lnTo>
                  <a:lnTo>
                    <a:pt x="45720" y="91440"/>
                  </a:lnTo>
                  <a:lnTo>
                    <a:pt x="91440" y="91440"/>
                  </a:lnTo>
                  <a:lnTo>
                    <a:pt x="91440" y="0"/>
                  </a:lnTo>
                  <a:close/>
                </a:path>
              </a:pathLst>
            </a:custGeom>
            <a:solidFill>
              <a:srgbClr val="F4B84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444144" y="3874467"/>
            <a:ext cx="7834630" cy="7899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371090">
              <a:lnSpc>
                <a:spcPct val="100000"/>
              </a:lnSpc>
              <a:spcBef>
                <a:spcPts val="95"/>
              </a:spcBef>
              <a:tabLst>
                <a:tab pos="3390265" algn="l"/>
                <a:tab pos="4990465" algn="l"/>
              </a:tabLst>
            </a:pP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Accuracy</a:t>
            </a:r>
            <a:r>
              <a:rPr dirty="0" sz="1200" spc="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FFFFFF"/>
                </a:solidFill>
                <a:latin typeface="Calibri"/>
                <a:cs typeface="Calibri"/>
              </a:rPr>
              <a:t>(%)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Balanced</a:t>
            </a:r>
            <a:r>
              <a:rPr dirty="0" sz="12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accuracy</a:t>
            </a:r>
            <a:r>
              <a:rPr dirty="0" sz="12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FFFFFF"/>
                </a:solidFill>
                <a:latin typeface="Calibri"/>
                <a:cs typeface="Calibri"/>
              </a:rPr>
              <a:t>(%)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	Weighted</a:t>
            </a:r>
            <a:r>
              <a:rPr dirty="0" sz="12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F1</a:t>
            </a:r>
            <a:r>
              <a:rPr dirty="0" sz="1200" spc="-25">
                <a:solidFill>
                  <a:srgbClr val="FFFFFF"/>
                </a:solidFill>
                <a:latin typeface="Calibri"/>
                <a:cs typeface="Calibri"/>
              </a:rPr>
              <a:t> (%)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1455"/>
              </a:spcBef>
            </a:pP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Hybrid</a:t>
            </a:r>
            <a:r>
              <a:rPr dirty="0" sz="1300" spc="-4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was</a:t>
            </a:r>
            <a:r>
              <a:rPr dirty="0" sz="1300" spc="-4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DBE6F2"/>
                </a:solidFill>
                <a:latin typeface="Calibri"/>
                <a:cs typeface="Calibri"/>
              </a:rPr>
              <a:t>evaluated</a:t>
            </a:r>
            <a:r>
              <a:rPr dirty="0" sz="1300" spc="-4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on</a:t>
            </a:r>
            <a:r>
              <a:rPr dirty="0" sz="1300" spc="-4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2,998</a:t>
            </a:r>
            <a:r>
              <a:rPr dirty="0" sz="1300" spc="-4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DBE6F2"/>
                </a:solidFill>
                <a:latin typeface="Calibri"/>
                <a:cs typeface="Calibri"/>
              </a:rPr>
              <a:t>test</a:t>
            </a:r>
            <a:r>
              <a:rPr dirty="0" sz="1300" spc="-4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rows.</a:t>
            </a:r>
            <a:r>
              <a:rPr dirty="0" sz="1300" spc="-4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All</a:t>
            </a:r>
            <a:r>
              <a:rPr dirty="0" sz="1300" spc="-2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metrics</a:t>
            </a:r>
            <a:r>
              <a:rPr dirty="0" sz="1300" spc="-3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DBE6F2"/>
                </a:solidFill>
                <a:latin typeface="Calibri"/>
                <a:cs typeface="Calibri"/>
              </a:rPr>
              <a:t>measure</a:t>
            </a:r>
            <a:r>
              <a:rPr dirty="0" sz="1300" spc="-4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DBE6F2"/>
                </a:solidFill>
                <a:latin typeface="Calibri"/>
                <a:cs typeface="Calibri"/>
              </a:rPr>
              <a:t>agreement</a:t>
            </a:r>
            <a:r>
              <a:rPr dirty="0" sz="1300" spc="-3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with</a:t>
            </a:r>
            <a:r>
              <a:rPr dirty="0" sz="1300" spc="-4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DBE6F2"/>
                </a:solidFill>
                <a:latin typeface="Calibri"/>
                <a:cs typeface="Calibri"/>
              </a:rPr>
              <a:t>RSSI-</a:t>
            </a:r>
            <a:r>
              <a:rPr dirty="0" sz="1300" spc="-10">
                <a:solidFill>
                  <a:srgbClr val="DBE6F2"/>
                </a:solidFill>
                <a:latin typeface="Calibri"/>
                <a:cs typeface="Calibri"/>
              </a:rPr>
              <a:t>threshold</a:t>
            </a:r>
            <a:r>
              <a:rPr dirty="0" sz="1300" spc="-4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labels,</a:t>
            </a:r>
            <a:r>
              <a:rPr dirty="0" sz="1300" spc="-4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not</a:t>
            </a:r>
            <a:r>
              <a:rPr dirty="0" sz="1300" spc="-5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real</a:t>
            </a:r>
            <a:r>
              <a:rPr dirty="0" sz="1300" spc="-4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DBE6F2"/>
                </a:solidFill>
                <a:latin typeface="Calibri"/>
                <a:cs typeface="Calibri"/>
              </a:rPr>
              <a:t>internet speed.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KLH</a:t>
            </a:r>
            <a:r>
              <a:rPr dirty="0" spc="-35"/>
              <a:t> </a:t>
            </a:r>
            <a:r>
              <a:rPr dirty="0"/>
              <a:t>University</a:t>
            </a:r>
            <a:r>
              <a:rPr dirty="0" spc="175"/>
              <a:t> </a:t>
            </a:r>
            <a:r>
              <a:rPr dirty="0"/>
              <a:t>|</a:t>
            </a:r>
            <a:r>
              <a:rPr dirty="0" spc="175"/>
              <a:t> </a:t>
            </a:r>
            <a:r>
              <a:rPr dirty="0"/>
              <a:t>Dept.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ECE</a:t>
            </a:r>
            <a:r>
              <a:rPr dirty="0" spc="170"/>
              <a:t> </a:t>
            </a:r>
            <a:r>
              <a:rPr dirty="0"/>
              <a:t>|</a:t>
            </a:r>
            <a:r>
              <a:rPr dirty="0" spc="175"/>
              <a:t> </a:t>
            </a:r>
            <a:r>
              <a:rPr dirty="0"/>
              <a:t>Machine</a:t>
            </a:r>
            <a:r>
              <a:rPr dirty="0" spc="-25"/>
              <a:t> </a:t>
            </a:r>
            <a:r>
              <a:rPr dirty="0"/>
              <a:t>Learning</a:t>
            </a:r>
            <a:r>
              <a:rPr dirty="0" spc="-25"/>
              <a:t> </a:t>
            </a:r>
            <a:r>
              <a:rPr dirty="0" spc="-10"/>
              <a:t>(25SC2107E)</a:t>
            </a:r>
          </a:p>
        </p:txBody>
      </p:sp>
      <p:sp>
        <p:nvSpPr>
          <p:cNvPr id="35" name="object 3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 spc="-25"/>
              <a:t>12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749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Hybrid</a:t>
            </a:r>
            <a:r>
              <a:rPr dirty="0" spc="-65"/>
              <a:t> </a:t>
            </a:r>
            <a:r>
              <a:rPr dirty="0" spc="-10"/>
              <a:t>Prediction</a:t>
            </a:r>
            <a:r>
              <a:rPr dirty="0" spc="-75"/>
              <a:t> </a:t>
            </a:r>
            <a:r>
              <a:rPr dirty="0" spc="-10"/>
              <a:t>Logic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2081" y="1275043"/>
            <a:ext cx="2112645" cy="1106805"/>
            <a:chOff x="452081" y="1275043"/>
            <a:chExt cx="2112645" cy="1106805"/>
          </a:xfrm>
        </p:grpSpPr>
        <p:sp>
          <p:nvSpPr>
            <p:cNvPr id="4" name="object 4"/>
            <p:cNvSpPr/>
            <p:nvPr/>
          </p:nvSpPr>
          <p:spPr>
            <a:xfrm>
              <a:off x="456844" y="1279806"/>
              <a:ext cx="2103120" cy="1097280"/>
            </a:xfrm>
            <a:custGeom>
              <a:avLst/>
              <a:gdLst/>
              <a:ahLst/>
              <a:cxnLst/>
              <a:rect l="l" t="t" r="r" b="b"/>
              <a:pathLst>
                <a:path w="2103120" h="1097280">
                  <a:moveTo>
                    <a:pt x="202967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1024191"/>
                  </a:lnTo>
                  <a:lnTo>
                    <a:pt x="15091" y="1068569"/>
                  </a:lnTo>
                  <a:lnTo>
                    <a:pt x="54041" y="1094849"/>
                  </a:lnTo>
                  <a:lnTo>
                    <a:pt x="73075" y="1097280"/>
                  </a:lnTo>
                  <a:lnTo>
                    <a:pt x="2030031" y="1096911"/>
                  </a:lnTo>
                  <a:lnTo>
                    <a:pt x="2074409" y="1081820"/>
                  </a:lnTo>
                  <a:lnTo>
                    <a:pt x="2100629" y="1043047"/>
                  </a:lnTo>
                  <a:lnTo>
                    <a:pt x="2103120" y="1023835"/>
                  </a:lnTo>
                  <a:lnTo>
                    <a:pt x="2102751" y="73075"/>
                  </a:lnTo>
                  <a:lnTo>
                    <a:pt x="2087660" y="28698"/>
                  </a:lnTo>
                  <a:lnTo>
                    <a:pt x="2048710" y="2428"/>
                  </a:lnTo>
                  <a:lnTo>
                    <a:pt x="2029675" y="0"/>
                  </a:lnTo>
                  <a:close/>
                </a:path>
              </a:pathLst>
            </a:custGeom>
            <a:solidFill>
              <a:srgbClr val="1127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456844" y="1279806"/>
              <a:ext cx="2103120" cy="1097280"/>
            </a:xfrm>
            <a:custGeom>
              <a:avLst/>
              <a:gdLst/>
              <a:ahLst/>
              <a:cxnLst/>
              <a:rect l="l" t="t" r="r" b="b"/>
              <a:pathLst>
                <a:path w="2103120" h="1097280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2029675" y="0"/>
                  </a:lnTo>
                  <a:lnTo>
                    <a:pt x="2074203" y="15096"/>
                  </a:lnTo>
                  <a:lnTo>
                    <a:pt x="2100322" y="54219"/>
                  </a:lnTo>
                  <a:lnTo>
                    <a:pt x="2102751" y="73075"/>
                  </a:lnTo>
                  <a:lnTo>
                    <a:pt x="2103120" y="1023835"/>
                  </a:lnTo>
                  <a:lnTo>
                    <a:pt x="2102512" y="1033469"/>
                  </a:lnTo>
                  <a:lnTo>
                    <a:pt x="2100689" y="1042870"/>
                  </a:lnTo>
                  <a:lnTo>
                    <a:pt x="2074409" y="1081820"/>
                  </a:lnTo>
                  <a:lnTo>
                    <a:pt x="2030031" y="1096911"/>
                  </a:lnTo>
                  <a:lnTo>
                    <a:pt x="73075" y="1097280"/>
                  </a:lnTo>
                  <a:lnTo>
                    <a:pt x="28548" y="1082170"/>
                  </a:lnTo>
                  <a:lnTo>
                    <a:pt x="2428" y="1043047"/>
                  </a:lnTo>
                  <a:lnTo>
                    <a:pt x="0" y="1024191"/>
                  </a:lnTo>
                  <a:lnTo>
                    <a:pt x="0" y="73075"/>
                  </a:lnTo>
                  <a:close/>
                </a:path>
              </a:pathLst>
            </a:custGeom>
            <a:ln w="9359">
              <a:solidFill>
                <a:srgbClr val="2345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581304" y="1510463"/>
            <a:ext cx="1617980" cy="635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New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 Wi-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Fi</a:t>
            </a:r>
            <a:r>
              <a:rPr dirty="0" sz="14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fingerprint 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max</a:t>
            </a:r>
            <a:r>
              <a:rPr dirty="0" sz="1300" spc="-5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RSSI</a:t>
            </a:r>
            <a:r>
              <a:rPr dirty="0" sz="1300" spc="-4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and</a:t>
            </a:r>
            <a:r>
              <a:rPr dirty="0" sz="1300" spc="-5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DBE6F2"/>
                </a:solidFill>
                <a:latin typeface="Calibri"/>
                <a:cs typeface="Calibri"/>
              </a:rPr>
              <a:t>client (PHONEID)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547302" y="1132803"/>
            <a:ext cx="3131820" cy="1391285"/>
            <a:chOff x="2547302" y="1132803"/>
            <a:chExt cx="3131820" cy="1391285"/>
          </a:xfrm>
        </p:grpSpPr>
        <p:sp>
          <p:nvSpPr>
            <p:cNvPr id="12" name="object 12"/>
            <p:cNvSpPr/>
            <p:nvPr/>
          </p:nvSpPr>
          <p:spPr>
            <a:xfrm>
              <a:off x="2560319" y="1828802"/>
              <a:ext cx="477520" cy="635"/>
            </a:xfrm>
            <a:custGeom>
              <a:avLst/>
              <a:gdLst/>
              <a:ahLst/>
              <a:cxnLst/>
              <a:rect l="l" t="t" r="r" b="b"/>
              <a:pathLst>
                <a:path w="477519" h="635">
                  <a:moveTo>
                    <a:pt x="0" y="0"/>
                  </a:moveTo>
                  <a:lnTo>
                    <a:pt x="476999" y="355"/>
                  </a:lnTo>
                </a:path>
              </a:pathLst>
            </a:custGeom>
            <a:ln w="25559">
              <a:solidFill>
                <a:srgbClr val="2CD3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032277" y="1790638"/>
              <a:ext cx="76835" cy="76835"/>
            </a:xfrm>
            <a:custGeom>
              <a:avLst/>
              <a:gdLst/>
              <a:ahLst/>
              <a:cxnLst/>
              <a:rect l="l" t="t" r="r" b="b"/>
              <a:pathLst>
                <a:path w="76835" h="76835">
                  <a:moveTo>
                    <a:pt x="0" y="0"/>
                  </a:moveTo>
                  <a:lnTo>
                    <a:pt x="0" y="76682"/>
                  </a:lnTo>
                  <a:lnTo>
                    <a:pt x="76682" y="385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D3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108604" y="1142646"/>
              <a:ext cx="2560320" cy="1371600"/>
            </a:xfrm>
            <a:custGeom>
              <a:avLst/>
              <a:gdLst/>
              <a:ahLst/>
              <a:cxnLst/>
              <a:rect l="l" t="t" r="r" b="b"/>
              <a:pathLst>
                <a:path w="2560320" h="1371600">
                  <a:moveTo>
                    <a:pt x="248687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1298511"/>
                  </a:lnTo>
                  <a:lnTo>
                    <a:pt x="594" y="1307789"/>
                  </a:lnTo>
                  <a:lnTo>
                    <a:pt x="607" y="1307989"/>
                  </a:lnTo>
                  <a:lnTo>
                    <a:pt x="2394" y="1317190"/>
                  </a:lnTo>
                  <a:lnTo>
                    <a:pt x="2428" y="1317367"/>
                  </a:lnTo>
                  <a:lnTo>
                    <a:pt x="5412" y="1326252"/>
                  </a:lnTo>
                  <a:lnTo>
                    <a:pt x="36360" y="1361871"/>
                  </a:lnTo>
                  <a:lnTo>
                    <a:pt x="73075" y="1371599"/>
                  </a:lnTo>
                  <a:lnTo>
                    <a:pt x="2487231" y="1371231"/>
                  </a:lnTo>
                  <a:lnTo>
                    <a:pt x="2531609" y="1356140"/>
                  </a:lnTo>
                  <a:lnTo>
                    <a:pt x="2557829" y="1317367"/>
                  </a:lnTo>
                  <a:lnTo>
                    <a:pt x="2559673" y="1307989"/>
                  </a:lnTo>
                  <a:lnTo>
                    <a:pt x="2559712" y="1307789"/>
                  </a:lnTo>
                  <a:lnTo>
                    <a:pt x="2560297" y="1298511"/>
                  </a:lnTo>
                  <a:lnTo>
                    <a:pt x="2560320" y="1298155"/>
                  </a:lnTo>
                  <a:lnTo>
                    <a:pt x="2559951" y="73075"/>
                  </a:lnTo>
                  <a:lnTo>
                    <a:pt x="2544860" y="28698"/>
                  </a:lnTo>
                  <a:lnTo>
                    <a:pt x="2505910" y="2428"/>
                  </a:lnTo>
                  <a:lnTo>
                    <a:pt x="2496509" y="607"/>
                  </a:lnTo>
                  <a:lnTo>
                    <a:pt x="2486875" y="0"/>
                  </a:lnTo>
                  <a:close/>
                </a:path>
              </a:pathLst>
            </a:custGeom>
            <a:solidFill>
              <a:srgbClr val="1127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108604" y="1142646"/>
              <a:ext cx="2560320" cy="1371600"/>
            </a:xfrm>
            <a:custGeom>
              <a:avLst/>
              <a:gdLst/>
              <a:ahLst/>
              <a:cxnLst/>
              <a:rect l="l" t="t" r="r" b="b"/>
              <a:pathLst>
                <a:path w="2560320" h="1371600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2486875" y="0"/>
                  </a:lnTo>
                  <a:lnTo>
                    <a:pt x="2531403" y="15096"/>
                  </a:lnTo>
                  <a:lnTo>
                    <a:pt x="2557522" y="54219"/>
                  </a:lnTo>
                  <a:lnTo>
                    <a:pt x="2559951" y="73075"/>
                  </a:lnTo>
                  <a:lnTo>
                    <a:pt x="2560320" y="1298155"/>
                  </a:lnTo>
                  <a:lnTo>
                    <a:pt x="2559712" y="1307789"/>
                  </a:lnTo>
                  <a:lnTo>
                    <a:pt x="2557889" y="1317190"/>
                  </a:lnTo>
                  <a:lnTo>
                    <a:pt x="2531609" y="1356140"/>
                  </a:lnTo>
                  <a:lnTo>
                    <a:pt x="2487231" y="1371231"/>
                  </a:lnTo>
                  <a:lnTo>
                    <a:pt x="73075" y="1371599"/>
                  </a:lnTo>
                  <a:lnTo>
                    <a:pt x="28548" y="1356490"/>
                  </a:lnTo>
                  <a:lnTo>
                    <a:pt x="2428" y="1317367"/>
                  </a:lnTo>
                  <a:lnTo>
                    <a:pt x="0" y="1298511"/>
                  </a:lnTo>
                  <a:lnTo>
                    <a:pt x="0" y="73075"/>
                  </a:lnTo>
                  <a:close/>
                </a:path>
              </a:pathLst>
            </a:custGeom>
            <a:ln w="19079">
              <a:solidFill>
                <a:srgbClr val="2CD3B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3238817" y="1602259"/>
            <a:ext cx="2298065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88975" marR="5080" indent="-67691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14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max</a:t>
            </a:r>
            <a:r>
              <a:rPr dirty="0" sz="14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RSSI</a:t>
            </a:r>
            <a:r>
              <a:rPr dirty="0" sz="14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within</a:t>
            </a:r>
            <a:r>
              <a:rPr dirty="0" sz="14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0.25</a:t>
            </a:r>
            <a:r>
              <a:rPr dirty="0" sz="140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dBm</a:t>
            </a:r>
            <a:r>
              <a:rPr dirty="0" sz="1400" spc="-25" b="1">
                <a:solidFill>
                  <a:srgbClr val="FFFFFF"/>
                </a:solidFill>
                <a:latin typeface="Calibri"/>
                <a:cs typeface="Calibri"/>
              </a:rPr>
              <a:t> of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a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threshold?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656262" y="1320763"/>
            <a:ext cx="3035300" cy="1015365"/>
            <a:chOff x="5656262" y="1320763"/>
            <a:chExt cx="3035300" cy="1015365"/>
          </a:xfrm>
        </p:grpSpPr>
        <p:sp>
          <p:nvSpPr>
            <p:cNvPr id="18" name="object 18"/>
            <p:cNvSpPr/>
            <p:nvPr/>
          </p:nvSpPr>
          <p:spPr>
            <a:xfrm>
              <a:off x="5669279" y="1828802"/>
              <a:ext cx="568960" cy="635"/>
            </a:xfrm>
            <a:custGeom>
              <a:avLst/>
              <a:gdLst/>
              <a:ahLst/>
              <a:cxnLst/>
              <a:rect l="l" t="t" r="r" b="b"/>
              <a:pathLst>
                <a:path w="568960" h="635">
                  <a:moveTo>
                    <a:pt x="0" y="0"/>
                  </a:moveTo>
                  <a:lnTo>
                    <a:pt x="568439" y="355"/>
                  </a:lnTo>
                </a:path>
              </a:pathLst>
            </a:custGeom>
            <a:ln w="25559">
              <a:solidFill>
                <a:srgbClr val="2CD3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232677" y="1790638"/>
              <a:ext cx="76835" cy="76835"/>
            </a:xfrm>
            <a:custGeom>
              <a:avLst/>
              <a:gdLst/>
              <a:ahLst/>
              <a:cxnLst/>
              <a:rect l="l" t="t" r="r" b="b"/>
              <a:pathLst>
                <a:path w="76835" h="76835">
                  <a:moveTo>
                    <a:pt x="0" y="0"/>
                  </a:moveTo>
                  <a:lnTo>
                    <a:pt x="0" y="76682"/>
                  </a:lnTo>
                  <a:lnTo>
                    <a:pt x="76682" y="385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D3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309004" y="1325526"/>
              <a:ext cx="2377440" cy="1005840"/>
            </a:xfrm>
            <a:custGeom>
              <a:avLst/>
              <a:gdLst/>
              <a:ahLst/>
              <a:cxnLst/>
              <a:rect l="l" t="t" r="r" b="b"/>
              <a:pathLst>
                <a:path w="2377440" h="1005839">
                  <a:moveTo>
                    <a:pt x="230399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932751"/>
                  </a:lnTo>
                  <a:lnTo>
                    <a:pt x="5412" y="960492"/>
                  </a:lnTo>
                  <a:lnTo>
                    <a:pt x="5464" y="960647"/>
                  </a:lnTo>
                  <a:lnTo>
                    <a:pt x="36360" y="996111"/>
                  </a:lnTo>
                  <a:lnTo>
                    <a:pt x="73075" y="1005839"/>
                  </a:lnTo>
                  <a:lnTo>
                    <a:pt x="2304351" y="1005471"/>
                  </a:lnTo>
                  <a:lnTo>
                    <a:pt x="2348729" y="990380"/>
                  </a:lnTo>
                  <a:lnTo>
                    <a:pt x="2374949" y="951607"/>
                  </a:lnTo>
                  <a:lnTo>
                    <a:pt x="2376793" y="942229"/>
                  </a:lnTo>
                  <a:lnTo>
                    <a:pt x="2376832" y="942029"/>
                  </a:lnTo>
                  <a:lnTo>
                    <a:pt x="2377417" y="932751"/>
                  </a:lnTo>
                  <a:lnTo>
                    <a:pt x="2377440" y="932395"/>
                  </a:lnTo>
                  <a:lnTo>
                    <a:pt x="2377071" y="73075"/>
                  </a:lnTo>
                  <a:lnTo>
                    <a:pt x="2361980" y="28698"/>
                  </a:lnTo>
                  <a:lnTo>
                    <a:pt x="2323030" y="2428"/>
                  </a:lnTo>
                  <a:lnTo>
                    <a:pt x="2313629" y="607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0E75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309004" y="1325526"/>
              <a:ext cx="2377440" cy="1005840"/>
            </a:xfrm>
            <a:custGeom>
              <a:avLst/>
              <a:gdLst/>
              <a:ahLst/>
              <a:cxnLst/>
              <a:rect l="l" t="t" r="r" b="b"/>
              <a:pathLst>
                <a:path w="2377440" h="1005839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2303995" y="0"/>
                  </a:lnTo>
                  <a:lnTo>
                    <a:pt x="2348523" y="15096"/>
                  </a:lnTo>
                  <a:lnTo>
                    <a:pt x="2374642" y="54219"/>
                  </a:lnTo>
                  <a:lnTo>
                    <a:pt x="2377071" y="73075"/>
                  </a:lnTo>
                  <a:lnTo>
                    <a:pt x="2377440" y="932395"/>
                  </a:lnTo>
                  <a:lnTo>
                    <a:pt x="2376832" y="942029"/>
                  </a:lnTo>
                  <a:lnTo>
                    <a:pt x="2375009" y="951430"/>
                  </a:lnTo>
                  <a:lnTo>
                    <a:pt x="2348729" y="990380"/>
                  </a:lnTo>
                  <a:lnTo>
                    <a:pt x="2304351" y="1005471"/>
                  </a:lnTo>
                  <a:lnTo>
                    <a:pt x="73075" y="1005839"/>
                  </a:lnTo>
                  <a:lnTo>
                    <a:pt x="28548" y="990730"/>
                  </a:lnTo>
                  <a:lnTo>
                    <a:pt x="2428" y="951607"/>
                  </a:lnTo>
                  <a:lnTo>
                    <a:pt x="0" y="932751"/>
                  </a:lnTo>
                  <a:lnTo>
                    <a:pt x="0" y="73075"/>
                  </a:lnTo>
                  <a:close/>
                </a:path>
              </a:pathLst>
            </a:custGeom>
            <a:ln w="9359">
              <a:solidFill>
                <a:srgbClr val="2345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5885179" y="1541782"/>
            <a:ext cx="2063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solidFill>
                  <a:srgbClr val="37BCF7"/>
                </a:solidFill>
                <a:latin typeface="Calibri"/>
                <a:cs typeface="Calibri"/>
              </a:rPr>
              <a:t>No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433464" y="1609828"/>
            <a:ext cx="1496060" cy="437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Clear</a:t>
            </a:r>
            <a:r>
              <a:rPr dirty="0" sz="14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solidFill>
                  <a:srgbClr val="FFFFFF"/>
                </a:solidFill>
                <a:latin typeface="Calibri"/>
                <a:cs typeface="Calibri"/>
              </a:rPr>
              <a:t>case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use</a:t>
            </a:r>
            <a:r>
              <a:rPr dirty="0" sz="1300" spc="-4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the</a:t>
            </a:r>
            <a:r>
              <a:rPr dirty="0" sz="1300" spc="-4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RSSI</a:t>
            </a:r>
            <a:r>
              <a:rPr dirty="0" sz="1300" spc="-3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rule</a:t>
            </a:r>
            <a:r>
              <a:rPr dirty="0" sz="1300" spc="-4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DBE6F2"/>
                </a:solidFill>
                <a:latin typeface="Calibri"/>
                <a:cs typeface="Calibri"/>
              </a:rPr>
              <a:t>label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52164" y="2829606"/>
            <a:ext cx="2112645" cy="1472565"/>
            <a:chOff x="452164" y="2829606"/>
            <a:chExt cx="2112645" cy="1472565"/>
          </a:xfrm>
        </p:grpSpPr>
        <p:sp>
          <p:nvSpPr>
            <p:cNvPr id="8" name="object 8"/>
            <p:cNvSpPr/>
            <p:nvPr/>
          </p:nvSpPr>
          <p:spPr>
            <a:xfrm>
              <a:off x="456844" y="2834286"/>
              <a:ext cx="2103120" cy="1463040"/>
            </a:xfrm>
            <a:custGeom>
              <a:avLst/>
              <a:gdLst/>
              <a:ahLst/>
              <a:cxnLst/>
              <a:rect l="l" t="t" r="r" b="b"/>
              <a:pathLst>
                <a:path w="2103120" h="1463039">
                  <a:moveTo>
                    <a:pt x="202967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1389951"/>
                  </a:lnTo>
                  <a:lnTo>
                    <a:pt x="594" y="1399229"/>
                  </a:lnTo>
                  <a:lnTo>
                    <a:pt x="607" y="1399429"/>
                  </a:lnTo>
                  <a:lnTo>
                    <a:pt x="2394" y="1408630"/>
                  </a:lnTo>
                  <a:lnTo>
                    <a:pt x="2428" y="1408807"/>
                  </a:lnTo>
                  <a:lnTo>
                    <a:pt x="28548" y="1447930"/>
                  </a:lnTo>
                  <a:lnTo>
                    <a:pt x="73075" y="1463040"/>
                  </a:lnTo>
                  <a:lnTo>
                    <a:pt x="2030031" y="1462671"/>
                  </a:lnTo>
                  <a:lnTo>
                    <a:pt x="2074409" y="1447580"/>
                  </a:lnTo>
                  <a:lnTo>
                    <a:pt x="2100629" y="1408807"/>
                  </a:lnTo>
                  <a:lnTo>
                    <a:pt x="2100689" y="1408630"/>
                  </a:lnTo>
                  <a:lnTo>
                    <a:pt x="2102473" y="1399429"/>
                  </a:lnTo>
                  <a:lnTo>
                    <a:pt x="2102512" y="1399229"/>
                  </a:lnTo>
                  <a:lnTo>
                    <a:pt x="2103097" y="1389951"/>
                  </a:lnTo>
                  <a:lnTo>
                    <a:pt x="2103120" y="1389595"/>
                  </a:lnTo>
                  <a:lnTo>
                    <a:pt x="2102751" y="73075"/>
                  </a:lnTo>
                  <a:lnTo>
                    <a:pt x="2087660" y="28698"/>
                  </a:lnTo>
                  <a:lnTo>
                    <a:pt x="2048710" y="2428"/>
                  </a:lnTo>
                  <a:lnTo>
                    <a:pt x="2039309" y="607"/>
                  </a:lnTo>
                  <a:lnTo>
                    <a:pt x="2029675" y="0"/>
                  </a:lnTo>
                  <a:close/>
                </a:path>
              </a:pathLst>
            </a:custGeom>
            <a:solidFill>
              <a:srgbClr val="050F1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56844" y="2834286"/>
              <a:ext cx="2103120" cy="1463040"/>
            </a:xfrm>
            <a:custGeom>
              <a:avLst/>
              <a:gdLst/>
              <a:ahLst/>
              <a:cxnLst/>
              <a:rect l="l" t="t" r="r" b="b"/>
              <a:pathLst>
                <a:path w="2103120" h="1463039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2029675" y="0"/>
                  </a:lnTo>
                  <a:lnTo>
                    <a:pt x="2074203" y="15096"/>
                  </a:lnTo>
                  <a:lnTo>
                    <a:pt x="2100322" y="54219"/>
                  </a:lnTo>
                  <a:lnTo>
                    <a:pt x="2102751" y="73075"/>
                  </a:lnTo>
                  <a:lnTo>
                    <a:pt x="2103120" y="1389595"/>
                  </a:lnTo>
                  <a:lnTo>
                    <a:pt x="2102512" y="1399229"/>
                  </a:lnTo>
                  <a:lnTo>
                    <a:pt x="2100689" y="1408630"/>
                  </a:lnTo>
                  <a:lnTo>
                    <a:pt x="2074409" y="1447580"/>
                  </a:lnTo>
                  <a:lnTo>
                    <a:pt x="2030031" y="1462671"/>
                  </a:lnTo>
                  <a:lnTo>
                    <a:pt x="73075" y="1463040"/>
                  </a:lnTo>
                  <a:lnTo>
                    <a:pt x="28548" y="1447930"/>
                  </a:lnTo>
                  <a:lnTo>
                    <a:pt x="2428" y="1408807"/>
                  </a:lnTo>
                  <a:lnTo>
                    <a:pt x="0" y="1389951"/>
                  </a:lnTo>
                  <a:lnTo>
                    <a:pt x="0" y="73075"/>
                  </a:lnTo>
                  <a:close/>
                </a:path>
              </a:pathLst>
            </a:custGeom>
            <a:ln w="9359">
              <a:solidFill>
                <a:srgbClr val="2345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646455" y="2989340"/>
            <a:ext cx="1722755" cy="1138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600" b="1">
                <a:solidFill>
                  <a:srgbClr val="F4B841"/>
                </a:solidFill>
                <a:latin typeface="Calibri"/>
                <a:cs typeface="Calibri"/>
              </a:rPr>
              <a:t>±0.25</a:t>
            </a:r>
            <a:r>
              <a:rPr dirty="0" sz="2600" spc="-35" b="1">
                <a:solidFill>
                  <a:srgbClr val="F4B841"/>
                </a:solidFill>
                <a:latin typeface="Calibri"/>
                <a:cs typeface="Calibri"/>
              </a:rPr>
              <a:t> </a:t>
            </a:r>
            <a:r>
              <a:rPr dirty="0" sz="2600" spc="-25" b="1">
                <a:solidFill>
                  <a:srgbClr val="F4B841"/>
                </a:solidFill>
                <a:latin typeface="Calibri"/>
                <a:cs typeface="Calibri"/>
              </a:rPr>
              <a:t>dBm</a:t>
            </a:r>
            <a:endParaRPr sz="2600">
              <a:latin typeface="Calibri"/>
              <a:cs typeface="Calibri"/>
            </a:endParaRPr>
          </a:p>
          <a:p>
            <a:pPr algn="ctr" marL="12700" marR="5080" indent="1905">
              <a:lnSpc>
                <a:spcPct val="100000"/>
              </a:lnSpc>
              <a:spcBef>
                <a:spcPts val="960"/>
              </a:spcBef>
            </a:pPr>
            <a:r>
              <a:rPr dirty="0" sz="1300" spc="-10">
                <a:solidFill>
                  <a:srgbClr val="DBE6F2"/>
                </a:solidFill>
                <a:latin typeface="Calibri"/>
                <a:cs typeface="Calibri"/>
              </a:rPr>
              <a:t>boundary</a:t>
            </a:r>
            <a:r>
              <a:rPr dirty="0" sz="1300" spc="-4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margin</a:t>
            </a:r>
            <a:r>
              <a:rPr dirty="0" sz="1300" spc="-3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DBE6F2"/>
                </a:solidFill>
                <a:latin typeface="Calibri"/>
                <a:cs typeface="Calibri"/>
              </a:rPr>
              <a:t>around 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each</a:t>
            </a:r>
            <a:r>
              <a:rPr dirty="0" sz="1300" spc="-5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DBE6F2"/>
                </a:solidFill>
                <a:latin typeface="Calibri"/>
                <a:cs typeface="Calibri"/>
              </a:rPr>
              <a:t>threshold</a:t>
            </a:r>
            <a:r>
              <a:rPr dirty="0" sz="1300" spc="-4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DBE6F2"/>
                </a:solidFill>
                <a:latin typeface="Calibri"/>
                <a:cs typeface="Calibri"/>
              </a:rPr>
              <a:t>(−75,</a:t>
            </a:r>
            <a:r>
              <a:rPr dirty="0" sz="1300" spc="-5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DBE6F2"/>
                </a:solidFill>
                <a:latin typeface="Calibri"/>
                <a:cs typeface="Calibri"/>
              </a:rPr>
              <a:t>−65,</a:t>
            </a:r>
            <a:endParaRPr sz="13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300" spc="-20">
                <a:solidFill>
                  <a:srgbClr val="DBE6F2"/>
                </a:solidFill>
                <a:latin typeface="Calibri"/>
                <a:cs typeface="Calibri"/>
              </a:rPr>
              <a:t>−55)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098761" y="2501584"/>
            <a:ext cx="2580005" cy="1805939"/>
            <a:chOff x="3098761" y="2501584"/>
            <a:chExt cx="2580005" cy="1805939"/>
          </a:xfrm>
        </p:grpSpPr>
        <p:sp>
          <p:nvSpPr>
            <p:cNvPr id="25" name="object 25"/>
            <p:cNvSpPr/>
            <p:nvPr/>
          </p:nvSpPr>
          <p:spPr>
            <a:xfrm>
              <a:off x="4389119" y="2514602"/>
              <a:ext cx="635" cy="340360"/>
            </a:xfrm>
            <a:custGeom>
              <a:avLst/>
              <a:gdLst/>
              <a:ahLst/>
              <a:cxnLst/>
              <a:rect l="l" t="t" r="r" b="b"/>
              <a:pathLst>
                <a:path w="635" h="340360">
                  <a:moveTo>
                    <a:pt x="0" y="0"/>
                  </a:moveTo>
                  <a:lnTo>
                    <a:pt x="355" y="339839"/>
                  </a:lnTo>
                </a:path>
              </a:pathLst>
            </a:custGeom>
            <a:ln w="25559">
              <a:solidFill>
                <a:srgbClr val="2CD3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4350956" y="2849399"/>
              <a:ext cx="76835" cy="76835"/>
            </a:xfrm>
            <a:custGeom>
              <a:avLst/>
              <a:gdLst/>
              <a:ahLst/>
              <a:cxnLst/>
              <a:rect l="l" t="t" r="r" b="b"/>
              <a:pathLst>
                <a:path w="76835" h="76835">
                  <a:moveTo>
                    <a:pt x="76682" y="0"/>
                  </a:moveTo>
                  <a:lnTo>
                    <a:pt x="0" y="0"/>
                  </a:lnTo>
                  <a:lnTo>
                    <a:pt x="38519" y="76682"/>
                  </a:lnTo>
                  <a:lnTo>
                    <a:pt x="76682" y="0"/>
                  </a:lnTo>
                  <a:close/>
                </a:path>
              </a:pathLst>
            </a:custGeom>
            <a:solidFill>
              <a:srgbClr val="2CD3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3108604" y="2925726"/>
              <a:ext cx="2560320" cy="1371600"/>
            </a:xfrm>
            <a:custGeom>
              <a:avLst/>
              <a:gdLst/>
              <a:ahLst/>
              <a:cxnLst/>
              <a:rect l="l" t="t" r="r" b="b"/>
              <a:pathLst>
                <a:path w="2560320" h="1371600">
                  <a:moveTo>
                    <a:pt x="248687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1298511"/>
                  </a:lnTo>
                  <a:lnTo>
                    <a:pt x="594" y="1307789"/>
                  </a:lnTo>
                  <a:lnTo>
                    <a:pt x="607" y="1307989"/>
                  </a:lnTo>
                  <a:lnTo>
                    <a:pt x="2394" y="1317190"/>
                  </a:lnTo>
                  <a:lnTo>
                    <a:pt x="2428" y="1317367"/>
                  </a:lnTo>
                  <a:lnTo>
                    <a:pt x="5412" y="1326252"/>
                  </a:lnTo>
                  <a:lnTo>
                    <a:pt x="36360" y="1361871"/>
                  </a:lnTo>
                  <a:lnTo>
                    <a:pt x="73075" y="1371600"/>
                  </a:lnTo>
                  <a:lnTo>
                    <a:pt x="2487231" y="1371231"/>
                  </a:lnTo>
                  <a:lnTo>
                    <a:pt x="2531609" y="1356140"/>
                  </a:lnTo>
                  <a:lnTo>
                    <a:pt x="2557829" y="1317367"/>
                  </a:lnTo>
                  <a:lnTo>
                    <a:pt x="2559673" y="1307989"/>
                  </a:lnTo>
                  <a:lnTo>
                    <a:pt x="2559712" y="1307789"/>
                  </a:lnTo>
                  <a:lnTo>
                    <a:pt x="2560297" y="1298511"/>
                  </a:lnTo>
                  <a:lnTo>
                    <a:pt x="2560320" y="1298155"/>
                  </a:lnTo>
                  <a:lnTo>
                    <a:pt x="2559951" y="73075"/>
                  </a:lnTo>
                  <a:lnTo>
                    <a:pt x="2544860" y="28698"/>
                  </a:lnTo>
                  <a:lnTo>
                    <a:pt x="2505910" y="2428"/>
                  </a:lnTo>
                  <a:lnTo>
                    <a:pt x="2496509" y="607"/>
                  </a:lnTo>
                  <a:lnTo>
                    <a:pt x="2486875" y="0"/>
                  </a:lnTo>
                  <a:close/>
                </a:path>
              </a:pathLst>
            </a:custGeom>
            <a:solidFill>
              <a:srgbClr val="1127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3108604" y="2925726"/>
              <a:ext cx="2560320" cy="1371600"/>
            </a:xfrm>
            <a:custGeom>
              <a:avLst/>
              <a:gdLst/>
              <a:ahLst/>
              <a:cxnLst/>
              <a:rect l="l" t="t" r="r" b="b"/>
              <a:pathLst>
                <a:path w="2560320" h="1371600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2486875" y="0"/>
                  </a:lnTo>
                  <a:lnTo>
                    <a:pt x="2531403" y="15096"/>
                  </a:lnTo>
                  <a:lnTo>
                    <a:pt x="2557522" y="54219"/>
                  </a:lnTo>
                  <a:lnTo>
                    <a:pt x="2559951" y="73075"/>
                  </a:lnTo>
                  <a:lnTo>
                    <a:pt x="2560320" y="1298155"/>
                  </a:lnTo>
                  <a:lnTo>
                    <a:pt x="2559712" y="1307789"/>
                  </a:lnTo>
                  <a:lnTo>
                    <a:pt x="2557889" y="1317190"/>
                  </a:lnTo>
                  <a:lnTo>
                    <a:pt x="2531609" y="1356140"/>
                  </a:lnTo>
                  <a:lnTo>
                    <a:pt x="2487231" y="1371231"/>
                  </a:lnTo>
                  <a:lnTo>
                    <a:pt x="73075" y="1371600"/>
                  </a:lnTo>
                  <a:lnTo>
                    <a:pt x="28548" y="1356490"/>
                  </a:lnTo>
                  <a:lnTo>
                    <a:pt x="2428" y="1317367"/>
                  </a:lnTo>
                  <a:lnTo>
                    <a:pt x="0" y="1298511"/>
                  </a:lnTo>
                  <a:lnTo>
                    <a:pt x="0" y="73075"/>
                  </a:lnTo>
                  <a:close/>
                </a:path>
              </a:pathLst>
            </a:custGeom>
            <a:ln w="19079">
              <a:solidFill>
                <a:srgbClr val="2CD3B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4467504" y="2611337"/>
            <a:ext cx="15957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35" b="1">
                <a:solidFill>
                  <a:srgbClr val="37BCF7"/>
                </a:solidFill>
                <a:latin typeface="Calibri"/>
                <a:cs typeface="Calibri"/>
              </a:rPr>
              <a:t>Yes</a:t>
            </a:r>
            <a:r>
              <a:rPr dirty="0" sz="1200" spc="-30" b="1">
                <a:solidFill>
                  <a:srgbClr val="37BCF7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37BCF7"/>
                </a:solidFill>
                <a:latin typeface="Calibri"/>
                <a:cs typeface="Calibri"/>
              </a:rPr>
              <a:t>(close</a:t>
            </a:r>
            <a:r>
              <a:rPr dirty="0" sz="1200" spc="-20" b="1">
                <a:solidFill>
                  <a:srgbClr val="37BCF7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37BCF7"/>
                </a:solidFill>
                <a:latin typeface="Calibri"/>
                <a:cs typeface="Calibri"/>
              </a:rPr>
              <a:t>to</a:t>
            </a:r>
            <a:r>
              <a:rPr dirty="0" sz="1200" spc="-10" b="1">
                <a:solidFill>
                  <a:srgbClr val="37BCF7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37BCF7"/>
                </a:solidFill>
                <a:latin typeface="Calibri"/>
                <a:cs typeface="Calibri"/>
              </a:rPr>
              <a:t>a</a:t>
            </a:r>
            <a:r>
              <a:rPr dirty="0" sz="1200" spc="-35" b="1">
                <a:solidFill>
                  <a:srgbClr val="37BCF7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37BCF7"/>
                </a:solidFill>
                <a:latin typeface="Calibri"/>
                <a:cs typeface="Calibri"/>
              </a:rPr>
              <a:t>threshold)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656262" y="2783803"/>
            <a:ext cx="3035300" cy="741045"/>
            <a:chOff x="5656262" y="2783803"/>
            <a:chExt cx="3035300" cy="741045"/>
          </a:xfrm>
        </p:grpSpPr>
        <p:sp>
          <p:nvSpPr>
            <p:cNvPr id="32" name="object 32"/>
            <p:cNvSpPr/>
            <p:nvPr/>
          </p:nvSpPr>
          <p:spPr>
            <a:xfrm>
              <a:off x="5669279" y="3154682"/>
              <a:ext cx="568960" cy="635"/>
            </a:xfrm>
            <a:custGeom>
              <a:avLst/>
              <a:gdLst/>
              <a:ahLst/>
              <a:cxnLst/>
              <a:rect l="l" t="t" r="r" b="b"/>
              <a:pathLst>
                <a:path w="568960" h="635">
                  <a:moveTo>
                    <a:pt x="0" y="0"/>
                  </a:moveTo>
                  <a:lnTo>
                    <a:pt x="568439" y="355"/>
                  </a:lnTo>
                </a:path>
              </a:pathLst>
            </a:custGeom>
            <a:ln w="25559">
              <a:solidFill>
                <a:srgbClr val="2CD3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6232677" y="3116518"/>
              <a:ext cx="76835" cy="76835"/>
            </a:xfrm>
            <a:custGeom>
              <a:avLst/>
              <a:gdLst/>
              <a:ahLst/>
              <a:cxnLst/>
              <a:rect l="l" t="t" r="r" b="b"/>
              <a:pathLst>
                <a:path w="76835" h="76835">
                  <a:moveTo>
                    <a:pt x="0" y="0"/>
                  </a:moveTo>
                  <a:lnTo>
                    <a:pt x="0" y="76682"/>
                  </a:lnTo>
                  <a:lnTo>
                    <a:pt x="76682" y="385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D3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6309004" y="2788566"/>
              <a:ext cx="2377440" cy="731520"/>
            </a:xfrm>
            <a:custGeom>
              <a:avLst/>
              <a:gdLst/>
              <a:ahLst/>
              <a:cxnLst/>
              <a:rect l="l" t="t" r="r" b="b"/>
              <a:pathLst>
                <a:path w="2377440" h="731520">
                  <a:moveTo>
                    <a:pt x="230399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658431"/>
                  </a:lnTo>
                  <a:lnTo>
                    <a:pt x="5412" y="686172"/>
                  </a:lnTo>
                  <a:lnTo>
                    <a:pt x="5464" y="686327"/>
                  </a:lnTo>
                  <a:lnTo>
                    <a:pt x="36360" y="721791"/>
                  </a:lnTo>
                  <a:lnTo>
                    <a:pt x="73075" y="731520"/>
                  </a:lnTo>
                  <a:lnTo>
                    <a:pt x="2304351" y="731151"/>
                  </a:lnTo>
                  <a:lnTo>
                    <a:pt x="2348729" y="716060"/>
                  </a:lnTo>
                  <a:lnTo>
                    <a:pt x="2374949" y="677287"/>
                  </a:lnTo>
                  <a:lnTo>
                    <a:pt x="2376793" y="667909"/>
                  </a:lnTo>
                  <a:lnTo>
                    <a:pt x="2376832" y="667709"/>
                  </a:lnTo>
                  <a:lnTo>
                    <a:pt x="2377417" y="658431"/>
                  </a:lnTo>
                  <a:lnTo>
                    <a:pt x="2377440" y="658075"/>
                  </a:lnTo>
                  <a:lnTo>
                    <a:pt x="2377071" y="73075"/>
                  </a:lnTo>
                  <a:lnTo>
                    <a:pt x="2361980" y="28698"/>
                  </a:lnTo>
                  <a:lnTo>
                    <a:pt x="2323030" y="2428"/>
                  </a:lnTo>
                  <a:lnTo>
                    <a:pt x="2313629" y="607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0E75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6309004" y="2788566"/>
              <a:ext cx="2377440" cy="731520"/>
            </a:xfrm>
            <a:custGeom>
              <a:avLst/>
              <a:gdLst/>
              <a:ahLst/>
              <a:cxnLst/>
              <a:rect l="l" t="t" r="r" b="b"/>
              <a:pathLst>
                <a:path w="2377440" h="731520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2303995" y="0"/>
                  </a:lnTo>
                  <a:lnTo>
                    <a:pt x="2348523" y="15096"/>
                  </a:lnTo>
                  <a:lnTo>
                    <a:pt x="2374642" y="54219"/>
                  </a:lnTo>
                  <a:lnTo>
                    <a:pt x="2377071" y="73075"/>
                  </a:lnTo>
                  <a:lnTo>
                    <a:pt x="2377440" y="658075"/>
                  </a:lnTo>
                  <a:lnTo>
                    <a:pt x="2376832" y="667709"/>
                  </a:lnTo>
                  <a:lnTo>
                    <a:pt x="2375009" y="677110"/>
                  </a:lnTo>
                  <a:lnTo>
                    <a:pt x="2348729" y="716060"/>
                  </a:lnTo>
                  <a:lnTo>
                    <a:pt x="2304351" y="731151"/>
                  </a:lnTo>
                  <a:lnTo>
                    <a:pt x="73075" y="731520"/>
                  </a:lnTo>
                  <a:lnTo>
                    <a:pt x="28548" y="716410"/>
                  </a:lnTo>
                  <a:lnTo>
                    <a:pt x="2428" y="677287"/>
                  </a:lnTo>
                  <a:lnTo>
                    <a:pt x="0" y="658431"/>
                  </a:lnTo>
                  <a:lnTo>
                    <a:pt x="0" y="73075"/>
                  </a:lnTo>
                  <a:close/>
                </a:path>
              </a:pathLst>
            </a:custGeom>
            <a:ln w="9359">
              <a:solidFill>
                <a:srgbClr val="2345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/>
          <p:cNvSpPr txBox="1"/>
          <p:nvPr/>
        </p:nvSpPr>
        <p:spPr>
          <a:xfrm>
            <a:off x="5874016" y="2867661"/>
            <a:ext cx="2292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solidFill>
                  <a:srgbClr val="37BCF7"/>
                </a:solidFill>
                <a:latin typeface="Calibri"/>
                <a:cs typeface="Calibri"/>
              </a:rPr>
              <a:t>Yes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433464" y="2928139"/>
            <a:ext cx="147574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Use</a:t>
            </a:r>
            <a:r>
              <a:rPr dirty="0" sz="14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dirty="0" sz="140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client's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personalised</a:t>
            </a:r>
            <a:r>
              <a:rPr dirty="0" sz="1400" spc="-8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244938" y="3385339"/>
            <a:ext cx="228473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6555" marR="5080" indent="-36449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Known</a:t>
            </a:r>
            <a:r>
              <a:rPr dirty="0" sz="14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client</a:t>
            </a:r>
            <a:r>
              <a:rPr dirty="0" sz="140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dirty="0" sz="140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dirty="0" sz="140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available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personalised</a:t>
            </a:r>
            <a:r>
              <a:rPr dirty="0" sz="1400" spc="-8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model?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5656500" y="3605226"/>
            <a:ext cx="3036570" cy="744220"/>
            <a:chOff x="5656500" y="3605226"/>
            <a:chExt cx="3036570" cy="744220"/>
          </a:xfrm>
        </p:grpSpPr>
        <p:sp>
          <p:nvSpPr>
            <p:cNvPr id="39" name="object 39"/>
            <p:cNvSpPr/>
            <p:nvPr/>
          </p:nvSpPr>
          <p:spPr>
            <a:xfrm>
              <a:off x="5669279" y="3977641"/>
              <a:ext cx="568960" cy="635"/>
            </a:xfrm>
            <a:custGeom>
              <a:avLst/>
              <a:gdLst/>
              <a:ahLst/>
              <a:cxnLst/>
              <a:rect l="l" t="t" r="r" b="b"/>
              <a:pathLst>
                <a:path w="568960" h="635">
                  <a:moveTo>
                    <a:pt x="0" y="0"/>
                  </a:moveTo>
                  <a:lnTo>
                    <a:pt x="568439" y="355"/>
                  </a:lnTo>
                </a:path>
              </a:pathLst>
            </a:custGeom>
            <a:ln w="25559">
              <a:solidFill>
                <a:srgbClr val="2CD3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6232677" y="3939478"/>
              <a:ext cx="76835" cy="76835"/>
            </a:xfrm>
            <a:custGeom>
              <a:avLst/>
              <a:gdLst/>
              <a:ahLst/>
              <a:cxnLst/>
              <a:rect l="l" t="t" r="r" b="b"/>
              <a:pathLst>
                <a:path w="76835" h="76835">
                  <a:moveTo>
                    <a:pt x="0" y="0"/>
                  </a:moveTo>
                  <a:lnTo>
                    <a:pt x="0" y="76682"/>
                  </a:lnTo>
                  <a:lnTo>
                    <a:pt x="76682" y="385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D3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6309004" y="3611526"/>
              <a:ext cx="2377440" cy="731520"/>
            </a:xfrm>
            <a:custGeom>
              <a:avLst/>
              <a:gdLst/>
              <a:ahLst/>
              <a:cxnLst/>
              <a:rect l="l" t="t" r="r" b="b"/>
              <a:pathLst>
                <a:path w="2377440" h="731520">
                  <a:moveTo>
                    <a:pt x="230399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658431"/>
                  </a:lnTo>
                  <a:lnTo>
                    <a:pt x="5412" y="686172"/>
                  </a:lnTo>
                  <a:lnTo>
                    <a:pt x="5464" y="686327"/>
                  </a:lnTo>
                  <a:lnTo>
                    <a:pt x="36360" y="721791"/>
                  </a:lnTo>
                  <a:lnTo>
                    <a:pt x="73075" y="731519"/>
                  </a:lnTo>
                  <a:lnTo>
                    <a:pt x="2304351" y="731151"/>
                  </a:lnTo>
                  <a:lnTo>
                    <a:pt x="2348729" y="716060"/>
                  </a:lnTo>
                  <a:lnTo>
                    <a:pt x="2374949" y="677287"/>
                  </a:lnTo>
                  <a:lnTo>
                    <a:pt x="2376793" y="667909"/>
                  </a:lnTo>
                  <a:lnTo>
                    <a:pt x="2376832" y="667709"/>
                  </a:lnTo>
                  <a:lnTo>
                    <a:pt x="2377417" y="658431"/>
                  </a:lnTo>
                  <a:lnTo>
                    <a:pt x="2377440" y="658075"/>
                  </a:lnTo>
                  <a:lnTo>
                    <a:pt x="2377071" y="73075"/>
                  </a:lnTo>
                  <a:lnTo>
                    <a:pt x="2361980" y="28698"/>
                  </a:lnTo>
                  <a:lnTo>
                    <a:pt x="2323030" y="2428"/>
                  </a:lnTo>
                  <a:lnTo>
                    <a:pt x="2313629" y="607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39290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6309004" y="3611526"/>
              <a:ext cx="2377440" cy="731520"/>
            </a:xfrm>
            <a:custGeom>
              <a:avLst/>
              <a:gdLst/>
              <a:ahLst/>
              <a:cxnLst/>
              <a:rect l="l" t="t" r="r" b="b"/>
              <a:pathLst>
                <a:path w="2377440" h="731520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2303995" y="0"/>
                  </a:lnTo>
                  <a:lnTo>
                    <a:pt x="2348523" y="15096"/>
                  </a:lnTo>
                  <a:lnTo>
                    <a:pt x="2374642" y="54219"/>
                  </a:lnTo>
                  <a:lnTo>
                    <a:pt x="2377071" y="73075"/>
                  </a:lnTo>
                  <a:lnTo>
                    <a:pt x="2377440" y="658075"/>
                  </a:lnTo>
                  <a:lnTo>
                    <a:pt x="2376832" y="667709"/>
                  </a:lnTo>
                  <a:lnTo>
                    <a:pt x="2375009" y="677110"/>
                  </a:lnTo>
                  <a:lnTo>
                    <a:pt x="2348729" y="716060"/>
                  </a:lnTo>
                  <a:lnTo>
                    <a:pt x="2304351" y="731151"/>
                  </a:lnTo>
                  <a:lnTo>
                    <a:pt x="73075" y="731519"/>
                  </a:lnTo>
                  <a:lnTo>
                    <a:pt x="28548" y="716410"/>
                  </a:lnTo>
                  <a:lnTo>
                    <a:pt x="2428" y="677287"/>
                  </a:lnTo>
                  <a:lnTo>
                    <a:pt x="0" y="658431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F4B84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 txBox="1"/>
          <p:nvPr/>
        </p:nvSpPr>
        <p:spPr>
          <a:xfrm>
            <a:off x="5885179" y="3690622"/>
            <a:ext cx="2063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solidFill>
                  <a:srgbClr val="37BCF7"/>
                </a:solidFill>
                <a:latin typeface="Calibri"/>
                <a:cs typeface="Calibri"/>
              </a:rPr>
              <a:t>No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433464" y="3766225"/>
            <a:ext cx="1939925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Fallback:</a:t>
            </a:r>
            <a:r>
              <a:rPr dirty="0" sz="14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use</a:t>
            </a:r>
            <a:r>
              <a:rPr dirty="0" sz="14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4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RSSI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solidFill>
                  <a:srgbClr val="FFFFFF"/>
                </a:solidFill>
                <a:latin typeface="Calibri"/>
                <a:cs typeface="Calibri"/>
              </a:rPr>
              <a:t>rule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solidFill>
                  <a:srgbClr val="DBE6F2"/>
                </a:solidFill>
                <a:latin typeface="Calibri"/>
                <a:cs typeface="Calibri"/>
              </a:rPr>
              <a:t>unknown</a:t>
            </a:r>
            <a:r>
              <a:rPr dirty="0" sz="1200" spc="-2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DBE6F2"/>
                </a:solidFill>
                <a:latin typeface="Calibri"/>
                <a:cs typeface="Calibri"/>
              </a:rPr>
              <a:t>client</a:t>
            </a:r>
            <a:r>
              <a:rPr dirty="0" sz="1200" spc="-3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DBE6F2"/>
                </a:solidFill>
                <a:latin typeface="Calibri"/>
                <a:cs typeface="Calibri"/>
              </a:rPr>
              <a:t>or</a:t>
            </a:r>
            <a:r>
              <a:rPr dirty="0" sz="1200" spc="-3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DBE6F2"/>
                </a:solidFill>
                <a:latin typeface="Calibri"/>
                <a:cs typeface="Calibri"/>
              </a:rPr>
              <a:t>no</a:t>
            </a:r>
            <a:r>
              <a:rPr dirty="0" sz="1200" spc="-3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DBE6F2"/>
                </a:solidFill>
                <a:latin typeface="Calibri"/>
                <a:cs typeface="Calibri"/>
              </a:rPr>
              <a:t>model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KLH</a:t>
            </a:r>
            <a:r>
              <a:rPr dirty="0" spc="-35"/>
              <a:t> </a:t>
            </a:r>
            <a:r>
              <a:rPr dirty="0"/>
              <a:t>University</a:t>
            </a:r>
            <a:r>
              <a:rPr dirty="0" spc="175"/>
              <a:t> </a:t>
            </a:r>
            <a:r>
              <a:rPr dirty="0"/>
              <a:t>|</a:t>
            </a:r>
            <a:r>
              <a:rPr dirty="0" spc="175"/>
              <a:t> </a:t>
            </a:r>
            <a:r>
              <a:rPr dirty="0"/>
              <a:t>Dept.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ECE</a:t>
            </a:r>
            <a:r>
              <a:rPr dirty="0" spc="170"/>
              <a:t> </a:t>
            </a:r>
            <a:r>
              <a:rPr dirty="0"/>
              <a:t>|</a:t>
            </a:r>
            <a:r>
              <a:rPr dirty="0" spc="175"/>
              <a:t> </a:t>
            </a:r>
            <a:r>
              <a:rPr dirty="0"/>
              <a:t>Machine</a:t>
            </a:r>
            <a:r>
              <a:rPr dirty="0" spc="-25"/>
              <a:t> </a:t>
            </a:r>
            <a:r>
              <a:rPr dirty="0"/>
              <a:t>Learning</a:t>
            </a:r>
            <a:r>
              <a:rPr dirty="0" spc="-25"/>
              <a:t> </a:t>
            </a:r>
            <a:r>
              <a:rPr dirty="0" spc="-10"/>
              <a:t>(25SC2107E)</a:t>
            </a:r>
          </a:p>
        </p:txBody>
      </p:sp>
      <p:sp>
        <p:nvSpPr>
          <p:cNvPr id="45" name="object 4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 spc="-25"/>
              <a:t>12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749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dirty="0" spc="-50"/>
              <a:t> </a:t>
            </a:r>
            <a:r>
              <a:rPr dirty="0"/>
              <a:t>to</a:t>
            </a:r>
            <a:r>
              <a:rPr dirty="0" spc="-45"/>
              <a:t> </a:t>
            </a:r>
            <a:r>
              <a:rPr dirty="0"/>
              <a:t>Run</a:t>
            </a:r>
            <a:r>
              <a:rPr dirty="0" spc="-50"/>
              <a:t> </a:t>
            </a:r>
            <a:r>
              <a:rPr dirty="0"/>
              <a:t>and</a:t>
            </a:r>
            <a:r>
              <a:rPr dirty="0" spc="-40"/>
              <a:t> </a:t>
            </a:r>
            <a:r>
              <a:rPr dirty="0"/>
              <a:t>Check</a:t>
            </a:r>
            <a:r>
              <a:rPr dirty="0" spc="-60"/>
              <a:t> </a:t>
            </a:r>
            <a:r>
              <a:rPr dirty="0"/>
              <a:t>the</a:t>
            </a:r>
            <a:r>
              <a:rPr dirty="0" spc="-45"/>
              <a:t> </a:t>
            </a:r>
            <a:r>
              <a:rPr dirty="0" spc="-10"/>
              <a:t>Project</a:t>
            </a:r>
          </a:p>
        </p:txBody>
      </p:sp>
      <p:sp>
        <p:nvSpPr>
          <p:cNvPr id="3" name="object 3"/>
          <p:cNvSpPr/>
          <p:nvPr/>
        </p:nvSpPr>
        <p:spPr>
          <a:xfrm>
            <a:off x="456844" y="1307162"/>
            <a:ext cx="311150" cy="311150"/>
          </a:xfrm>
          <a:custGeom>
            <a:avLst/>
            <a:gdLst/>
            <a:ahLst/>
            <a:cxnLst/>
            <a:rect l="l" t="t" r="r" b="b"/>
            <a:pathLst>
              <a:path w="311150" h="311150">
                <a:moveTo>
                  <a:pt x="155511" y="0"/>
                </a:moveTo>
                <a:lnTo>
                  <a:pt x="115282" y="5310"/>
                </a:lnTo>
                <a:lnTo>
                  <a:pt x="77749" y="20878"/>
                </a:lnTo>
                <a:lnTo>
                  <a:pt x="45537" y="45539"/>
                </a:lnTo>
                <a:lnTo>
                  <a:pt x="20878" y="77762"/>
                </a:lnTo>
                <a:lnTo>
                  <a:pt x="5310" y="115290"/>
                </a:lnTo>
                <a:lnTo>
                  <a:pt x="0" y="155524"/>
                </a:lnTo>
                <a:lnTo>
                  <a:pt x="1338" y="175873"/>
                </a:lnTo>
                <a:lnTo>
                  <a:pt x="11846" y="214953"/>
                </a:lnTo>
                <a:lnTo>
                  <a:pt x="32195" y="250262"/>
                </a:lnTo>
                <a:lnTo>
                  <a:pt x="60767" y="278840"/>
                </a:lnTo>
                <a:lnTo>
                  <a:pt x="96077" y="299189"/>
                </a:lnTo>
                <a:lnTo>
                  <a:pt x="135161" y="309696"/>
                </a:lnTo>
                <a:lnTo>
                  <a:pt x="155511" y="311035"/>
                </a:lnTo>
                <a:lnTo>
                  <a:pt x="175866" y="309696"/>
                </a:lnTo>
                <a:lnTo>
                  <a:pt x="214947" y="299189"/>
                </a:lnTo>
                <a:lnTo>
                  <a:pt x="250262" y="278840"/>
                </a:lnTo>
                <a:lnTo>
                  <a:pt x="278840" y="250262"/>
                </a:lnTo>
                <a:lnTo>
                  <a:pt x="299189" y="214953"/>
                </a:lnTo>
                <a:lnTo>
                  <a:pt x="309696" y="175873"/>
                </a:lnTo>
                <a:lnTo>
                  <a:pt x="311035" y="155524"/>
                </a:lnTo>
                <a:lnTo>
                  <a:pt x="309696" y="135169"/>
                </a:lnTo>
                <a:lnTo>
                  <a:pt x="299189" y="96088"/>
                </a:lnTo>
                <a:lnTo>
                  <a:pt x="278840" y="60773"/>
                </a:lnTo>
                <a:lnTo>
                  <a:pt x="250262" y="32195"/>
                </a:lnTo>
                <a:lnTo>
                  <a:pt x="214947" y="11846"/>
                </a:lnTo>
                <a:lnTo>
                  <a:pt x="175866" y="1338"/>
                </a:lnTo>
                <a:lnTo>
                  <a:pt x="155511" y="0"/>
                </a:lnTo>
                <a:close/>
              </a:path>
            </a:pathLst>
          </a:custGeom>
          <a:solidFill>
            <a:srgbClr val="2CD3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61136" y="1358178"/>
            <a:ext cx="1028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 b="1">
                <a:solidFill>
                  <a:srgbClr val="09182F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55084" y="1183686"/>
            <a:ext cx="3941445" cy="558165"/>
            <a:chOff x="955084" y="1183686"/>
            <a:chExt cx="3941445" cy="558165"/>
          </a:xfrm>
        </p:grpSpPr>
        <p:sp>
          <p:nvSpPr>
            <p:cNvPr id="6" name="object 6"/>
            <p:cNvSpPr/>
            <p:nvPr/>
          </p:nvSpPr>
          <p:spPr>
            <a:xfrm>
              <a:off x="959764" y="1188366"/>
              <a:ext cx="3931920" cy="548640"/>
            </a:xfrm>
            <a:custGeom>
              <a:avLst/>
              <a:gdLst/>
              <a:ahLst/>
              <a:cxnLst/>
              <a:rect l="l" t="t" r="r" b="b"/>
              <a:pathLst>
                <a:path w="3931920" h="548639">
                  <a:moveTo>
                    <a:pt x="387684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3" y="21420"/>
                  </a:lnTo>
                  <a:lnTo>
                    <a:pt x="0" y="54711"/>
                  </a:lnTo>
                  <a:lnTo>
                    <a:pt x="0" y="493915"/>
                  </a:lnTo>
                  <a:lnTo>
                    <a:pt x="452" y="500768"/>
                  </a:lnTo>
                  <a:lnTo>
                    <a:pt x="466" y="500974"/>
                  </a:lnTo>
                  <a:lnTo>
                    <a:pt x="1799" y="507776"/>
                  </a:lnTo>
                  <a:lnTo>
                    <a:pt x="1843" y="507998"/>
                  </a:lnTo>
                  <a:lnTo>
                    <a:pt x="3997" y="514514"/>
                  </a:lnTo>
                  <a:lnTo>
                    <a:pt x="33757" y="544535"/>
                  </a:lnTo>
                  <a:lnTo>
                    <a:pt x="48008" y="548271"/>
                  </a:lnTo>
                  <a:lnTo>
                    <a:pt x="49037" y="548271"/>
                  </a:lnTo>
                  <a:lnTo>
                    <a:pt x="54711" y="548639"/>
                  </a:lnTo>
                  <a:lnTo>
                    <a:pt x="3877195" y="548271"/>
                  </a:lnTo>
                  <a:lnTo>
                    <a:pt x="3915849" y="532345"/>
                  </a:lnTo>
                  <a:lnTo>
                    <a:pt x="3929997" y="507998"/>
                  </a:lnTo>
                  <a:lnTo>
                    <a:pt x="3930072" y="507776"/>
                  </a:lnTo>
                  <a:lnTo>
                    <a:pt x="3931411" y="500974"/>
                  </a:lnTo>
                  <a:lnTo>
                    <a:pt x="3931452" y="500768"/>
                  </a:lnTo>
                  <a:lnTo>
                    <a:pt x="3931896" y="493915"/>
                  </a:lnTo>
                  <a:lnTo>
                    <a:pt x="3931551" y="54711"/>
                  </a:lnTo>
                  <a:lnTo>
                    <a:pt x="3915625" y="16059"/>
                  </a:lnTo>
                  <a:lnTo>
                    <a:pt x="3884048" y="466"/>
                  </a:lnTo>
                  <a:lnTo>
                    <a:pt x="3876840" y="0"/>
                  </a:lnTo>
                  <a:close/>
                </a:path>
              </a:pathLst>
            </a:custGeom>
            <a:solidFill>
              <a:srgbClr val="050F1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959764" y="1188366"/>
              <a:ext cx="3931920" cy="548640"/>
            </a:xfrm>
            <a:custGeom>
              <a:avLst/>
              <a:gdLst/>
              <a:ahLst/>
              <a:cxnLst/>
              <a:rect l="l" t="t" r="r" b="b"/>
              <a:pathLst>
                <a:path w="3931920" h="548639">
                  <a:moveTo>
                    <a:pt x="0" y="54711"/>
                  </a:moveTo>
                  <a:lnTo>
                    <a:pt x="466" y="47502"/>
                  </a:lnTo>
                  <a:lnTo>
                    <a:pt x="1843" y="40495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3876840" y="0"/>
                  </a:lnTo>
                  <a:lnTo>
                    <a:pt x="3915625" y="16059"/>
                  </a:lnTo>
                  <a:lnTo>
                    <a:pt x="3931551" y="54711"/>
                  </a:lnTo>
                  <a:lnTo>
                    <a:pt x="3931920" y="493560"/>
                  </a:lnTo>
                  <a:lnTo>
                    <a:pt x="3931452" y="500768"/>
                  </a:lnTo>
                  <a:lnTo>
                    <a:pt x="3930072" y="507776"/>
                  </a:lnTo>
                  <a:lnTo>
                    <a:pt x="3904551" y="541070"/>
                  </a:lnTo>
                  <a:lnTo>
                    <a:pt x="54711" y="548639"/>
                  </a:lnTo>
                  <a:lnTo>
                    <a:pt x="15925" y="532569"/>
                  </a:lnTo>
                  <a:lnTo>
                    <a:pt x="0" y="493915"/>
                  </a:lnTo>
                  <a:lnTo>
                    <a:pt x="0" y="54711"/>
                  </a:lnTo>
                  <a:close/>
                </a:path>
              </a:pathLst>
            </a:custGeom>
            <a:ln w="9359">
              <a:solidFill>
                <a:srgbClr val="2345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962901" y="1328663"/>
            <a:ext cx="160464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2CD3BE"/>
                </a:solidFill>
                <a:latin typeface="Courier New"/>
                <a:cs typeface="Courier New"/>
              </a:rPr>
              <a:t>python</a:t>
            </a:r>
            <a:r>
              <a:rPr dirty="0" sz="1600" spc="-110" b="1">
                <a:solidFill>
                  <a:srgbClr val="2CD3BE"/>
                </a:solidFill>
                <a:latin typeface="Courier New"/>
                <a:cs typeface="Courier New"/>
              </a:rPr>
              <a:t> </a:t>
            </a:r>
            <a:r>
              <a:rPr dirty="0" sz="1600" spc="-10" b="1">
                <a:solidFill>
                  <a:srgbClr val="2CD3BE"/>
                </a:solidFill>
                <a:latin typeface="Courier New"/>
                <a:cs typeface="Courier New"/>
              </a:rPr>
              <a:t>run.py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53659" y="1343065"/>
            <a:ext cx="227711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Start</a:t>
            </a:r>
            <a:r>
              <a:rPr dirty="0" sz="1400" spc="-5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the</a:t>
            </a:r>
            <a:r>
              <a:rPr dirty="0" sz="1400" spc="-3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project</a:t>
            </a:r>
            <a:r>
              <a:rPr dirty="0" sz="1400" spc="-4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from</a:t>
            </a:r>
            <a:r>
              <a:rPr dirty="0" sz="1400" spc="-5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its</a:t>
            </a:r>
            <a:r>
              <a:rPr dirty="0" sz="1400" spc="-3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folder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56844" y="1965606"/>
            <a:ext cx="311150" cy="311150"/>
          </a:xfrm>
          <a:custGeom>
            <a:avLst/>
            <a:gdLst/>
            <a:ahLst/>
            <a:cxnLst/>
            <a:rect l="l" t="t" r="r" b="b"/>
            <a:pathLst>
              <a:path w="311150" h="311150">
                <a:moveTo>
                  <a:pt x="155511" y="0"/>
                </a:moveTo>
                <a:lnTo>
                  <a:pt x="115282" y="5310"/>
                </a:lnTo>
                <a:lnTo>
                  <a:pt x="77749" y="20878"/>
                </a:lnTo>
                <a:lnTo>
                  <a:pt x="45537" y="45537"/>
                </a:lnTo>
                <a:lnTo>
                  <a:pt x="20878" y="77749"/>
                </a:lnTo>
                <a:lnTo>
                  <a:pt x="5310" y="115282"/>
                </a:lnTo>
                <a:lnTo>
                  <a:pt x="0" y="155511"/>
                </a:lnTo>
                <a:lnTo>
                  <a:pt x="1338" y="175866"/>
                </a:lnTo>
                <a:lnTo>
                  <a:pt x="11846" y="214947"/>
                </a:lnTo>
                <a:lnTo>
                  <a:pt x="32195" y="250262"/>
                </a:lnTo>
                <a:lnTo>
                  <a:pt x="60767" y="278840"/>
                </a:lnTo>
                <a:lnTo>
                  <a:pt x="96077" y="299189"/>
                </a:lnTo>
                <a:lnTo>
                  <a:pt x="135161" y="309696"/>
                </a:lnTo>
                <a:lnTo>
                  <a:pt x="155511" y="311035"/>
                </a:lnTo>
                <a:lnTo>
                  <a:pt x="175866" y="309696"/>
                </a:lnTo>
                <a:lnTo>
                  <a:pt x="214947" y="299189"/>
                </a:lnTo>
                <a:lnTo>
                  <a:pt x="250262" y="278840"/>
                </a:lnTo>
                <a:lnTo>
                  <a:pt x="278840" y="250262"/>
                </a:lnTo>
                <a:lnTo>
                  <a:pt x="299189" y="214947"/>
                </a:lnTo>
                <a:lnTo>
                  <a:pt x="309696" y="175866"/>
                </a:lnTo>
                <a:lnTo>
                  <a:pt x="311035" y="155511"/>
                </a:lnTo>
                <a:lnTo>
                  <a:pt x="309696" y="135161"/>
                </a:lnTo>
                <a:lnTo>
                  <a:pt x="299189" y="96077"/>
                </a:lnTo>
                <a:lnTo>
                  <a:pt x="278840" y="60767"/>
                </a:lnTo>
                <a:lnTo>
                  <a:pt x="250262" y="32195"/>
                </a:lnTo>
                <a:lnTo>
                  <a:pt x="214947" y="11846"/>
                </a:lnTo>
                <a:lnTo>
                  <a:pt x="175866" y="1338"/>
                </a:lnTo>
                <a:lnTo>
                  <a:pt x="155511" y="0"/>
                </a:lnTo>
                <a:close/>
              </a:path>
            </a:pathLst>
          </a:custGeom>
          <a:solidFill>
            <a:srgbClr val="2CD3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561136" y="2016622"/>
            <a:ext cx="1028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 b="1">
                <a:solidFill>
                  <a:srgbClr val="09182F"/>
                </a:solidFill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955084" y="1842117"/>
            <a:ext cx="3941445" cy="558165"/>
            <a:chOff x="955084" y="1842117"/>
            <a:chExt cx="3941445" cy="558165"/>
          </a:xfrm>
        </p:grpSpPr>
        <p:sp>
          <p:nvSpPr>
            <p:cNvPr id="13" name="object 13"/>
            <p:cNvSpPr/>
            <p:nvPr/>
          </p:nvSpPr>
          <p:spPr>
            <a:xfrm>
              <a:off x="959764" y="1846797"/>
              <a:ext cx="3931920" cy="548640"/>
            </a:xfrm>
            <a:custGeom>
              <a:avLst/>
              <a:gdLst/>
              <a:ahLst/>
              <a:cxnLst/>
              <a:rect l="l" t="t" r="r" b="b"/>
              <a:pathLst>
                <a:path w="3931920" h="548639">
                  <a:moveTo>
                    <a:pt x="3876840" y="0"/>
                  </a:moveTo>
                  <a:lnTo>
                    <a:pt x="54711" y="0"/>
                  </a:lnTo>
                  <a:lnTo>
                    <a:pt x="47652" y="467"/>
                  </a:lnTo>
                  <a:lnTo>
                    <a:pt x="11273" y="21433"/>
                  </a:lnTo>
                  <a:lnTo>
                    <a:pt x="0" y="54724"/>
                  </a:lnTo>
                  <a:lnTo>
                    <a:pt x="0" y="493928"/>
                  </a:lnTo>
                  <a:lnTo>
                    <a:pt x="15925" y="532580"/>
                  </a:lnTo>
                  <a:lnTo>
                    <a:pt x="48065" y="548284"/>
                  </a:lnTo>
                  <a:lnTo>
                    <a:pt x="49212" y="548284"/>
                  </a:lnTo>
                  <a:lnTo>
                    <a:pt x="54711" y="548639"/>
                  </a:lnTo>
                  <a:lnTo>
                    <a:pt x="3877195" y="548284"/>
                  </a:lnTo>
                  <a:lnTo>
                    <a:pt x="3915849" y="532358"/>
                  </a:lnTo>
                  <a:lnTo>
                    <a:pt x="3929997" y="508011"/>
                  </a:lnTo>
                  <a:lnTo>
                    <a:pt x="3930072" y="507787"/>
                  </a:lnTo>
                  <a:lnTo>
                    <a:pt x="3931410" y="500987"/>
                  </a:lnTo>
                  <a:lnTo>
                    <a:pt x="3931452" y="500776"/>
                  </a:lnTo>
                  <a:lnTo>
                    <a:pt x="3931896" y="493928"/>
                  </a:lnTo>
                  <a:lnTo>
                    <a:pt x="3931551" y="54724"/>
                  </a:lnTo>
                  <a:lnTo>
                    <a:pt x="3915625" y="16070"/>
                  </a:lnTo>
                  <a:lnTo>
                    <a:pt x="3884048" y="467"/>
                  </a:lnTo>
                  <a:lnTo>
                    <a:pt x="3876840" y="0"/>
                  </a:lnTo>
                  <a:close/>
                </a:path>
              </a:pathLst>
            </a:custGeom>
            <a:solidFill>
              <a:srgbClr val="050F1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959764" y="1846797"/>
              <a:ext cx="3931920" cy="548640"/>
            </a:xfrm>
            <a:custGeom>
              <a:avLst/>
              <a:gdLst/>
              <a:ahLst/>
              <a:cxnLst/>
              <a:rect l="l" t="t" r="r" b="b"/>
              <a:pathLst>
                <a:path w="3931920" h="548639">
                  <a:moveTo>
                    <a:pt x="0" y="54724"/>
                  </a:moveTo>
                  <a:lnTo>
                    <a:pt x="466" y="47515"/>
                  </a:lnTo>
                  <a:lnTo>
                    <a:pt x="1843" y="40508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3876840" y="0"/>
                  </a:lnTo>
                  <a:lnTo>
                    <a:pt x="3915625" y="16070"/>
                  </a:lnTo>
                  <a:lnTo>
                    <a:pt x="3931551" y="54724"/>
                  </a:lnTo>
                  <a:lnTo>
                    <a:pt x="3931920" y="493560"/>
                  </a:lnTo>
                  <a:lnTo>
                    <a:pt x="3931452" y="500776"/>
                  </a:lnTo>
                  <a:lnTo>
                    <a:pt x="3930072" y="507787"/>
                  </a:lnTo>
                  <a:lnTo>
                    <a:pt x="3904551" y="541083"/>
                  </a:lnTo>
                  <a:lnTo>
                    <a:pt x="54711" y="548639"/>
                  </a:lnTo>
                  <a:lnTo>
                    <a:pt x="15925" y="532580"/>
                  </a:lnTo>
                  <a:lnTo>
                    <a:pt x="0" y="493928"/>
                  </a:lnTo>
                  <a:lnTo>
                    <a:pt x="0" y="54724"/>
                  </a:lnTo>
                  <a:close/>
                </a:path>
              </a:pathLst>
            </a:custGeom>
            <a:ln w="9359">
              <a:solidFill>
                <a:srgbClr val="2345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962901" y="1987107"/>
            <a:ext cx="25768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2CD3BE"/>
                </a:solidFill>
                <a:latin typeface="Courier New"/>
                <a:cs typeface="Courier New"/>
                <a:hlinkClick r:id="rId2"/>
              </a:rPr>
              <a:t>http://127.0.0.1:8000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153659" y="2001509"/>
            <a:ext cx="22955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Open</a:t>
            </a:r>
            <a:r>
              <a:rPr dirty="0" sz="1400" spc="-2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the</a:t>
            </a:r>
            <a:r>
              <a:rPr dirty="0" sz="1400" spc="-2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app</a:t>
            </a:r>
            <a:r>
              <a:rPr dirty="0" sz="1400" spc="-2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in</a:t>
            </a:r>
            <a:r>
              <a:rPr dirty="0" sz="1400" spc="-2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a</a:t>
            </a:r>
            <a:r>
              <a:rPr dirty="0" sz="1400" spc="-2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web</a:t>
            </a:r>
            <a:r>
              <a:rPr dirty="0" sz="1400" spc="-2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browser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56844" y="2624037"/>
            <a:ext cx="311150" cy="311150"/>
          </a:xfrm>
          <a:custGeom>
            <a:avLst/>
            <a:gdLst/>
            <a:ahLst/>
            <a:cxnLst/>
            <a:rect l="l" t="t" r="r" b="b"/>
            <a:pathLst>
              <a:path w="311150" h="311150">
                <a:moveTo>
                  <a:pt x="155511" y="0"/>
                </a:moveTo>
                <a:lnTo>
                  <a:pt x="115282" y="5310"/>
                </a:lnTo>
                <a:lnTo>
                  <a:pt x="77749" y="20878"/>
                </a:lnTo>
                <a:lnTo>
                  <a:pt x="45537" y="45543"/>
                </a:lnTo>
                <a:lnTo>
                  <a:pt x="20878" y="77762"/>
                </a:lnTo>
                <a:lnTo>
                  <a:pt x="5310" y="115295"/>
                </a:lnTo>
                <a:lnTo>
                  <a:pt x="0" y="155524"/>
                </a:lnTo>
                <a:lnTo>
                  <a:pt x="1338" y="175873"/>
                </a:lnTo>
                <a:lnTo>
                  <a:pt x="11846" y="214958"/>
                </a:lnTo>
                <a:lnTo>
                  <a:pt x="32195" y="250273"/>
                </a:lnTo>
                <a:lnTo>
                  <a:pt x="60767" y="278847"/>
                </a:lnTo>
                <a:lnTo>
                  <a:pt x="96077" y="299202"/>
                </a:lnTo>
                <a:lnTo>
                  <a:pt x="135161" y="309709"/>
                </a:lnTo>
                <a:lnTo>
                  <a:pt x="155511" y="311048"/>
                </a:lnTo>
                <a:lnTo>
                  <a:pt x="175866" y="309709"/>
                </a:lnTo>
                <a:lnTo>
                  <a:pt x="214947" y="299202"/>
                </a:lnTo>
                <a:lnTo>
                  <a:pt x="250262" y="278847"/>
                </a:lnTo>
                <a:lnTo>
                  <a:pt x="278840" y="250273"/>
                </a:lnTo>
                <a:lnTo>
                  <a:pt x="299189" y="214958"/>
                </a:lnTo>
                <a:lnTo>
                  <a:pt x="309696" y="175873"/>
                </a:lnTo>
                <a:lnTo>
                  <a:pt x="311035" y="155524"/>
                </a:lnTo>
                <a:lnTo>
                  <a:pt x="309696" y="135174"/>
                </a:lnTo>
                <a:lnTo>
                  <a:pt x="299189" y="96089"/>
                </a:lnTo>
                <a:lnTo>
                  <a:pt x="278840" y="60774"/>
                </a:lnTo>
                <a:lnTo>
                  <a:pt x="250262" y="32201"/>
                </a:lnTo>
                <a:lnTo>
                  <a:pt x="214947" y="11846"/>
                </a:lnTo>
                <a:lnTo>
                  <a:pt x="175866" y="1338"/>
                </a:lnTo>
                <a:lnTo>
                  <a:pt x="155511" y="0"/>
                </a:lnTo>
                <a:close/>
              </a:path>
            </a:pathLst>
          </a:custGeom>
          <a:solidFill>
            <a:srgbClr val="2CD3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561136" y="2675053"/>
            <a:ext cx="1028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 b="1">
                <a:solidFill>
                  <a:srgbClr val="09182F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955084" y="2500562"/>
            <a:ext cx="3941445" cy="558165"/>
            <a:chOff x="955084" y="2500562"/>
            <a:chExt cx="3941445" cy="558165"/>
          </a:xfrm>
        </p:grpSpPr>
        <p:sp>
          <p:nvSpPr>
            <p:cNvPr id="20" name="object 20"/>
            <p:cNvSpPr/>
            <p:nvPr/>
          </p:nvSpPr>
          <p:spPr>
            <a:xfrm>
              <a:off x="959764" y="2505242"/>
              <a:ext cx="3931920" cy="548640"/>
            </a:xfrm>
            <a:custGeom>
              <a:avLst/>
              <a:gdLst/>
              <a:ahLst/>
              <a:cxnLst/>
              <a:rect l="l" t="t" r="r" b="b"/>
              <a:pathLst>
                <a:path w="3931920" h="548639">
                  <a:moveTo>
                    <a:pt x="387684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1" y="21422"/>
                  </a:lnTo>
                  <a:lnTo>
                    <a:pt x="0" y="54724"/>
                  </a:lnTo>
                  <a:lnTo>
                    <a:pt x="0" y="493915"/>
                  </a:lnTo>
                  <a:lnTo>
                    <a:pt x="3994" y="514514"/>
                  </a:lnTo>
                  <a:lnTo>
                    <a:pt x="4098" y="514830"/>
                  </a:lnTo>
                  <a:lnTo>
                    <a:pt x="33757" y="544541"/>
                  </a:lnTo>
                  <a:lnTo>
                    <a:pt x="48065" y="548284"/>
                  </a:lnTo>
                  <a:lnTo>
                    <a:pt x="49212" y="548284"/>
                  </a:lnTo>
                  <a:lnTo>
                    <a:pt x="54711" y="548640"/>
                  </a:lnTo>
                  <a:lnTo>
                    <a:pt x="3877195" y="548284"/>
                  </a:lnTo>
                  <a:lnTo>
                    <a:pt x="3915849" y="532347"/>
                  </a:lnTo>
                  <a:lnTo>
                    <a:pt x="3929995" y="508004"/>
                  </a:lnTo>
                  <a:lnTo>
                    <a:pt x="3930072" y="507776"/>
                  </a:lnTo>
                  <a:lnTo>
                    <a:pt x="3931411" y="500976"/>
                  </a:lnTo>
                  <a:lnTo>
                    <a:pt x="3931452" y="500768"/>
                  </a:lnTo>
                  <a:lnTo>
                    <a:pt x="3931896" y="493915"/>
                  </a:lnTo>
                  <a:lnTo>
                    <a:pt x="3931920" y="493560"/>
                  </a:lnTo>
                  <a:lnTo>
                    <a:pt x="3931551" y="54724"/>
                  </a:lnTo>
                  <a:lnTo>
                    <a:pt x="3915625" y="16063"/>
                  </a:lnTo>
                  <a:lnTo>
                    <a:pt x="3884048" y="466"/>
                  </a:lnTo>
                  <a:lnTo>
                    <a:pt x="3876840" y="0"/>
                  </a:lnTo>
                  <a:close/>
                </a:path>
              </a:pathLst>
            </a:custGeom>
            <a:solidFill>
              <a:srgbClr val="050F1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959764" y="2505242"/>
              <a:ext cx="3931920" cy="548640"/>
            </a:xfrm>
            <a:custGeom>
              <a:avLst/>
              <a:gdLst/>
              <a:ahLst/>
              <a:cxnLst/>
              <a:rect l="l" t="t" r="r" b="b"/>
              <a:pathLst>
                <a:path w="3931920" h="548639">
                  <a:moveTo>
                    <a:pt x="0" y="54724"/>
                  </a:moveTo>
                  <a:lnTo>
                    <a:pt x="466" y="47508"/>
                  </a:lnTo>
                  <a:lnTo>
                    <a:pt x="1843" y="40497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3876840" y="0"/>
                  </a:lnTo>
                  <a:lnTo>
                    <a:pt x="3915625" y="16063"/>
                  </a:lnTo>
                  <a:lnTo>
                    <a:pt x="3931551" y="54724"/>
                  </a:lnTo>
                  <a:lnTo>
                    <a:pt x="3931920" y="493560"/>
                  </a:lnTo>
                  <a:lnTo>
                    <a:pt x="3931452" y="500768"/>
                  </a:lnTo>
                  <a:lnTo>
                    <a:pt x="3930072" y="507776"/>
                  </a:lnTo>
                  <a:lnTo>
                    <a:pt x="3904551" y="541083"/>
                  </a:lnTo>
                  <a:lnTo>
                    <a:pt x="54711" y="548640"/>
                  </a:lnTo>
                  <a:lnTo>
                    <a:pt x="15925" y="532576"/>
                  </a:lnTo>
                  <a:lnTo>
                    <a:pt x="0" y="493915"/>
                  </a:lnTo>
                  <a:lnTo>
                    <a:pt x="0" y="54724"/>
                  </a:lnTo>
                  <a:close/>
                </a:path>
              </a:pathLst>
            </a:custGeom>
            <a:ln w="9359">
              <a:solidFill>
                <a:srgbClr val="2345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962901" y="2645551"/>
            <a:ext cx="63309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2CD3BE"/>
                </a:solidFill>
                <a:latin typeface="Courier New"/>
                <a:cs typeface="Courier New"/>
              </a:rPr>
              <a:t>/docs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153659" y="2659940"/>
            <a:ext cx="180340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API</a:t>
            </a:r>
            <a:r>
              <a:rPr dirty="0" sz="1400" spc="-1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documentation </a:t>
            </a:r>
            <a:r>
              <a:rPr dirty="0" sz="1400" spc="-20">
                <a:solidFill>
                  <a:srgbClr val="DBE6F2"/>
                </a:solidFill>
                <a:latin typeface="Calibri"/>
                <a:cs typeface="Calibri"/>
              </a:rPr>
              <a:t>page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56844" y="3282482"/>
            <a:ext cx="311150" cy="311150"/>
          </a:xfrm>
          <a:custGeom>
            <a:avLst/>
            <a:gdLst/>
            <a:ahLst/>
            <a:cxnLst/>
            <a:rect l="l" t="t" r="r" b="b"/>
            <a:pathLst>
              <a:path w="311150" h="311150">
                <a:moveTo>
                  <a:pt x="155511" y="0"/>
                </a:moveTo>
                <a:lnTo>
                  <a:pt x="115282" y="5310"/>
                </a:lnTo>
                <a:lnTo>
                  <a:pt x="77749" y="20878"/>
                </a:lnTo>
                <a:lnTo>
                  <a:pt x="45537" y="45539"/>
                </a:lnTo>
                <a:lnTo>
                  <a:pt x="20878" y="77762"/>
                </a:lnTo>
                <a:lnTo>
                  <a:pt x="5310" y="115290"/>
                </a:lnTo>
                <a:lnTo>
                  <a:pt x="0" y="155524"/>
                </a:lnTo>
                <a:lnTo>
                  <a:pt x="1338" y="175873"/>
                </a:lnTo>
                <a:lnTo>
                  <a:pt x="11846" y="214953"/>
                </a:lnTo>
                <a:lnTo>
                  <a:pt x="32195" y="250262"/>
                </a:lnTo>
                <a:lnTo>
                  <a:pt x="60767" y="278840"/>
                </a:lnTo>
                <a:lnTo>
                  <a:pt x="96077" y="299189"/>
                </a:lnTo>
                <a:lnTo>
                  <a:pt x="135161" y="309696"/>
                </a:lnTo>
                <a:lnTo>
                  <a:pt x="155511" y="311035"/>
                </a:lnTo>
                <a:lnTo>
                  <a:pt x="175866" y="309696"/>
                </a:lnTo>
                <a:lnTo>
                  <a:pt x="214947" y="299189"/>
                </a:lnTo>
                <a:lnTo>
                  <a:pt x="250262" y="278840"/>
                </a:lnTo>
                <a:lnTo>
                  <a:pt x="278840" y="250262"/>
                </a:lnTo>
                <a:lnTo>
                  <a:pt x="299189" y="214953"/>
                </a:lnTo>
                <a:lnTo>
                  <a:pt x="309696" y="175873"/>
                </a:lnTo>
                <a:lnTo>
                  <a:pt x="311035" y="155524"/>
                </a:lnTo>
                <a:lnTo>
                  <a:pt x="309696" y="135169"/>
                </a:lnTo>
                <a:lnTo>
                  <a:pt x="299189" y="96088"/>
                </a:lnTo>
                <a:lnTo>
                  <a:pt x="278840" y="60773"/>
                </a:lnTo>
                <a:lnTo>
                  <a:pt x="250262" y="32195"/>
                </a:lnTo>
                <a:lnTo>
                  <a:pt x="214947" y="11846"/>
                </a:lnTo>
                <a:lnTo>
                  <a:pt x="175866" y="1338"/>
                </a:lnTo>
                <a:lnTo>
                  <a:pt x="155511" y="0"/>
                </a:lnTo>
                <a:close/>
              </a:path>
            </a:pathLst>
          </a:custGeom>
          <a:solidFill>
            <a:srgbClr val="2CD3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561136" y="3333498"/>
            <a:ext cx="1028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 b="1">
                <a:solidFill>
                  <a:srgbClr val="09182F"/>
                </a:solidFill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955084" y="3158638"/>
            <a:ext cx="3941445" cy="558165"/>
            <a:chOff x="955084" y="3158638"/>
            <a:chExt cx="3941445" cy="558165"/>
          </a:xfrm>
        </p:grpSpPr>
        <p:sp>
          <p:nvSpPr>
            <p:cNvPr id="27" name="object 27"/>
            <p:cNvSpPr/>
            <p:nvPr/>
          </p:nvSpPr>
          <p:spPr>
            <a:xfrm>
              <a:off x="959764" y="3163318"/>
              <a:ext cx="3931920" cy="548640"/>
            </a:xfrm>
            <a:custGeom>
              <a:avLst/>
              <a:gdLst/>
              <a:ahLst/>
              <a:cxnLst/>
              <a:rect l="l" t="t" r="r" b="b"/>
              <a:pathLst>
                <a:path w="3931920" h="548639">
                  <a:moveTo>
                    <a:pt x="3876840" y="0"/>
                  </a:moveTo>
                  <a:lnTo>
                    <a:pt x="54711" y="0"/>
                  </a:lnTo>
                  <a:lnTo>
                    <a:pt x="47652" y="467"/>
                  </a:lnTo>
                  <a:lnTo>
                    <a:pt x="11273" y="21433"/>
                  </a:lnTo>
                  <a:lnTo>
                    <a:pt x="0" y="54724"/>
                  </a:lnTo>
                  <a:lnTo>
                    <a:pt x="0" y="493928"/>
                  </a:lnTo>
                  <a:lnTo>
                    <a:pt x="15925" y="532580"/>
                  </a:lnTo>
                  <a:lnTo>
                    <a:pt x="48065" y="548284"/>
                  </a:lnTo>
                  <a:lnTo>
                    <a:pt x="49212" y="548284"/>
                  </a:lnTo>
                  <a:lnTo>
                    <a:pt x="54711" y="548640"/>
                  </a:lnTo>
                  <a:lnTo>
                    <a:pt x="3877195" y="548284"/>
                  </a:lnTo>
                  <a:lnTo>
                    <a:pt x="3915849" y="532358"/>
                  </a:lnTo>
                  <a:lnTo>
                    <a:pt x="3929997" y="508011"/>
                  </a:lnTo>
                  <a:lnTo>
                    <a:pt x="3930072" y="507787"/>
                  </a:lnTo>
                  <a:lnTo>
                    <a:pt x="3931410" y="500987"/>
                  </a:lnTo>
                  <a:lnTo>
                    <a:pt x="3931452" y="500776"/>
                  </a:lnTo>
                  <a:lnTo>
                    <a:pt x="3931896" y="493928"/>
                  </a:lnTo>
                  <a:lnTo>
                    <a:pt x="3931920" y="493560"/>
                  </a:lnTo>
                  <a:lnTo>
                    <a:pt x="3931551" y="54724"/>
                  </a:lnTo>
                  <a:lnTo>
                    <a:pt x="3915625" y="16070"/>
                  </a:lnTo>
                  <a:lnTo>
                    <a:pt x="3884048" y="467"/>
                  </a:lnTo>
                  <a:lnTo>
                    <a:pt x="3876840" y="0"/>
                  </a:lnTo>
                  <a:close/>
                </a:path>
              </a:pathLst>
            </a:custGeom>
            <a:solidFill>
              <a:srgbClr val="050F1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959764" y="3163318"/>
              <a:ext cx="3931920" cy="548640"/>
            </a:xfrm>
            <a:custGeom>
              <a:avLst/>
              <a:gdLst/>
              <a:ahLst/>
              <a:cxnLst/>
              <a:rect l="l" t="t" r="r" b="b"/>
              <a:pathLst>
                <a:path w="3931920" h="548639">
                  <a:moveTo>
                    <a:pt x="0" y="54724"/>
                  </a:moveTo>
                  <a:lnTo>
                    <a:pt x="466" y="47515"/>
                  </a:lnTo>
                  <a:lnTo>
                    <a:pt x="1843" y="40508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3876840" y="0"/>
                  </a:lnTo>
                  <a:lnTo>
                    <a:pt x="3915625" y="16070"/>
                  </a:lnTo>
                  <a:lnTo>
                    <a:pt x="3931551" y="54724"/>
                  </a:lnTo>
                  <a:lnTo>
                    <a:pt x="3931920" y="493560"/>
                  </a:lnTo>
                  <a:lnTo>
                    <a:pt x="3931452" y="500776"/>
                  </a:lnTo>
                  <a:lnTo>
                    <a:pt x="3930072" y="507787"/>
                  </a:lnTo>
                  <a:lnTo>
                    <a:pt x="3904551" y="541083"/>
                  </a:lnTo>
                  <a:lnTo>
                    <a:pt x="54711" y="548640"/>
                  </a:lnTo>
                  <a:lnTo>
                    <a:pt x="15925" y="532580"/>
                  </a:lnTo>
                  <a:lnTo>
                    <a:pt x="0" y="493928"/>
                  </a:lnTo>
                  <a:lnTo>
                    <a:pt x="0" y="54724"/>
                  </a:lnTo>
                  <a:close/>
                </a:path>
              </a:pathLst>
            </a:custGeom>
            <a:ln w="9359">
              <a:solidFill>
                <a:srgbClr val="2345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962901" y="3303627"/>
            <a:ext cx="13620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2CD3BE"/>
                </a:solidFill>
                <a:latin typeface="Courier New"/>
                <a:cs typeface="Courier New"/>
              </a:rPr>
              <a:t>/api/health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153659" y="3318029"/>
            <a:ext cx="237807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Check</a:t>
            </a:r>
            <a:r>
              <a:rPr dirty="0" sz="1400" spc="-3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that</a:t>
            </a:r>
            <a:r>
              <a:rPr dirty="0" sz="1400" spc="-3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the</a:t>
            </a:r>
            <a:r>
              <a:rPr dirty="0" sz="1400" spc="-4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service</a:t>
            </a:r>
            <a:r>
              <a:rPr dirty="0" sz="1400" spc="-2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is</a:t>
            </a:r>
            <a:r>
              <a:rPr dirty="0" sz="1400" spc="-3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running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56844" y="3940557"/>
            <a:ext cx="311150" cy="311150"/>
          </a:xfrm>
          <a:custGeom>
            <a:avLst/>
            <a:gdLst/>
            <a:ahLst/>
            <a:cxnLst/>
            <a:rect l="l" t="t" r="r" b="b"/>
            <a:pathLst>
              <a:path w="311150" h="311150">
                <a:moveTo>
                  <a:pt x="155511" y="0"/>
                </a:moveTo>
                <a:lnTo>
                  <a:pt x="115282" y="5310"/>
                </a:lnTo>
                <a:lnTo>
                  <a:pt x="77749" y="20878"/>
                </a:lnTo>
                <a:lnTo>
                  <a:pt x="45537" y="45543"/>
                </a:lnTo>
                <a:lnTo>
                  <a:pt x="20878" y="77762"/>
                </a:lnTo>
                <a:lnTo>
                  <a:pt x="5310" y="115295"/>
                </a:lnTo>
                <a:lnTo>
                  <a:pt x="0" y="155524"/>
                </a:lnTo>
                <a:lnTo>
                  <a:pt x="1338" y="175873"/>
                </a:lnTo>
                <a:lnTo>
                  <a:pt x="11846" y="214958"/>
                </a:lnTo>
                <a:lnTo>
                  <a:pt x="32195" y="250273"/>
                </a:lnTo>
                <a:lnTo>
                  <a:pt x="60767" y="278847"/>
                </a:lnTo>
                <a:lnTo>
                  <a:pt x="96077" y="299202"/>
                </a:lnTo>
                <a:lnTo>
                  <a:pt x="135161" y="309709"/>
                </a:lnTo>
                <a:lnTo>
                  <a:pt x="155511" y="311048"/>
                </a:lnTo>
                <a:lnTo>
                  <a:pt x="175866" y="309709"/>
                </a:lnTo>
                <a:lnTo>
                  <a:pt x="214947" y="299202"/>
                </a:lnTo>
                <a:lnTo>
                  <a:pt x="250262" y="278847"/>
                </a:lnTo>
                <a:lnTo>
                  <a:pt x="278840" y="250273"/>
                </a:lnTo>
                <a:lnTo>
                  <a:pt x="299189" y="214958"/>
                </a:lnTo>
                <a:lnTo>
                  <a:pt x="309696" y="175873"/>
                </a:lnTo>
                <a:lnTo>
                  <a:pt x="311035" y="155524"/>
                </a:lnTo>
                <a:lnTo>
                  <a:pt x="309696" y="135174"/>
                </a:lnTo>
                <a:lnTo>
                  <a:pt x="299189" y="96089"/>
                </a:lnTo>
                <a:lnTo>
                  <a:pt x="278840" y="60774"/>
                </a:lnTo>
                <a:lnTo>
                  <a:pt x="250262" y="32201"/>
                </a:lnTo>
                <a:lnTo>
                  <a:pt x="214947" y="11846"/>
                </a:lnTo>
                <a:lnTo>
                  <a:pt x="175866" y="1338"/>
                </a:lnTo>
                <a:lnTo>
                  <a:pt x="155511" y="0"/>
                </a:lnTo>
                <a:close/>
              </a:path>
            </a:pathLst>
          </a:custGeom>
          <a:solidFill>
            <a:srgbClr val="2CD3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561136" y="3991573"/>
            <a:ext cx="1028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 b="1">
                <a:solidFill>
                  <a:srgbClr val="09182F"/>
                </a:solidFill>
                <a:latin typeface="Calibri"/>
                <a:cs typeface="Calibri"/>
              </a:rPr>
              <a:t>5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955084" y="3817082"/>
            <a:ext cx="3941445" cy="558165"/>
            <a:chOff x="955084" y="3817082"/>
            <a:chExt cx="3941445" cy="558165"/>
          </a:xfrm>
        </p:grpSpPr>
        <p:sp>
          <p:nvSpPr>
            <p:cNvPr id="34" name="object 34"/>
            <p:cNvSpPr/>
            <p:nvPr/>
          </p:nvSpPr>
          <p:spPr>
            <a:xfrm>
              <a:off x="959764" y="3821762"/>
              <a:ext cx="3931920" cy="548640"/>
            </a:xfrm>
            <a:custGeom>
              <a:avLst/>
              <a:gdLst/>
              <a:ahLst/>
              <a:cxnLst/>
              <a:rect l="l" t="t" r="r" b="b"/>
              <a:pathLst>
                <a:path w="3931920" h="548639">
                  <a:moveTo>
                    <a:pt x="387684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1" y="21422"/>
                  </a:lnTo>
                  <a:lnTo>
                    <a:pt x="0" y="54724"/>
                  </a:lnTo>
                  <a:lnTo>
                    <a:pt x="0" y="493915"/>
                  </a:lnTo>
                  <a:lnTo>
                    <a:pt x="3994" y="514514"/>
                  </a:lnTo>
                  <a:lnTo>
                    <a:pt x="4098" y="514830"/>
                  </a:lnTo>
                  <a:lnTo>
                    <a:pt x="33757" y="544541"/>
                  </a:lnTo>
                  <a:lnTo>
                    <a:pt x="48065" y="548284"/>
                  </a:lnTo>
                  <a:lnTo>
                    <a:pt x="49212" y="548284"/>
                  </a:lnTo>
                  <a:lnTo>
                    <a:pt x="54711" y="548639"/>
                  </a:lnTo>
                  <a:lnTo>
                    <a:pt x="3877195" y="548284"/>
                  </a:lnTo>
                  <a:lnTo>
                    <a:pt x="3915849" y="532347"/>
                  </a:lnTo>
                  <a:lnTo>
                    <a:pt x="3929995" y="508004"/>
                  </a:lnTo>
                  <a:lnTo>
                    <a:pt x="3930072" y="507776"/>
                  </a:lnTo>
                  <a:lnTo>
                    <a:pt x="3931411" y="500976"/>
                  </a:lnTo>
                  <a:lnTo>
                    <a:pt x="3931452" y="500768"/>
                  </a:lnTo>
                  <a:lnTo>
                    <a:pt x="3931896" y="493915"/>
                  </a:lnTo>
                  <a:lnTo>
                    <a:pt x="3931551" y="54724"/>
                  </a:lnTo>
                  <a:lnTo>
                    <a:pt x="3915625" y="16063"/>
                  </a:lnTo>
                  <a:lnTo>
                    <a:pt x="3884048" y="466"/>
                  </a:lnTo>
                  <a:lnTo>
                    <a:pt x="3876840" y="0"/>
                  </a:lnTo>
                  <a:close/>
                </a:path>
              </a:pathLst>
            </a:custGeom>
            <a:solidFill>
              <a:srgbClr val="050F1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959764" y="3821762"/>
              <a:ext cx="3931920" cy="548640"/>
            </a:xfrm>
            <a:custGeom>
              <a:avLst/>
              <a:gdLst/>
              <a:ahLst/>
              <a:cxnLst/>
              <a:rect l="l" t="t" r="r" b="b"/>
              <a:pathLst>
                <a:path w="3931920" h="548639">
                  <a:moveTo>
                    <a:pt x="0" y="54724"/>
                  </a:moveTo>
                  <a:lnTo>
                    <a:pt x="466" y="47508"/>
                  </a:lnTo>
                  <a:lnTo>
                    <a:pt x="1843" y="40497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3876840" y="0"/>
                  </a:lnTo>
                  <a:lnTo>
                    <a:pt x="3915625" y="16063"/>
                  </a:lnTo>
                  <a:lnTo>
                    <a:pt x="3931551" y="54724"/>
                  </a:lnTo>
                  <a:lnTo>
                    <a:pt x="3931920" y="493560"/>
                  </a:lnTo>
                  <a:lnTo>
                    <a:pt x="3931452" y="500768"/>
                  </a:lnTo>
                  <a:lnTo>
                    <a:pt x="3930072" y="507776"/>
                  </a:lnTo>
                  <a:lnTo>
                    <a:pt x="3904551" y="541083"/>
                  </a:lnTo>
                  <a:lnTo>
                    <a:pt x="54711" y="548639"/>
                  </a:lnTo>
                  <a:lnTo>
                    <a:pt x="15925" y="532576"/>
                  </a:lnTo>
                  <a:lnTo>
                    <a:pt x="0" y="493915"/>
                  </a:lnTo>
                  <a:lnTo>
                    <a:pt x="0" y="54724"/>
                  </a:lnTo>
                  <a:close/>
                </a:path>
              </a:pathLst>
            </a:custGeom>
            <a:ln w="9359">
              <a:solidFill>
                <a:srgbClr val="2345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/>
          <p:cNvSpPr txBox="1"/>
          <p:nvPr/>
        </p:nvSpPr>
        <p:spPr>
          <a:xfrm>
            <a:off x="962901" y="3962071"/>
            <a:ext cx="14827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2CD3BE"/>
                </a:solidFill>
                <a:latin typeface="Courier New"/>
                <a:cs typeface="Courier New"/>
              </a:rPr>
              <a:t>/api/predict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153659" y="3976460"/>
            <a:ext cx="235394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Request</a:t>
            </a:r>
            <a:r>
              <a:rPr dirty="0" sz="1400" spc="-3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a</a:t>
            </a: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DBE6F2"/>
                </a:solidFill>
                <a:latin typeface="Calibri"/>
                <a:cs typeface="Calibri"/>
              </a:rPr>
              <a:t>link-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quality</a:t>
            </a:r>
            <a:r>
              <a:rPr dirty="0" sz="1400" spc="-2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prediction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KLH</a:t>
            </a:r>
            <a:r>
              <a:rPr dirty="0" spc="-35"/>
              <a:t> </a:t>
            </a:r>
            <a:r>
              <a:rPr dirty="0"/>
              <a:t>University</a:t>
            </a:r>
            <a:r>
              <a:rPr dirty="0" spc="175"/>
              <a:t> </a:t>
            </a:r>
            <a:r>
              <a:rPr dirty="0"/>
              <a:t>|</a:t>
            </a:r>
            <a:r>
              <a:rPr dirty="0" spc="175"/>
              <a:t> </a:t>
            </a:r>
            <a:r>
              <a:rPr dirty="0"/>
              <a:t>Dept.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ECE</a:t>
            </a:r>
            <a:r>
              <a:rPr dirty="0" spc="170"/>
              <a:t> </a:t>
            </a:r>
            <a:r>
              <a:rPr dirty="0"/>
              <a:t>|</a:t>
            </a:r>
            <a:r>
              <a:rPr dirty="0" spc="175"/>
              <a:t> </a:t>
            </a:r>
            <a:r>
              <a:rPr dirty="0"/>
              <a:t>Machine</a:t>
            </a:r>
            <a:r>
              <a:rPr dirty="0" spc="-25"/>
              <a:t> </a:t>
            </a:r>
            <a:r>
              <a:rPr dirty="0"/>
              <a:t>Learning</a:t>
            </a:r>
            <a:r>
              <a:rPr dirty="0" spc="-25"/>
              <a:t> </a:t>
            </a:r>
            <a:r>
              <a:rPr dirty="0" spc="-10"/>
              <a:t>(25SC2107E)</a:t>
            </a:r>
          </a:p>
        </p:txBody>
      </p:sp>
      <p:sp>
        <p:nvSpPr>
          <p:cNvPr id="38" name="object 3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 spc="-25"/>
              <a:t>12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749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Conclusion,</a:t>
            </a:r>
            <a:r>
              <a:rPr dirty="0" spc="-80"/>
              <a:t> </a:t>
            </a:r>
            <a:r>
              <a:rPr dirty="0" spc="-10"/>
              <a:t>Limitations</a:t>
            </a:r>
            <a:r>
              <a:rPr dirty="0" spc="-85"/>
              <a:t> </a:t>
            </a:r>
            <a:r>
              <a:rPr dirty="0"/>
              <a:t>and</a:t>
            </a:r>
            <a:r>
              <a:rPr dirty="0" spc="-80"/>
              <a:t> </a:t>
            </a:r>
            <a:r>
              <a:rPr dirty="0"/>
              <a:t>Future</a:t>
            </a:r>
            <a:r>
              <a:rPr dirty="0" spc="-75"/>
              <a:t> </a:t>
            </a:r>
            <a:r>
              <a:rPr dirty="0" spc="-20"/>
              <a:t>Work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2164" y="1137966"/>
            <a:ext cx="2386965" cy="2935605"/>
            <a:chOff x="452164" y="1137966"/>
            <a:chExt cx="2386965" cy="2935605"/>
          </a:xfrm>
        </p:grpSpPr>
        <p:sp>
          <p:nvSpPr>
            <p:cNvPr id="4" name="object 4"/>
            <p:cNvSpPr/>
            <p:nvPr/>
          </p:nvSpPr>
          <p:spPr>
            <a:xfrm>
              <a:off x="456844" y="1142646"/>
              <a:ext cx="2377440" cy="2926080"/>
            </a:xfrm>
            <a:custGeom>
              <a:avLst/>
              <a:gdLst/>
              <a:ahLst/>
              <a:cxnLst/>
              <a:rect l="l" t="t" r="r" b="b"/>
              <a:pathLst>
                <a:path w="2377440" h="2926079">
                  <a:moveTo>
                    <a:pt x="230399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2852991"/>
                  </a:lnTo>
                  <a:lnTo>
                    <a:pt x="594" y="2862269"/>
                  </a:lnTo>
                  <a:lnTo>
                    <a:pt x="607" y="2862469"/>
                  </a:lnTo>
                  <a:lnTo>
                    <a:pt x="2394" y="2871670"/>
                  </a:lnTo>
                  <a:lnTo>
                    <a:pt x="2428" y="2871847"/>
                  </a:lnTo>
                  <a:lnTo>
                    <a:pt x="28548" y="2910970"/>
                  </a:lnTo>
                  <a:lnTo>
                    <a:pt x="73075" y="2926079"/>
                  </a:lnTo>
                  <a:lnTo>
                    <a:pt x="2304351" y="2925711"/>
                  </a:lnTo>
                  <a:lnTo>
                    <a:pt x="2348729" y="2910620"/>
                  </a:lnTo>
                  <a:lnTo>
                    <a:pt x="2374949" y="2871847"/>
                  </a:lnTo>
                  <a:lnTo>
                    <a:pt x="2375009" y="2871670"/>
                  </a:lnTo>
                  <a:lnTo>
                    <a:pt x="2376793" y="2862469"/>
                  </a:lnTo>
                  <a:lnTo>
                    <a:pt x="2376832" y="2862269"/>
                  </a:lnTo>
                  <a:lnTo>
                    <a:pt x="2377417" y="2852991"/>
                  </a:lnTo>
                  <a:lnTo>
                    <a:pt x="2377440" y="2852635"/>
                  </a:lnTo>
                  <a:lnTo>
                    <a:pt x="2377071" y="73075"/>
                  </a:lnTo>
                  <a:lnTo>
                    <a:pt x="2361980" y="28698"/>
                  </a:lnTo>
                  <a:lnTo>
                    <a:pt x="2323030" y="2428"/>
                  </a:lnTo>
                  <a:lnTo>
                    <a:pt x="2313629" y="607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1127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456844" y="1142646"/>
              <a:ext cx="2377440" cy="2926080"/>
            </a:xfrm>
            <a:custGeom>
              <a:avLst/>
              <a:gdLst/>
              <a:ahLst/>
              <a:cxnLst/>
              <a:rect l="l" t="t" r="r" b="b"/>
              <a:pathLst>
                <a:path w="2377440" h="2926079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2303995" y="0"/>
                  </a:lnTo>
                  <a:lnTo>
                    <a:pt x="2348523" y="15096"/>
                  </a:lnTo>
                  <a:lnTo>
                    <a:pt x="2374642" y="54219"/>
                  </a:lnTo>
                  <a:lnTo>
                    <a:pt x="2377071" y="73075"/>
                  </a:lnTo>
                  <a:lnTo>
                    <a:pt x="2377440" y="2852635"/>
                  </a:lnTo>
                  <a:lnTo>
                    <a:pt x="2376832" y="2862269"/>
                  </a:lnTo>
                  <a:lnTo>
                    <a:pt x="2375009" y="2871670"/>
                  </a:lnTo>
                  <a:lnTo>
                    <a:pt x="2348729" y="2910620"/>
                  </a:lnTo>
                  <a:lnTo>
                    <a:pt x="2304351" y="2925711"/>
                  </a:lnTo>
                  <a:lnTo>
                    <a:pt x="73075" y="2926079"/>
                  </a:lnTo>
                  <a:lnTo>
                    <a:pt x="28548" y="2910970"/>
                  </a:lnTo>
                  <a:lnTo>
                    <a:pt x="2428" y="2871847"/>
                  </a:lnTo>
                  <a:lnTo>
                    <a:pt x="0" y="2852991"/>
                  </a:lnTo>
                  <a:lnTo>
                    <a:pt x="0" y="73075"/>
                  </a:lnTo>
                  <a:close/>
                </a:path>
              </a:pathLst>
            </a:custGeom>
            <a:ln w="9359">
              <a:solidFill>
                <a:srgbClr val="2345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627024" y="1294462"/>
            <a:ext cx="10566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2CD3BE"/>
                </a:solidFill>
                <a:latin typeface="Calibri"/>
                <a:cs typeface="Calibri"/>
              </a:rPr>
              <a:t>Conclusion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7024" y="1695147"/>
            <a:ext cx="8890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solidFill>
                  <a:srgbClr val="DBE6F2"/>
                </a:solidFill>
                <a:latin typeface="Arial"/>
                <a:cs typeface="Arial"/>
              </a:rPr>
              <a:t>•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7024" y="2424508"/>
            <a:ext cx="8890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solidFill>
                  <a:srgbClr val="DBE6F2"/>
                </a:solidFill>
                <a:latin typeface="Arial"/>
                <a:cs typeface="Arial"/>
              </a:rPr>
              <a:t>•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7024" y="2940382"/>
            <a:ext cx="8890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solidFill>
                  <a:srgbClr val="DBE6F2"/>
                </a:solidFill>
                <a:latin typeface="Arial"/>
                <a:cs typeface="Arial"/>
              </a:rPr>
              <a:t>•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04862" y="1724306"/>
            <a:ext cx="1834514" cy="16979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FedPer</a:t>
            </a:r>
            <a:r>
              <a:rPr dirty="0" sz="1400" spc="-3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(89.06%)</a:t>
            </a:r>
            <a:r>
              <a:rPr dirty="0" sz="1400" spc="-3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DBE6F2"/>
                </a:solidFill>
                <a:latin typeface="Calibri"/>
                <a:cs typeface="Calibri"/>
              </a:rPr>
              <a:t>beats </a:t>
            </a: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FedAvg</a:t>
            </a:r>
            <a:r>
              <a:rPr dirty="0" sz="1400" spc="-4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(82.89%)</a:t>
            </a:r>
            <a:r>
              <a:rPr dirty="0" sz="1400" spc="-4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on</a:t>
            </a:r>
            <a:r>
              <a:rPr dirty="0" sz="1400" spc="-4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DBE6F2"/>
                </a:solidFill>
                <a:latin typeface="Calibri"/>
                <a:cs typeface="Calibri"/>
              </a:rPr>
              <a:t>non-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IID</a:t>
            </a:r>
            <a:r>
              <a:rPr dirty="0" sz="1400" spc="-1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clients.</a:t>
            </a:r>
            <a:endParaRPr sz="1400">
              <a:latin typeface="Calibri"/>
              <a:cs typeface="Calibri"/>
            </a:endParaRPr>
          </a:p>
          <a:p>
            <a:pPr marL="12700" marR="24130">
              <a:lnSpc>
                <a:spcPct val="100000"/>
              </a:lnSpc>
              <a:spcBef>
                <a:spcPts val="700"/>
              </a:spcBef>
            </a:pP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Centralized</a:t>
            </a:r>
            <a:r>
              <a:rPr dirty="0" sz="1400" spc="-4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MLP:</a:t>
            </a:r>
            <a:r>
              <a:rPr dirty="0" sz="1400" spc="-4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93.13% reference.</a:t>
            </a:r>
            <a:endParaRPr sz="1400">
              <a:latin typeface="Calibri"/>
              <a:cs typeface="Calibri"/>
            </a:endParaRPr>
          </a:p>
          <a:p>
            <a:pPr marL="12700" marR="37465">
              <a:lnSpc>
                <a:spcPct val="100000"/>
              </a:lnSpc>
              <a:spcBef>
                <a:spcPts val="705"/>
              </a:spcBef>
            </a:pP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Hybrid:</a:t>
            </a:r>
            <a:r>
              <a:rPr dirty="0" sz="1400" spc="-4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97.93%</a:t>
            </a:r>
            <a:r>
              <a:rPr dirty="0" sz="1400" spc="-3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on</a:t>
            </a:r>
            <a:r>
              <a:rPr dirty="0" sz="1400" spc="-3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DBE6F2"/>
                </a:solidFill>
                <a:latin typeface="Calibri"/>
                <a:cs typeface="Calibri"/>
              </a:rPr>
              <a:t>2,998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test</a:t>
            </a:r>
            <a:r>
              <a:rPr dirty="0" sz="1400" spc="-7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rows.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012484" y="1137966"/>
            <a:ext cx="3118485" cy="2935605"/>
            <a:chOff x="3012484" y="1137966"/>
            <a:chExt cx="3118485" cy="2935605"/>
          </a:xfrm>
        </p:grpSpPr>
        <p:sp>
          <p:nvSpPr>
            <p:cNvPr id="12" name="object 12"/>
            <p:cNvSpPr/>
            <p:nvPr/>
          </p:nvSpPr>
          <p:spPr>
            <a:xfrm>
              <a:off x="3017164" y="1142646"/>
              <a:ext cx="3108960" cy="2926080"/>
            </a:xfrm>
            <a:custGeom>
              <a:avLst/>
              <a:gdLst/>
              <a:ahLst/>
              <a:cxnLst/>
              <a:rect l="l" t="t" r="r" b="b"/>
              <a:pathLst>
                <a:path w="3108960" h="2926079">
                  <a:moveTo>
                    <a:pt x="303551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2852991"/>
                  </a:lnTo>
                  <a:lnTo>
                    <a:pt x="594" y="2862269"/>
                  </a:lnTo>
                  <a:lnTo>
                    <a:pt x="607" y="2862469"/>
                  </a:lnTo>
                  <a:lnTo>
                    <a:pt x="2394" y="2871670"/>
                  </a:lnTo>
                  <a:lnTo>
                    <a:pt x="2428" y="2871847"/>
                  </a:lnTo>
                  <a:lnTo>
                    <a:pt x="5412" y="2880732"/>
                  </a:lnTo>
                  <a:lnTo>
                    <a:pt x="36360" y="2916351"/>
                  </a:lnTo>
                  <a:lnTo>
                    <a:pt x="73075" y="2926079"/>
                  </a:lnTo>
                  <a:lnTo>
                    <a:pt x="3035871" y="2925711"/>
                  </a:lnTo>
                  <a:lnTo>
                    <a:pt x="3080249" y="2910620"/>
                  </a:lnTo>
                  <a:lnTo>
                    <a:pt x="3106469" y="2871847"/>
                  </a:lnTo>
                  <a:lnTo>
                    <a:pt x="3108313" y="2862469"/>
                  </a:lnTo>
                  <a:lnTo>
                    <a:pt x="3108352" y="2862269"/>
                  </a:lnTo>
                  <a:lnTo>
                    <a:pt x="3108937" y="2852991"/>
                  </a:lnTo>
                  <a:lnTo>
                    <a:pt x="3108960" y="2852635"/>
                  </a:lnTo>
                  <a:lnTo>
                    <a:pt x="3108591" y="73075"/>
                  </a:lnTo>
                  <a:lnTo>
                    <a:pt x="3093500" y="28698"/>
                  </a:lnTo>
                  <a:lnTo>
                    <a:pt x="3054550" y="2428"/>
                  </a:lnTo>
                  <a:lnTo>
                    <a:pt x="3045149" y="607"/>
                  </a:lnTo>
                  <a:lnTo>
                    <a:pt x="3035515" y="0"/>
                  </a:lnTo>
                  <a:close/>
                </a:path>
              </a:pathLst>
            </a:custGeom>
            <a:solidFill>
              <a:srgbClr val="1127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017164" y="1142646"/>
              <a:ext cx="3108960" cy="2926080"/>
            </a:xfrm>
            <a:custGeom>
              <a:avLst/>
              <a:gdLst/>
              <a:ahLst/>
              <a:cxnLst/>
              <a:rect l="l" t="t" r="r" b="b"/>
              <a:pathLst>
                <a:path w="3108960" h="2926079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3035515" y="0"/>
                  </a:lnTo>
                  <a:lnTo>
                    <a:pt x="3080043" y="15096"/>
                  </a:lnTo>
                  <a:lnTo>
                    <a:pt x="3106162" y="54219"/>
                  </a:lnTo>
                  <a:lnTo>
                    <a:pt x="3108591" y="73075"/>
                  </a:lnTo>
                  <a:lnTo>
                    <a:pt x="3108960" y="2852635"/>
                  </a:lnTo>
                  <a:lnTo>
                    <a:pt x="3108352" y="2862269"/>
                  </a:lnTo>
                  <a:lnTo>
                    <a:pt x="3106529" y="2871670"/>
                  </a:lnTo>
                  <a:lnTo>
                    <a:pt x="3080249" y="2910620"/>
                  </a:lnTo>
                  <a:lnTo>
                    <a:pt x="3035871" y="2925711"/>
                  </a:lnTo>
                  <a:lnTo>
                    <a:pt x="73075" y="2926079"/>
                  </a:lnTo>
                  <a:lnTo>
                    <a:pt x="28548" y="2910970"/>
                  </a:lnTo>
                  <a:lnTo>
                    <a:pt x="2428" y="2871847"/>
                  </a:lnTo>
                  <a:lnTo>
                    <a:pt x="0" y="2852991"/>
                  </a:lnTo>
                  <a:lnTo>
                    <a:pt x="0" y="73075"/>
                  </a:lnTo>
                  <a:close/>
                </a:path>
              </a:pathLst>
            </a:custGeom>
            <a:ln w="9359">
              <a:solidFill>
                <a:srgbClr val="2345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3187344" y="1294462"/>
            <a:ext cx="10769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F4B841"/>
                </a:solidFill>
                <a:latin typeface="Calibri"/>
                <a:cs typeface="Calibri"/>
              </a:rPr>
              <a:t>Limitations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187344" y="1695147"/>
            <a:ext cx="8890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solidFill>
                  <a:srgbClr val="DBE6F2"/>
                </a:solidFill>
                <a:latin typeface="Arial"/>
                <a:cs typeface="Arial"/>
              </a:rPr>
              <a:t>•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187344" y="2424508"/>
            <a:ext cx="8890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solidFill>
                  <a:srgbClr val="DBE6F2"/>
                </a:solidFill>
                <a:latin typeface="Arial"/>
                <a:cs typeface="Arial"/>
              </a:rPr>
              <a:t>•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187344" y="2851388"/>
            <a:ext cx="88900" cy="630555"/>
          </a:xfrm>
          <a:prstGeom prst="rect">
            <a:avLst/>
          </a:prstGeom>
        </p:spPr>
        <p:txBody>
          <a:bodyPr wrap="square" lIns="0" tIns="1016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dirty="0" sz="1400" spc="-50">
                <a:solidFill>
                  <a:srgbClr val="DBE6F2"/>
                </a:solidFill>
                <a:latin typeface="Arial"/>
                <a:cs typeface="Arial"/>
              </a:rPr>
              <a:t>•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1400" spc="-50">
                <a:solidFill>
                  <a:srgbClr val="DBE6F2"/>
                </a:solidFill>
                <a:latin typeface="Arial"/>
                <a:cs typeface="Arial"/>
              </a:rPr>
              <a:t>•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365182" y="1724306"/>
            <a:ext cx="2430780" cy="2000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Labels</a:t>
            </a:r>
            <a:r>
              <a:rPr dirty="0" sz="1400" spc="-3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come</a:t>
            </a:r>
            <a:r>
              <a:rPr dirty="0" sz="1400" spc="-3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from</a:t>
            </a:r>
            <a:r>
              <a:rPr dirty="0" sz="1400" spc="-3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RSSI</a:t>
            </a:r>
            <a:r>
              <a:rPr dirty="0" sz="1400" spc="-4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rules,</a:t>
            </a:r>
            <a:r>
              <a:rPr dirty="0" sz="1400" spc="-4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DBE6F2"/>
                </a:solidFill>
                <a:latin typeface="Calibri"/>
                <a:cs typeface="Calibri"/>
              </a:rPr>
              <a:t>so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accuracy</a:t>
            </a:r>
            <a:r>
              <a:rPr dirty="0" sz="1400" spc="-3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is</a:t>
            </a:r>
            <a:r>
              <a:rPr dirty="0" sz="1400" spc="-3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not</a:t>
            </a:r>
            <a:r>
              <a:rPr dirty="0" sz="1400" spc="-3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real</a:t>
            </a:r>
            <a:r>
              <a:rPr dirty="0" sz="1400" spc="-3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speed</a:t>
            </a:r>
            <a:r>
              <a:rPr dirty="0" sz="1400" spc="-3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or</a:t>
            </a:r>
            <a:r>
              <a:rPr dirty="0" sz="1400" spc="-3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DBE6F2"/>
                </a:solidFill>
                <a:latin typeface="Calibri"/>
                <a:cs typeface="Calibri"/>
              </a:rPr>
              <a:t>user </a:t>
            </a: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experience.</a:t>
            </a:r>
            <a:endParaRPr sz="1400">
              <a:latin typeface="Calibri"/>
              <a:cs typeface="Calibri"/>
            </a:endParaRPr>
          </a:p>
          <a:p>
            <a:pPr marL="12700" marR="180975">
              <a:lnSpc>
                <a:spcPct val="100000"/>
              </a:lnSpc>
              <a:spcBef>
                <a:spcPts val="700"/>
              </a:spcBef>
            </a:pP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Clients</a:t>
            </a:r>
            <a:r>
              <a:rPr dirty="0" sz="1400" spc="-4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are</a:t>
            </a:r>
            <a:r>
              <a:rPr dirty="0" sz="1400" spc="-4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simulated</a:t>
            </a:r>
            <a:r>
              <a:rPr dirty="0" sz="1400" spc="-4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PHONEID groups.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No</a:t>
            </a:r>
            <a:r>
              <a:rPr dirty="0" sz="1400" spc="-1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live</a:t>
            </a:r>
            <a:r>
              <a:rPr dirty="0" sz="1400" spc="-20">
                <a:solidFill>
                  <a:srgbClr val="DBE6F2"/>
                </a:solidFill>
                <a:latin typeface="Calibri"/>
                <a:cs typeface="Calibri"/>
              </a:rPr>
              <a:t> federated</a:t>
            </a:r>
            <a:r>
              <a:rPr dirty="0" sz="1400" spc="-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training.</a:t>
            </a:r>
            <a:endParaRPr sz="1400">
              <a:latin typeface="Calibri"/>
              <a:cs typeface="Calibri"/>
            </a:endParaRPr>
          </a:p>
          <a:p>
            <a:pPr marL="12700" marR="78105">
              <a:lnSpc>
                <a:spcPct val="100000"/>
              </a:lnSpc>
              <a:spcBef>
                <a:spcPts val="700"/>
              </a:spcBef>
            </a:pP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Wi-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Fi</a:t>
            </a:r>
            <a:r>
              <a:rPr dirty="0" sz="1400" spc="-3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RSSI</a:t>
            </a:r>
            <a:r>
              <a:rPr dirty="0" sz="1400" spc="-2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DBE6F2"/>
                </a:solidFill>
                <a:latin typeface="Calibri"/>
                <a:cs typeface="Calibri"/>
              </a:rPr>
              <a:t>only,</a:t>
            </a:r>
            <a:r>
              <a:rPr dirty="0" sz="1400" spc="-3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not</a:t>
            </a:r>
            <a:r>
              <a:rPr dirty="0" sz="1400" spc="-2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CQI,</a:t>
            </a:r>
            <a:r>
              <a:rPr dirty="0" sz="1400" spc="-3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RSRP</a:t>
            </a:r>
            <a:r>
              <a:rPr dirty="0" sz="1400" spc="-25">
                <a:solidFill>
                  <a:srgbClr val="DBE6F2"/>
                </a:solidFill>
                <a:latin typeface="Calibri"/>
                <a:cs typeface="Calibri"/>
              </a:rPr>
              <a:t> or </a:t>
            </a: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RSRQ.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304324" y="1137966"/>
            <a:ext cx="2386965" cy="2935605"/>
            <a:chOff x="6304324" y="1137966"/>
            <a:chExt cx="2386965" cy="2935605"/>
          </a:xfrm>
        </p:grpSpPr>
        <p:sp>
          <p:nvSpPr>
            <p:cNvPr id="20" name="object 20"/>
            <p:cNvSpPr/>
            <p:nvPr/>
          </p:nvSpPr>
          <p:spPr>
            <a:xfrm>
              <a:off x="6309004" y="1142646"/>
              <a:ext cx="2377440" cy="2926080"/>
            </a:xfrm>
            <a:custGeom>
              <a:avLst/>
              <a:gdLst/>
              <a:ahLst/>
              <a:cxnLst/>
              <a:rect l="l" t="t" r="r" b="b"/>
              <a:pathLst>
                <a:path w="2377440" h="2926079">
                  <a:moveTo>
                    <a:pt x="230399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2852991"/>
                  </a:lnTo>
                  <a:lnTo>
                    <a:pt x="5412" y="2880732"/>
                  </a:lnTo>
                  <a:lnTo>
                    <a:pt x="5464" y="2880887"/>
                  </a:lnTo>
                  <a:lnTo>
                    <a:pt x="36360" y="2916351"/>
                  </a:lnTo>
                  <a:lnTo>
                    <a:pt x="73075" y="2926079"/>
                  </a:lnTo>
                  <a:lnTo>
                    <a:pt x="2304351" y="2925711"/>
                  </a:lnTo>
                  <a:lnTo>
                    <a:pt x="2348729" y="2910620"/>
                  </a:lnTo>
                  <a:lnTo>
                    <a:pt x="2374949" y="2871847"/>
                  </a:lnTo>
                  <a:lnTo>
                    <a:pt x="2376793" y="2862469"/>
                  </a:lnTo>
                  <a:lnTo>
                    <a:pt x="2376832" y="2862269"/>
                  </a:lnTo>
                  <a:lnTo>
                    <a:pt x="2377417" y="2852991"/>
                  </a:lnTo>
                  <a:lnTo>
                    <a:pt x="2377440" y="2852635"/>
                  </a:lnTo>
                  <a:lnTo>
                    <a:pt x="2377071" y="73075"/>
                  </a:lnTo>
                  <a:lnTo>
                    <a:pt x="2361980" y="28698"/>
                  </a:lnTo>
                  <a:lnTo>
                    <a:pt x="2323030" y="2428"/>
                  </a:lnTo>
                  <a:lnTo>
                    <a:pt x="2313629" y="607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1127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309004" y="1142646"/>
              <a:ext cx="2377440" cy="2926080"/>
            </a:xfrm>
            <a:custGeom>
              <a:avLst/>
              <a:gdLst/>
              <a:ahLst/>
              <a:cxnLst/>
              <a:rect l="l" t="t" r="r" b="b"/>
              <a:pathLst>
                <a:path w="2377440" h="2926079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2303995" y="0"/>
                  </a:lnTo>
                  <a:lnTo>
                    <a:pt x="2348523" y="15096"/>
                  </a:lnTo>
                  <a:lnTo>
                    <a:pt x="2374642" y="54219"/>
                  </a:lnTo>
                  <a:lnTo>
                    <a:pt x="2377071" y="73075"/>
                  </a:lnTo>
                  <a:lnTo>
                    <a:pt x="2377440" y="2852635"/>
                  </a:lnTo>
                  <a:lnTo>
                    <a:pt x="2376832" y="2862269"/>
                  </a:lnTo>
                  <a:lnTo>
                    <a:pt x="2375009" y="2871670"/>
                  </a:lnTo>
                  <a:lnTo>
                    <a:pt x="2348729" y="2910620"/>
                  </a:lnTo>
                  <a:lnTo>
                    <a:pt x="2304351" y="2925711"/>
                  </a:lnTo>
                  <a:lnTo>
                    <a:pt x="73075" y="2926079"/>
                  </a:lnTo>
                  <a:lnTo>
                    <a:pt x="28548" y="2910970"/>
                  </a:lnTo>
                  <a:lnTo>
                    <a:pt x="2428" y="2871847"/>
                  </a:lnTo>
                  <a:lnTo>
                    <a:pt x="0" y="2852991"/>
                  </a:lnTo>
                  <a:lnTo>
                    <a:pt x="0" y="73075"/>
                  </a:lnTo>
                  <a:close/>
                </a:path>
              </a:pathLst>
            </a:custGeom>
            <a:ln w="9359">
              <a:solidFill>
                <a:srgbClr val="2345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6479184" y="1294462"/>
            <a:ext cx="11817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37BCF7"/>
                </a:solidFill>
                <a:latin typeface="Calibri"/>
                <a:cs typeface="Calibri"/>
              </a:rPr>
              <a:t>Future</a:t>
            </a:r>
            <a:r>
              <a:rPr dirty="0" sz="1800" spc="-60" b="1">
                <a:solidFill>
                  <a:srgbClr val="37BCF7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37BCF7"/>
                </a:solidFill>
                <a:latin typeface="Calibri"/>
                <a:cs typeface="Calibri"/>
              </a:rPr>
              <a:t>work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479184" y="1695147"/>
            <a:ext cx="8890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solidFill>
                  <a:srgbClr val="DBE6F2"/>
                </a:solidFill>
                <a:latin typeface="Arial"/>
                <a:cs typeface="Arial"/>
              </a:rPr>
              <a:t>•</a:t>
            </a:r>
            <a:endParaRPr sz="1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479184" y="2211021"/>
            <a:ext cx="8890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solidFill>
                  <a:srgbClr val="DBE6F2"/>
                </a:solidFill>
                <a:latin typeface="Arial"/>
                <a:cs typeface="Arial"/>
              </a:rPr>
              <a:t>•</a:t>
            </a:r>
            <a:endParaRPr sz="14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479184" y="2726907"/>
            <a:ext cx="8890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solidFill>
                  <a:srgbClr val="DBE6F2"/>
                </a:solidFill>
                <a:latin typeface="Arial"/>
                <a:cs typeface="Arial"/>
              </a:rPr>
              <a:t>•</a:t>
            </a:r>
            <a:endParaRPr sz="14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479184" y="3242781"/>
            <a:ext cx="8890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solidFill>
                  <a:srgbClr val="DBE6F2"/>
                </a:solidFill>
                <a:latin typeface="Arial"/>
                <a:cs typeface="Arial"/>
              </a:rPr>
              <a:t>•</a:t>
            </a:r>
            <a:endParaRPr sz="14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657022" y="1724306"/>
            <a:ext cx="1833245" cy="17868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8161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Check</a:t>
            </a:r>
            <a:r>
              <a:rPr dirty="0" sz="1400" spc="-4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labels</a:t>
            </a:r>
            <a:r>
              <a:rPr dirty="0" sz="1400" spc="-4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against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measured</a:t>
            </a:r>
            <a:r>
              <a:rPr dirty="0" sz="1400" spc="-7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throughput.</a:t>
            </a:r>
            <a:endParaRPr sz="1400">
              <a:latin typeface="Calibri"/>
              <a:cs typeface="Calibri"/>
            </a:endParaRPr>
          </a:p>
          <a:p>
            <a:pPr marL="12700" marR="415290">
              <a:lnSpc>
                <a:spcPct val="100000"/>
              </a:lnSpc>
              <a:spcBef>
                <a:spcPts val="700"/>
              </a:spcBef>
            </a:pPr>
            <a:r>
              <a:rPr dirty="0" sz="1400" spc="-45">
                <a:solidFill>
                  <a:srgbClr val="DBE6F2"/>
                </a:solidFill>
                <a:latin typeface="Calibri"/>
                <a:cs typeface="Calibri"/>
              </a:rPr>
              <a:t>Test</a:t>
            </a:r>
            <a:r>
              <a:rPr dirty="0" sz="1400" spc="-2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on</a:t>
            </a: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real</a:t>
            </a:r>
            <a:r>
              <a:rPr dirty="0" sz="1400" spc="-1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cellular measures.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705"/>
              </a:spcBef>
            </a:pP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Compare</a:t>
            </a:r>
            <a:r>
              <a:rPr dirty="0" sz="1400" spc="-5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more</a:t>
            </a:r>
            <a:r>
              <a:rPr dirty="0" sz="1400" spc="-4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methods,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such</a:t>
            </a:r>
            <a:r>
              <a:rPr dirty="0" sz="1400" spc="-2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as</a:t>
            </a:r>
            <a:r>
              <a:rPr dirty="0" sz="1400" spc="-30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FedProx.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Pilot</a:t>
            </a:r>
            <a:r>
              <a:rPr dirty="0" sz="1400" spc="-3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on</a:t>
            </a:r>
            <a:r>
              <a:rPr dirty="0" sz="1400" spc="-3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DBE6F2"/>
                </a:solidFill>
                <a:latin typeface="Calibri"/>
                <a:cs typeface="Calibri"/>
              </a:rPr>
              <a:t>real</a:t>
            </a:r>
            <a:r>
              <a:rPr dirty="0" sz="1400" spc="-35">
                <a:solidFill>
                  <a:srgbClr val="DBE6F2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DBE6F2"/>
                </a:solidFill>
                <a:latin typeface="Calibri"/>
                <a:cs typeface="Calibri"/>
              </a:rPr>
              <a:t>devices.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KLH</a:t>
            </a:r>
            <a:r>
              <a:rPr dirty="0" spc="-35"/>
              <a:t> </a:t>
            </a:r>
            <a:r>
              <a:rPr dirty="0"/>
              <a:t>University</a:t>
            </a:r>
            <a:r>
              <a:rPr dirty="0" spc="175"/>
              <a:t> </a:t>
            </a:r>
            <a:r>
              <a:rPr dirty="0"/>
              <a:t>|</a:t>
            </a:r>
            <a:r>
              <a:rPr dirty="0" spc="175"/>
              <a:t> </a:t>
            </a:r>
            <a:r>
              <a:rPr dirty="0"/>
              <a:t>Dept.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ECE</a:t>
            </a:r>
            <a:r>
              <a:rPr dirty="0" spc="170"/>
              <a:t> </a:t>
            </a:r>
            <a:r>
              <a:rPr dirty="0"/>
              <a:t>|</a:t>
            </a:r>
            <a:r>
              <a:rPr dirty="0" spc="175"/>
              <a:t> </a:t>
            </a:r>
            <a:r>
              <a:rPr dirty="0"/>
              <a:t>Machine</a:t>
            </a:r>
            <a:r>
              <a:rPr dirty="0" spc="-25"/>
              <a:t> </a:t>
            </a:r>
            <a:r>
              <a:rPr dirty="0"/>
              <a:t>Learning</a:t>
            </a:r>
            <a:r>
              <a:rPr dirty="0" spc="-25"/>
              <a:t> </a:t>
            </a:r>
            <a:r>
              <a:rPr dirty="0" spc="-10"/>
              <a:t>(25SC2107E)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 spc="-25"/>
              <a:t>12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CD3BE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N. Pranay Chowdary, P. Sidhu Bhagavan, P. Mohan</dc:creator>
  <dc:subject>PptxGenJS Presentation</dc:subject>
  <dc:title>Personalised Federated Deep Learning for Wireless Link Quality Prediction</dc:title>
  <dcterms:created xsi:type="dcterms:W3CDTF">2026-10-15T04:19:52Z</dcterms:created>
  <dcterms:modified xsi:type="dcterms:W3CDTF">2026-10-15T04:19:52Z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2026-10-15T00:00:00Z</vt:filetime>
  </property>
  <property fmtid="{D5CDD505-2E9C-101B-9397-08002B2CF9AE}" pid="4" name="Creator">
    <vt:lpwstr>Impress</vt:lpwstr>
  </property>
  <property fmtid="{D5CDD505-2E9C-101B-9397-08002B2CF9AE}" pid="5" name="Producer">
    <vt:lpwstr>LibreOffice 24.2</vt:lpwstr>
  </property>
  <property fmtid="{D5CDD505-2E9C-101B-9397-08002B2CF9AE}" pid="6" name="LastSaved">
    <vt:filetime>2026-10-15T00:00:00Z</vt:filetime>
  </property>
</Properties>
</file>