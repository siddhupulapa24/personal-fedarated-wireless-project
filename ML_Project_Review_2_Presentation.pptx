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7160" y="0"/>
            <a:ext cx="45720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9235440" y="-2244090"/>
            <a:ext cx="4572000" cy="4572000"/>
          </a:xfrm>
          <a:prstGeom prst="ellipse">
            <a:avLst/>
          </a:prstGeom>
          <a:solidFill>
            <a:srgbClr val="14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10515600" y="5029200"/>
            <a:ext cx="274320" cy="27432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9875520" y="5669280"/>
            <a:ext cx="137160" cy="13716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11155680" y="4389120"/>
            <a:ext cx="182880" cy="182880"/>
          </a:xfrm>
          <a:prstGeom prst="ellipse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097280"/>
            <a:ext cx="3474720" cy="41148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1115568"/>
            <a:ext cx="32004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Machine Learning  |  25SC2107E  |  Project Review 2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9144000" cy="2286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400"/>
              </a:spcAft>
              <a:defRPr sz="4400" b="1">
                <a:solidFill>
                  <a:srgbClr val="FFFFFF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Personalized Federated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400"/>
              </a:spcAft>
              <a:defRPr sz="4400" b="1">
                <a:solidFill>
                  <a:srgbClr val="00D4AA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Deep Learning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1200"/>
              </a:spcAft>
              <a:defRPr sz="3600" b="0">
                <a:solidFill>
                  <a:srgbClr val="B0BEC5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for Wireless Link Quality Prediction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0"/>
              </a:spcAft>
              <a:defRPr sz="2400" b="1">
                <a:solidFill>
                  <a:srgbClr val="0096FF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Under Non-IID Cell Data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31520" y="5303520"/>
            <a:ext cx="1051560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5486400"/>
            <a:ext cx="4572000" cy="1097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B0BEC5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Dataset: UJIIndoorLoc Wi-Fi RSSI Fingerprint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600"/>
              </a:spcAft>
              <a:defRPr sz="1300" b="0">
                <a:solidFill>
                  <a:srgbClr val="B0BEC5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Framework: TensorFlow 2.20  |  Federated Personalization (FedPer)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600"/>
              </a:spcAft>
              <a:defRPr sz="1300" b="0">
                <a:solidFill>
                  <a:srgbClr val="B0BEC5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Deployment: Gradio 6.26 + FastAPI Interactive Dashboard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87285" y="2011680"/>
            <a:ext cx="2907030" cy="1082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50000"/>
              </a:lnSpc>
              <a:defRPr sz="1400" b="1">
                <a:solidFill>
                  <a:srgbClr val="00D4AA"/>
                </a:solidFill>
                <a:latin typeface="Calibri" panose="020F0502020204030204"/>
              </a:defRPr>
            </a:pPr>
            <a:r>
              <a:rPr lang="en-US" sz="18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Guide: </a:t>
            </a:r>
            <a:br>
              <a:rPr lang="en-US" sz="1800" b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sz="1800" b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Dr. N. Lava Prasad Sir</a:t>
            </a:r>
            <a:endParaRPr lang="en-US" sz="1800" b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000" b="0">
                <a:solidFill>
                  <a:srgbClr val="B0BEC5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1 / 10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7487285" y="3113405"/>
            <a:ext cx="4114800" cy="1565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70000"/>
              </a:lnSpc>
            </a:pPr>
            <a:r>
              <a:rPr lang="en-US" sz="1600" b="1">
                <a:solidFill>
                  <a:schemeClr val="bg1">
                    <a:lumMod val="8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Team Members:</a:t>
            </a:r>
            <a:br>
              <a:rPr lang="en-US" sz="1600">
                <a:solidFill>
                  <a:schemeClr val="bg1">
                    <a:lumMod val="8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sz="1600">
                <a:solidFill>
                  <a:schemeClr val="bg1">
                    <a:lumMod val="8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2520040009 - Pranay Chowdary</a:t>
            </a:r>
            <a:br>
              <a:rPr lang="en-US" sz="1600">
                <a:solidFill>
                  <a:schemeClr val="bg1">
                    <a:lumMod val="8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sz="1600">
                <a:solidFill>
                  <a:schemeClr val="bg1">
                    <a:lumMod val="8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2520040095 - Siddhu Bhagavan</a:t>
            </a:r>
            <a:br>
              <a:rPr lang="en-US" sz="1600">
                <a:solidFill>
                  <a:schemeClr val="bg1">
                    <a:lumMod val="8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sz="1600">
                <a:solidFill>
                  <a:schemeClr val="bg1">
                    <a:lumMod val="8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2520040045 - Mohan</a:t>
            </a:r>
            <a:endParaRPr lang="en-US" sz="1600">
              <a:solidFill>
                <a:schemeClr val="bg1">
                  <a:lumMod val="8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22860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515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Problem Statement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600" b="0">
                <a:solidFill>
                  <a:srgbClr val="B0BEC5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Motivation &amp; Research Gap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000" b="0">
                <a:solidFill>
                  <a:srgbClr val="B0BEC5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2 / 10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9285" y="1737360"/>
            <a:ext cx="5303520" cy="490093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1200"/>
              </a:spcAft>
              <a:defRPr sz="2000" b="1">
                <a:solidFill>
                  <a:srgbClr val="00D4AA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The Challenge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1200"/>
              </a:spcAft>
              <a:defRPr sz="14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Wireless link quality prediction is critical for optimizing handovers, resource allocation, and user experience in modern networks.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800"/>
              </a:spcAft>
              <a:defRPr sz="1600" b="1">
                <a:solidFill>
                  <a:srgbClr val="0096FF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Key Issues: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600"/>
              </a:spcAft>
              <a:defRPr sz="13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Centralized models require sharing raw user data, raising serious privacy concerns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600"/>
              </a:spcAft>
              <a:defRPr sz="13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Standard Federated Learning (FedAvg) trains a single global model that cannot adapt to heterogeneous device environments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600"/>
              </a:spcAft>
              <a:defRPr sz="13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Non-IID data distribution across wireless devices causes significant accuracy degradation in federated settings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1200"/>
              </a:spcAft>
              <a:defRPr sz="13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Existing approaches lack efficient decision-boundary handling for RSSI-based classification tasks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800"/>
              </a:spcAft>
              <a:defRPr sz="1600" b="1">
                <a:solidFill>
                  <a:srgbClr val="FF9F43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Research Gap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0"/>
              </a:spcAft>
              <a:defRPr sz="13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No existing work combines personalized federated layers (FedPer) with threshold-aware RSSI boundary classification under non-IID conditions for wireless link quality.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424805" cy="2280285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92240" y="2092960"/>
            <a:ext cx="4754880" cy="1828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1000"/>
              </a:spcAft>
              <a:defRPr sz="2000" b="1">
                <a:solidFill>
                  <a:srgbClr val="00D4AA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Our Objective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0"/>
              </a:spcAft>
              <a:defRPr sz="14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Design a privacy-preserving, personalized federated deep learning system that achieves high accuracy for wireless link quality prediction across heterogeneous devices with non-IID data.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17920" y="4225290"/>
            <a:ext cx="5424805" cy="237363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92240" y="4400550"/>
            <a:ext cx="4754880" cy="2011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7C4DFF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4-Class Link Quality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500"/>
              </a:spcAft>
              <a:defRPr sz="1300" b="0">
                <a:solidFill>
                  <a:srgbClr val="FF6B6B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Poor:          max RSSI &lt; -75 dBm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500"/>
              </a:spcAft>
              <a:defRPr sz="1300" b="0">
                <a:solidFill>
                  <a:srgbClr val="FF9F43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Fair:           -75 &lt;= max RSSI &lt; -65 dBm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500"/>
              </a:spcAft>
              <a:defRPr sz="1300" b="0">
                <a:solidFill>
                  <a:srgbClr val="00E676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Good:         -65 &lt;= max RSSI &lt; -55 dBm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0"/>
              </a:spcAft>
              <a:defRPr sz="1300" b="0">
                <a:solidFill>
                  <a:srgbClr val="0096FF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Excellent:    max RSSI &gt;= -55 dBm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22860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515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Proposed Methodology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600" b="0">
                <a:solidFill>
                  <a:srgbClr val="B0BEC5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Personalized Federated Learning with Hybrid RSSI Decision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000" b="0">
                <a:solidFill>
                  <a:srgbClr val="B0BEC5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3 / 10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303520" cy="45720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4297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00D4AA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FedPer: Personalized Federated Learning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1000"/>
              </a:spcAft>
              <a:defRPr sz="13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Unlike FedAvg which averages all weights, FedPer splits each client model into: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400"/>
              </a:spcAft>
              <a:defRPr sz="1500" b="1">
                <a:solidFill>
                  <a:srgbClr val="0096FF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Shared Base Layers (Federated)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400"/>
              </a:spcAft>
              <a:defRPr sz="13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Shared across all 16 clients via server aggregation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1000"/>
              </a:spcAft>
              <a:defRPr sz="13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Extract universal wireless signal features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400"/>
              </a:spcAft>
              <a:defRPr sz="1500" b="1">
                <a:solidFill>
                  <a:srgbClr val="00D4AA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Private Head Layers (Local Only)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400"/>
              </a:spcAft>
              <a:defRPr sz="13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Remain on each device; never shared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1000"/>
              </a:spcAft>
              <a:defRPr sz="13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Adapt to each device unique RSSI distribution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400"/>
              </a:spcAft>
              <a:defRPr sz="1500" b="1">
                <a:solidFill>
                  <a:srgbClr val="00E676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Threshold-Aware Boundary Branch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400"/>
              </a:spcAft>
              <a:defRPr sz="13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Specialized neurons for RSSI boundary regions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400"/>
              </a:spcAft>
              <a:defRPr sz="13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Improves accuracy near class transition thresholds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0"/>
              </a:spcAft>
              <a:defRPr sz="13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Thresholds: -75, -65, -55 dBm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303520" cy="22860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754880" cy="2011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00E676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Hybrid Decision Strategy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1000"/>
              </a:spcAft>
              <a:defRPr sz="1400" b="1">
                <a:solidFill>
                  <a:srgbClr val="00D4AA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margin_hybrid  |  Margin = 0.25 dBm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400"/>
              </a:spcAft>
              <a:defRPr sz="13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IF  min|max_RSSI - threshold| &lt;= 0.25 dBm: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600"/>
              </a:spcAft>
              <a:defRPr sz="1300" b="1">
                <a:solidFill>
                  <a:srgbClr val="0096FF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   -&gt; Use Neural Network (boundary region)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400"/>
              </a:spcAft>
              <a:defRPr sz="13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ELSE: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0"/>
              </a:spcAft>
              <a:defRPr sz="1300" b="1">
                <a:solidFill>
                  <a:srgbClr val="00E676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   -&gt; Use fast RSSI rule-based prediction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17920" y="4297680"/>
            <a:ext cx="5303520" cy="201168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92240" y="4434840"/>
            <a:ext cx="4754880" cy="1828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7C4DFF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Key Innovation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400"/>
              </a:spcAft>
              <a:defRPr sz="14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93.5% of predictions use instant RSSI rules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400"/>
              </a:spcAft>
              <a:defRPr sz="14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Only 6.5% invoke the neural model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1000"/>
              </a:spcAft>
              <a:defRPr sz="14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(only at class boundaries)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0"/>
              </a:spcAft>
              <a:defRPr sz="1400" b="1">
                <a:solidFill>
                  <a:srgbClr val="00E676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-&gt; Ultra-low latency + high accuracy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22860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515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Dataset &amp; Feature Engineering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600" b="0">
                <a:solidFill>
                  <a:srgbClr val="B0BEC5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UJIIndoorLoc Wi-Fi RSSI Fingerprint Dataset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000" b="0">
                <a:solidFill>
                  <a:srgbClr val="B0BEC5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4 / 10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383280" cy="22860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926080" cy="2103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0096FF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Dataset Overview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400"/>
              </a:spcAft>
              <a:defRPr sz="13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Source: UJIIndoorLoc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400"/>
              </a:spcAft>
              <a:defRPr sz="13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Total Samples: 19,937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400"/>
              </a:spcAft>
              <a:defRPr sz="13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Original WAP Features: 520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400"/>
              </a:spcAft>
              <a:defRPr sz="13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Constant Features Removed: 55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400"/>
              </a:spcAft>
              <a:defRPr sz="13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Final Usable WAPs: 465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0"/>
              </a:spcAft>
              <a:defRPr sz="1300" b="0">
                <a:solidFill>
                  <a:srgbClr val="B0BEC5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Value 100 -&gt; converted to -100 dBm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297680" y="1737360"/>
            <a:ext cx="3383280" cy="22860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0" y="1874519"/>
            <a:ext cx="2926080" cy="2103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00D4AA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7 Engineered Features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300"/>
              </a:spcAft>
              <a:defRPr sz="13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max_rssi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300"/>
              </a:spcAft>
              <a:defRPr sz="13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mean_rssi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300"/>
              </a:spcAft>
              <a:defRPr sz="13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median_rssi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300"/>
              </a:spcAft>
              <a:defRPr sz="13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std_rssi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300"/>
              </a:spcAft>
              <a:defRPr sz="13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detected_aps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600"/>
              </a:spcAft>
              <a:defRPr sz="13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top3_mean, top5_mean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0"/>
              </a:spcAft>
              <a:defRPr sz="1400" b="1">
                <a:solidFill>
                  <a:srgbClr val="00E676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Total Model Features: 472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955279" y="1737360"/>
            <a:ext cx="3566160" cy="22860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0" y="1874519"/>
            <a:ext cx="3108960" cy="2103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7C4DFF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Federated Data Split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400"/>
              </a:spcAft>
              <a:defRPr sz="13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Clients: 16 (by PHONEID)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600"/>
              </a:spcAft>
              <a:defRPr sz="13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Split: 70 / 15 / 15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300"/>
              </a:spcAft>
              <a:defRPr sz="1300" b="0">
                <a:solidFill>
                  <a:srgbClr val="0096FF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Train:  13,949 samples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300"/>
              </a:spcAft>
              <a:defRPr sz="1300" b="0">
                <a:solidFill>
                  <a:srgbClr val="00D4AA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Val:      2,990 samples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600"/>
              </a:spcAft>
              <a:defRPr sz="1300" b="0">
                <a:solidFill>
                  <a:srgbClr val="00E676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Test:     2,998 samples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0"/>
              </a:spcAft>
              <a:defRPr sz="1400" b="1">
                <a:solidFill>
                  <a:srgbClr val="FF9F43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Non-IID across devices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2" name="Picture 11" descr="01_dataset_class_distribu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206240"/>
            <a:ext cx="5303520" cy="2377440"/>
          </a:xfrm>
          <a:prstGeom prst="rect">
            <a:avLst/>
          </a:prstGeom>
        </p:spPr>
      </p:pic>
      <p:pic>
        <p:nvPicPr>
          <p:cNvPr id="13" name="Picture 12" descr="16_feature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4206240"/>
            <a:ext cx="530352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22860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515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Non-IID Data Analysis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600" b="0">
                <a:solidFill>
                  <a:srgbClr val="B0BEC5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Client-Level Heterogeneity in Wireless Signal Distribution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000" b="0">
                <a:solidFill>
                  <a:srgbClr val="B0BEC5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5 / 10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Picture 5" descr="05_client_sample_distribu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5303520" cy="2286000"/>
          </a:xfrm>
          <a:prstGeom prst="rect">
            <a:avLst/>
          </a:prstGeom>
        </p:spPr>
      </p:pic>
      <p:pic>
        <p:nvPicPr>
          <p:cNvPr id="7" name="Picture 6" descr="07_client_class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760720" cy="2286000"/>
          </a:xfrm>
          <a:prstGeom prst="rect">
            <a:avLst/>
          </a:prstGeom>
        </p:spPr>
      </p:pic>
      <p:pic>
        <p:nvPicPr>
          <p:cNvPr id="8" name="Picture 7" descr="06_client_clas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0"/>
            <a:ext cx="5303520" cy="2468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17920" y="4206240"/>
            <a:ext cx="5303520" cy="237744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92240" y="4343400"/>
            <a:ext cx="4754880" cy="2103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FF9F43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Key Observations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600"/>
              </a:spcAft>
              <a:defRPr sz="13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Highly imbalanced sample counts across clients (Client 14: 726 vs Client 16: 29 samples)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600"/>
              </a:spcAft>
              <a:defRPr sz="13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Different class proportions per device - true non-IID setting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600"/>
              </a:spcAft>
              <a:defRPr sz="13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Some clients lack certain classes entirely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0"/>
              </a:spcAft>
              <a:defRPr sz="1300" b="1">
                <a:solidFill>
                  <a:srgbClr val="00D4AA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Justifies personalized (FedPer) over global (FedAvg) approach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22860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515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Model Architecture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600" b="0">
                <a:solidFill>
                  <a:srgbClr val="B0BEC5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Threshold-Aware Personalized FedPer Neural Network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000" b="0">
                <a:solidFill>
                  <a:srgbClr val="B0BEC5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6 / 10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Picture 5" descr="18_model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6858000" cy="4754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89520" y="1645920"/>
            <a:ext cx="4206240" cy="475488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863840" y="1783080"/>
            <a:ext cx="3657600" cy="4480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0096FF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Architecture Details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400"/>
              </a:spcAft>
              <a:defRPr sz="1400" b="1">
                <a:solidFill>
                  <a:srgbClr val="00D4AA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Input Layer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800"/>
              </a:spcAft>
              <a:defRPr sz="12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472 features (465 WAPs + 7 engineered)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400"/>
              </a:spcAft>
              <a:defRPr sz="1400" b="1">
                <a:solidFill>
                  <a:srgbClr val="0096FF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Shared Base (Federated)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800"/>
              </a:spcAft>
              <a:defRPr sz="12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Dense layers shared across all clients via FedPer aggregation protocol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400"/>
              </a:spcAft>
              <a:defRPr sz="1400" b="1">
                <a:solidFill>
                  <a:srgbClr val="7C4DFF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Private Head (Local Only)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800"/>
              </a:spcAft>
              <a:defRPr sz="12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Client-specific classification layers. Never leave the device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400"/>
              </a:spcAft>
              <a:defRPr sz="1400" b="1">
                <a:solidFill>
                  <a:srgbClr val="00E676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RSSI Boundary Branch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800"/>
              </a:spcAft>
              <a:defRPr sz="12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Specialized neurons activated for samples near thresholds: -75, -65, -55 dBm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400"/>
              </a:spcAft>
              <a:defRPr sz="1400" b="1">
                <a:solidFill>
                  <a:srgbClr val="FF9F43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Output Layer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800"/>
              </a:spcAft>
              <a:defRPr sz="12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Softmax over 4 classes: Poor / Fair / Good / Excellent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0"/>
              </a:spcAft>
              <a:defRPr sz="1200" b="0">
                <a:solidFill>
                  <a:srgbClr val="B0BEC5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Normalization: MinMaxScaler [0,1]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22860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515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Project Workflow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600" b="0">
                <a:solidFill>
                  <a:srgbClr val="B0BEC5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End-to-End Implementation Pipeline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000" b="0">
                <a:solidFill>
                  <a:srgbClr val="B0BEC5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7 / 10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1691640" cy="384048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1005840" y="2011680"/>
            <a:ext cx="502920" cy="50292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50292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01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2651760"/>
            <a:ext cx="150876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0096FF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Data Collection</a:t>
            </a:r>
            <a:br>
              <a:rPr>
                <a:latin typeface="Times New Roman" panose="02020603050405020304" charset="0"/>
                <a:cs typeface="Times New Roman" panose="02020603050405020304" charset="0"/>
              </a:rPr>
            </a:br>
            <a:r>
              <a:rPr>
                <a:latin typeface="Times New Roman" panose="02020603050405020304" charset="0"/>
                <a:cs typeface="Times New Roman" panose="02020603050405020304" charset="0"/>
              </a:rPr>
              <a:t>&amp; Preprocessing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474720"/>
            <a:ext cx="1508760" cy="2011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1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UJIIndoorLoc dataset</a:t>
            </a:r>
            <a:br>
              <a:rPr>
                <a:latin typeface="Times New Roman" panose="02020603050405020304" charset="0"/>
                <a:cs typeface="Times New Roman" panose="02020603050405020304" charset="0"/>
              </a:rPr>
            </a:br>
            <a:r>
              <a:rPr>
                <a:latin typeface="Times New Roman" panose="02020603050405020304" charset="0"/>
                <a:cs typeface="Times New Roman" panose="02020603050405020304" charset="0"/>
              </a:rPr>
              <a:t>520-&gt;465 WAPs + 7 features</a:t>
            </a:r>
            <a:br>
              <a:rPr>
                <a:latin typeface="Times New Roman" panose="02020603050405020304" charset="0"/>
                <a:cs typeface="Times New Roman" panose="02020603050405020304" charset="0"/>
              </a:rPr>
            </a:br>
            <a:r>
              <a:rPr>
                <a:latin typeface="Times New Roman" panose="02020603050405020304" charset="0"/>
                <a:cs typeface="Times New Roman" panose="02020603050405020304" charset="0"/>
              </a:rPr>
              <a:t>MinMaxScaler normalization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03120" y="3474720"/>
            <a:ext cx="3200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000" b="0">
                <a:solidFill>
                  <a:srgbClr val="B0BEC5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-&gt;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286000" y="1828800"/>
            <a:ext cx="1691640" cy="384048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2834640" y="2011680"/>
            <a:ext cx="502920" cy="50292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834640" y="2057400"/>
            <a:ext cx="50292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02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77440" y="2651760"/>
            <a:ext cx="150876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00D4AA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Federated</a:t>
            </a:r>
            <a:br>
              <a:rPr>
                <a:latin typeface="Times New Roman" panose="02020603050405020304" charset="0"/>
                <a:cs typeface="Times New Roman" panose="02020603050405020304" charset="0"/>
              </a:rPr>
            </a:br>
            <a:r>
              <a:rPr>
                <a:latin typeface="Times New Roman" panose="02020603050405020304" charset="0"/>
                <a:cs typeface="Times New Roman" panose="02020603050405020304" charset="0"/>
              </a:rPr>
              <a:t>Partitioning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377440" y="3474720"/>
            <a:ext cx="1508760" cy="2011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1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16 clients by PHONEID</a:t>
            </a:r>
            <a:br>
              <a:rPr>
                <a:latin typeface="Times New Roman" panose="02020603050405020304" charset="0"/>
                <a:cs typeface="Times New Roman" panose="02020603050405020304" charset="0"/>
              </a:rPr>
            </a:br>
            <a:r>
              <a:rPr>
                <a:latin typeface="Times New Roman" panose="02020603050405020304" charset="0"/>
                <a:cs typeface="Times New Roman" panose="02020603050405020304" charset="0"/>
              </a:rPr>
              <a:t>70/15/15 split</a:t>
            </a:r>
            <a:br>
              <a:rPr>
                <a:latin typeface="Times New Roman" panose="02020603050405020304" charset="0"/>
                <a:cs typeface="Times New Roman" panose="02020603050405020304" charset="0"/>
              </a:rPr>
            </a:br>
            <a:r>
              <a:rPr>
                <a:latin typeface="Times New Roman" panose="02020603050405020304" charset="0"/>
                <a:cs typeface="Times New Roman" panose="02020603050405020304" charset="0"/>
              </a:rPr>
              <a:t>Non-IID distribution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931920" y="3474720"/>
            <a:ext cx="3200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000" b="0">
                <a:solidFill>
                  <a:srgbClr val="B0BEC5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-&gt;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114800" y="1828800"/>
            <a:ext cx="1691640" cy="384048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4663440" y="2011680"/>
            <a:ext cx="502920" cy="502920"/>
          </a:xfrm>
          <a:prstGeom prst="ellipse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63440" y="2057400"/>
            <a:ext cx="50292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03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206240" y="2651760"/>
            <a:ext cx="150876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7C4DFF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Baseline</a:t>
            </a:r>
            <a:br>
              <a:rPr>
                <a:latin typeface="Times New Roman" panose="02020603050405020304" charset="0"/>
                <a:cs typeface="Times New Roman" panose="02020603050405020304" charset="0"/>
              </a:rPr>
            </a:br>
            <a:r>
              <a:rPr>
                <a:latin typeface="Times New Roman" panose="02020603050405020304" charset="0"/>
                <a:cs typeface="Times New Roman" panose="02020603050405020304" charset="0"/>
              </a:rPr>
              <a:t>Training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206240" y="3474720"/>
            <a:ext cx="1508760" cy="2011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1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Centralized MLP: 93.13%</a:t>
            </a:r>
            <a:br>
              <a:rPr>
                <a:latin typeface="Times New Roman" panose="02020603050405020304" charset="0"/>
                <a:cs typeface="Times New Roman" panose="02020603050405020304" charset="0"/>
              </a:rPr>
            </a:br>
            <a:r>
              <a:rPr>
                <a:latin typeface="Times New Roman" panose="02020603050405020304" charset="0"/>
                <a:cs typeface="Times New Roman" panose="02020603050405020304" charset="0"/>
              </a:rPr>
              <a:t>FedAvg global: 82.89%</a:t>
            </a:r>
            <a:br>
              <a:rPr>
                <a:latin typeface="Times New Roman" panose="02020603050405020304" charset="0"/>
                <a:cs typeface="Times New Roman" panose="02020603050405020304" charset="0"/>
              </a:rPr>
            </a:br>
            <a:r>
              <a:rPr>
                <a:latin typeface="Times New Roman" panose="02020603050405020304" charset="0"/>
                <a:cs typeface="Times New Roman" panose="02020603050405020304" charset="0"/>
              </a:rPr>
              <a:t>Performance baselines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760720" y="3474720"/>
            <a:ext cx="3200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000" b="0">
                <a:solidFill>
                  <a:srgbClr val="B0BEC5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-&gt;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943600" y="1828800"/>
            <a:ext cx="1691640" cy="384048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6492240" y="2011680"/>
            <a:ext cx="502920" cy="50292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92240" y="2057400"/>
            <a:ext cx="50292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04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035040" y="2651760"/>
            <a:ext cx="150876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00E676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FedPer</a:t>
            </a:r>
            <a:br>
              <a:rPr>
                <a:latin typeface="Times New Roman" panose="02020603050405020304" charset="0"/>
                <a:cs typeface="Times New Roman" panose="02020603050405020304" charset="0"/>
              </a:rPr>
            </a:br>
            <a:r>
              <a:rPr>
                <a:latin typeface="Times New Roman" panose="02020603050405020304" charset="0"/>
                <a:cs typeface="Times New Roman" panose="02020603050405020304" charset="0"/>
              </a:rPr>
              <a:t>Personalization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035040" y="3474720"/>
            <a:ext cx="1508760" cy="2011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1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Shared + private layers</a:t>
            </a:r>
            <a:br>
              <a:rPr>
                <a:latin typeface="Times New Roman" panose="02020603050405020304" charset="0"/>
                <a:cs typeface="Times New Roman" panose="02020603050405020304" charset="0"/>
              </a:rPr>
            </a:br>
            <a:r>
              <a:rPr>
                <a:latin typeface="Times New Roman" panose="02020603050405020304" charset="0"/>
                <a:cs typeface="Times New Roman" panose="02020603050405020304" charset="0"/>
              </a:rPr>
              <a:t>Architecture search A/B/C/D</a:t>
            </a:r>
            <a:br>
              <a:rPr>
                <a:latin typeface="Times New Roman" panose="02020603050405020304" charset="0"/>
                <a:cs typeface="Times New Roman" panose="02020603050405020304" charset="0"/>
              </a:rPr>
            </a:br>
            <a:r>
              <a:rPr>
                <a:latin typeface="Times New Roman" panose="02020603050405020304" charset="0"/>
                <a:cs typeface="Times New Roman" panose="02020603050405020304" charset="0"/>
              </a:rPr>
              <a:t>35 federated rounds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589520" y="3474720"/>
            <a:ext cx="3200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000" b="0">
                <a:solidFill>
                  <a:srgbClr val="B0BEC5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-&gt;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772400" y="1828800"/>
            <a:ext cx="1691640" cy="384048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8321040" y="2011680"/>
            <a:ext cx="502920" cy="50292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321040" y="2057400"/>
            <a:ext cx="50292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05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863840" y="2651760"/>
            <a:ext cx="150876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FF9F43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Threshold-Aware</a:t>
            </a:r>
            <a:br>
              <a:rPr>
                <a:latin typeface="Times New Roman" panose="02020603050405020304" charset="0"/>
                <a:cs typeface="Times New Roman" panose="02020603050405020304" charset="0"/>
              </a:rPr>
            </a:br>
            <a:r>
              <a:rPr>
                <a:latin typeface="Times New Roman" panose="02020603050405020304" charset="0"/>
                <a:cs typeface="Times New Roman" panose="02020603050405020304" charset="0"/>
              </a:rPr>
              <a:t>Integration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863840" y="3474720"/>
            <a:ext cx="1508760" cy="2011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1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Boundary branch neurons</a:t>
            </a:r>
            <a:br>
              <a:rPr>
                <a:latin typeface="Times New Roman" panose="02020603050405020304" charset="0"/>
                <a:cs typeface="Times New Roman" panose="02020603050405020304" charset="0"/>
              </a:rPr>
            </a:br>
            <a:r>
              <a:rPr>
                <a:latin typeface="Times New Roman" panose="02020603050405020304" charset="0"/>
                <a:cs typeface="Times New Roman" panose="02020603050405020304" charset="0"/>
              </a:rPr>
              <a:t>Margin grid search</a:t>
            </a:r>
            <a:br>
              <a:rPr>
                <a:latin typeface="Times New Roman" panose="02020603050405020304" charset="0"/>
                <a:cs typeface="Times New Roman" panose="02020603050405020304" charset="0"/>
              </a:rPr>
            </a:br>
            <a:r>
              <a:rPr>
                <a:latin typeface="Times New Roman" panose="02020603050405020304" charset="0"/>
                <a:cs typeface="Times New Roman" panose="02020603050405020304" charset="0"/>
              </a:rPr>
              <a:t>Best: 0.25 dBm margin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418320" y="3474720"/>
            <a:ext cx="3200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000" b="0">
                <a:solidFill>
                  <a:srgbClr val="B0BEC5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-&gt;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9601200" y="1828800"/>
            <a:ext cx="1691640" cy="384048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10149840" y="2011680"/>
            <a:ext cx="502920" cy="50292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149840" y="2057400"/>
            <a:ext cx="50292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06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692640" y="2651760"/>
            <a:ext cx="150876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 b="1">
                <a:solidFill>
                  <a:srgbClr val="0096FF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Hybrid</a:t>
            </a:r>
            <a:br>
              <a:rPr>
                <a:latin typeface="Times New Roman" panose="02020603050405020304" charset="0"/>
                <a:cs typeface="Times New Roman" panose="02020603050405020304" charset="0"/>
              </a:rPr>
            </a:br>
            <a:r>
              <a:rPr>
                <a:latin typeface="Times New Roman" panose="02020603050405020304" charset="0"/>
                <a:cs typeface="Times New Roman" panose="02020603050405020304" charset="0"/>
              </a:rPr>
              <a:t>Deployment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692640" y="3474720"/>
            <a:ext cx="1508760" cy="2011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1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Rule-based + Neural</a:t>
            </a:r>
            <a:br>
              <a:rPr>
                <a:latin typeface="Times New Roman" panose="02020603050405020304" charset="0"/>
                <a:cs typeface="Times New Roman" panose="02020603050405020304" charset="0"/>
              </a:rPr>
            </a:br>
            <a:r>
              <a:rPr>
                <a:latin typeface="Times New Roman" panose="02020603050405020304" charset="0"/>
                <a:cs typeface="Times New Roman" panose="02020603050405020304" charset="0"/>
              </a:rPr>
              <a:t>97.60% final accuracy</a:t>
            </a:r>
            <a:br>
              <a:rPr>
                <a:latin typeface="Times New Roman" panose="02020603050405020304" charset="0"/>
                <a:cs typeface="Times New Roman" panose="02020603050405020304" charset="0"/>
              </a:rPr>
            </a:br>
            <a:r>
              <a:rPr>
                <a:latin typeface="Times New Roman" panose="02020603050405020304" charset="0"/>
                <a:cs typeface="Times New Roman" panose="02020603050405020304" charset="0"/>
              </a:rPr>
              <a:t>Gradio + FastAPI UI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40080" y="5943600"/>
            <a:ext cx="10515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200" b="0">
                <a:solidFill>
                  <a:srgbClr val="B0BEC5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Tech Stack:  Python 3  |  TensorFlow/Keras 2.20  |  Scikit-learn  |  NumPy  |  Pandas  |  Gradio 6.26  |  FastAPI  |  Uvicorn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22860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515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Experimental Results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600" b="0">
                <a:solidFill>
                  <a:srgbClr val="B0BEC5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Model Comparison &amp; Performance Analysis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000" b="0">
                <a:solidFill>
                  <a:srgbClr val="B0BEC5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8 / 10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2011680" cy="100584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192024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173736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100" b="0">
                <a:solidFill>
                  <a:srgbClr val="B0BEC5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Centralized MLP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173736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600" b="1">
                <a:solidFill>
                  <a:srgbClr val="0096FF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93.13%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651760" y="1645920"/>
            <a:ext cx="2011680" cy="100584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697480" y="1691640"/>
            <a:ext cx="1920240" cy="381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88920" y="1828800"/>
            <a:ext cx="173736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100" b="0">
                <a:solidFill>
                  <a:srgbClr val="B0BEC5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FedAvg (Global)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788920" y="2148840"/>
            <a:ext cx="173736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600" b="1">
                <a:solidFill>
                  <a:srgbClr val="FF9F43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82.89%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846320" y="1645920"/>
            <a:ext cx="2011680" cy="100584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892040" y="1691640"/>
            <a:ext cx="1920240" cy="381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983480" y="1828800"/>
            <a:ext cx="173736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100" b="0">
                <a:solidFill>
                  <a:srgbClr val="B0BEC5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FedPer (Neural)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983480" y="2148840"/>
            <a:ext cx="173736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600" b="1">
                <a:solidFill>
                  <a:srgbClr val="7C4DFF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89.06%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040880" y="1645920"/>
            <a:ext cx="2011680" cy="100584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086600" y="1691640"/>
            <a:ext cx="1920240" cy="381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178040" y="1828800"/>
            <a:ext cx="173736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100" b="0">
                <a:solidFill>
                  <a:srgbClr val="B0BEC5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Hybrid FedPer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178040" y="2148840"/>
            <a:ext cx="173736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600" b="1">
                <a:solidFill>
                  <a:srgbClr val="00E676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97.60%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235440" y="1645920"/>
            <a:ext cx="2011680" cy="100584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9281160" y="1691640"/>
            <a:ext cx="192024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372600" y="1828800"/>
            <a:ext cx="173736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100" b="0">
                <a:solidFill>
                  <a:srgbClr val="B0BEC5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Balanced Accuracy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372600" y="2148840"/>
            <a:ext cx="173736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600" b="1">
                <a:solidFill>
                  <a:srgbClr val="00D4AA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98.13%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6" name="Picture 25" descr="09_model_accuracy_comparis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0"/>
            <a:ext cx="3657600" cy="1828800"/>
          </a:xfrm>
          <a:prstGeom prst="rect">
            <a:avLst/>
          </a:prstGeom>
        </p:spPr>
      </p:pic>
      <p:pic>
        <p:nvPicPr>
          <p:cNvPr id="27" name="Picture 26" descr="10_model_f1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2926080"/>
            <a:ext cx="3657600" cy="1828800"/>
          </a:xfrm>
          <a:prstGeom prst="rect">
            <a:avLst/>
          </a:prstGeom>
        </p:spPr>
      </p:pic>
      <p:pic>
        <p:nvPicPr>
          <p:cNvPr id="28" name="Picture 27" descr="11_fedper_converg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2926080"/>
            <a:ext cx="3657600" cy="182880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457200" y="4937760"/>
            <a:ext cx="11247120" cy="164592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31520" y="5029200"/>
            <a:ext cx="10698480" cy="1463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00D4AA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Model                              Test Accuracy       Balanced Acc       Weighted F1         Improvement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400"/>
              </a:spcAft>
              <a:defRPr sz="12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Centralized MLP               93.13%                 92.91%                 93.13%                 Baseline (no privacy)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400"/>
              </a:spcAft>
              <a:defRPr sz="1200" b="0">
                <a:solidFill>
                  <a:srgbClr val="FF9F43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FedAvg (Global)               82.89%                 82.73%                 82.65%                 -10.24 pp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400"/>
              </a:spcAft>
              <a:defRPr sz="12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Personalized FedPer        89.06%                 89.37%                 89.02%                 +6.17 pp over FedAvg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0"/>
              </a:spcAft>
              <a:defRPr sz="1200" b="1">
                <a:solidFill>
                  <a:srgbClr val="00E676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Hybrid FedPer (Final)      97.60%                 98.13%                 97.61%                 +14.71 pp over FedAvg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22860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515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Detailed Analysis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600" b="0">
                <a:solidFill>
                  <a:srgbClr val="B0BEC5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Per-Client Accuracy, Confusion Matrix &amp; Hybrid Decisions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000" b="0">
                <a:solidFill>
                  <a:srgbClr val="B0BEC5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9 / 10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Picture 5" descr="08_client_test_accurac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45920"/>
            <a:ext cx="5669280" cy="2377440"/>
          </a:xfrm>
          <a:prstGeom prst="rect">
            <a:avLst/>
          </a:prstGeom>
        </p:spPr>
      </p:pic>
      <p:pic>
        <p:nvPicPr>
          <p:cNvPr id="7" name="Picture 6" descr="13_final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2377440"/>
          </a:xfrm>
          <a:prstGeom prst="rect">
            <a:avLst/>
          </a:prstGeom>
        </p:spPr>
      </p:pic>
      <p:pic>
        <p:nvPicPr>
          <p:cNvPr id="8" name="Picture 7" descr="15_hybrid_decision_us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206240"/>
            <a:ext cx="5669280" cy="2377440"/>
          </a:xfrm>
          <a:prstGeom prst="rect">
            <a:avLst/>
          </a:prstGeom>
        </p:spPr>
      </p:pic>
      <p:pic>
        <p:nvPicPr>
          <p:cNvPr id="9" name="Picture 8" descr="14_final_per_class_metr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206240"/>
            <a:ext cx="548640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22860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515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Progress &amp; Future Work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600" b="0">
                <a:solidFill>
                  <a:srgbClr val="B0BEC5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Current Status and Planned Enhancements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000" b="0">
                <a:solidFill>
                  <a:srgbClr val="B0BEC5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10 / 10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303520" cy="448056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1960879"/>
            <a:ext cx="4846320" cy="4206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1000"/>
              </a:spcAft>
              <a:defRPr sz="2000" b="1">
                <a:solidFill>
                  <a:srgbClr val="00E676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Completed Work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500"/>
              </a:spcAft>
              <a:defRPr sz="13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Dataset preprocessing &amp; feature engineering (472 features)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500"/>
              </a:spcAft>
              <a:defRPr sz="13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Non-IID federated partitioning across 16 client devices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500"/>
              </a:spcAft>
              <a:defRPr sz="13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Centralized MLP baseline training (93.13%)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500"/>
              </a:spcAft>
              <a:defRPr sz="13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FedAvg global model training (82.89%)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500"/>
              </a:spcAft>
              <a:defRPr sz="13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Personalized FedPer with architecture search (89.06%)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500"/>
              </a:spcAft>
              <a:defRPr sz="13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Threshold-aware boundary integration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500"/>
              </a:spcAft>
              <a:defRPr sz="13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Hybrid margin strategy + grid search (97.60%)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500"/>
              </a:spcAft>
              <a:defRPr sz="13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Gradio + FastAPI interactive deployment dashboard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500"/>
              </a:spcAft>
              <a:defRPr sz="13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Full evaluation: per-client accuracy, confusion matrix, per-class metrics, convergence analysis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500"/>
              </a:spcAft>
              <a:defRPr sz="13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GitHub repository with code, data, docs &amp; results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0"/>
              </a:spcAft>
              <a:defRPr sz="13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Complete Jupyter notebook for reproducibility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303520" cy="228600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92240" y="1874519"/>
            <a:ext cx="4754880" cy="2103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1000"/>
              </a:spcAft>
              <a:defRPr sz="2000" b="1">
                <a:solidFill>
                  <a:srgbClr val="0096FF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Future Enhancements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500"/>
              </a:spcAft>
              <a:defRPr sz="13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Extend to real 4G/5G cellular RSSI datasets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500"/>
              </a:spcAft>
              <a:defRPr sz="13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Dynamic client joining/leaving (asynchronous FL)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500"/>
              </a:spcAft>
              <a:defRPr sz="13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Differential privacy integration for added security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500"/>
              </a:spcAft>
              <a:defRPr sz="13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On-device model compression (pruning/quantization)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0"/>
              </a:spcAft>
              <a:defRPr sz="13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Real-time prediction latency benchmarking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17920" y="4297680"/>
            <a:ext cx="5303520" cy="1920240"/>
          </a:xfrm>
          <a:prstGeom prst="roundRect">
            <a:avLst/>
          </a:prstGeom>
          <a:solidFill>
            <a:srgbClr val="1A253C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92240" y="4434840"/>
            <a:ext cx="4754880" cy="1645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1000"/>
              </a:spcAft>
              <a:defRPr sz="2000" b="1">
                <a:solidFill>
                  <a:srgbClr val="00D4AA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Key Takeaway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800"/>
              </a:spcAft>
              <a:defRPr sz="1400" b="0">
                <a:solidFill>
                  <a:srgbClr val="E8EAED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Our hybrid personalized federated system achieves 97.60% accuracy while preserving user privacy, outperforming both centralized (+4.47 pp) and standard federated approaches (+14.71 pp).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spcAft>
                <a:spcPts val="0"/>
              </a:spcAft>
              <a:defRPr sz="1400" b="1">
                <a:solidFill>
                  <a:srgbClr val="00E676"/>
                </a:solidFill>
                <a:latin typeface="Calibri" panose="020F0502020204030204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Privacy + Personalization = Superior Performance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6682</Words>
  <Application>WPS Presentation</Application>
  <PresentationFormat>On-screen Show (4:3)</PresentationFormat>
  <Paragraphs>258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Calibri</vt:lpstr>
      <vt:lpstr>times</vt:lpstr>
      <vt:lpstr>Segoe Print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Shin</cp:lastModifiedBy>
  <cp:revision>3</cp:revision>
  <dcterms:created xsi:type="dcterms:W3CDTF">2013-01-27T09:14:00Z</dcterms:created>
  <dcterms:modified xsi:type="dcterms:W3CDTF">2026-09-29T05:58:40Z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DC9AF3250A5D4CF690C7F638FC3C4258_12</vt:lpwstr>
  </property>
  <property fmtid="{D5CDD505-2E9C-101B-9397-08002B2CF9AE}" pid="3" name="KSOProductBuildVer">
    <vt:lpwstr>1033-12.1.0.28485</vt:lpwstr>
  </property>
</Properties>
</file>